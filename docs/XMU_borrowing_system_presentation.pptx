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73" r:id="rId14"/>
    <p:sldId id="274" r:id="rId15"/>
    <p:sldId id="267" r:id="rId16"/>
    <p:sldId id="275" r:id="rId17"/>
    <p:sldId id="276" r:id="rId18"/>
    <p:sldId id="268" r:id="rId19"/>
    <p:sldId id="269" r:id="rId20"/>
    <p:sldId id="270" r:id="rId21"/>
    <p:sldId id="279" r:id="rId22"/>
    <p:sldId id="280" r:id="rId23"/>
    <p:sldId id="271"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83"/>
    <p:restoredTop sz="94610"/>
  </p:normalViewPr>
  <p:slideViewPr>
    <p:cSldViewPr snapToGrid="0" snapToObjects="1">
      <p:cViewPr varScale="1">
        <p:scale>
          <a:sx n="125" d="100"/>
          <a:sy n="125" d="100"/>
        </p:scale>
        <p:origin x="4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3005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开场：说明选题来自厦门多雨和校园便民服务的真实场景。强调本汇报按数据库设计流程展开：需求分析、概念结构、逻辑结构、物理结构、数据库实施与测试。</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这一页用于说明报告的整体故事线。讲的时候强调我们严格按照数据库设计流程，而不是直接写代码。</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本页讲选题来源。不要讲得太长，强调这是厦大校园实际场景，有创新性但也容易用关系数据库实现。</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强调我们没有把系统做得太大，而是围绕数据库核心能力展开。这个边界很重要，避免答辩时被问为什么没有支付或硬件。</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本页讲需求分析。先讲用户角色，再讲四个核心业务流程。把业务主线讲成一个闭环：学生借、管理员管、维修工修、系统统计和扣分。</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这一页把需求分析收束成数据对象。用人、点、物、记录四个词帮助老师快速理解系统建模依据。</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 E-R 图时不要逐个实体解释，重点讲两处 M:N：学生借很多物资、一件物资可被多人先后借；服务点可配多类物资、一类物资分布在多个服务点。</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本页讲逻辑结构设计。重点是从 E-R 图到 12 张表的转换规则和规范化，不需要逐张表念。</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这页讲核心关系模式，特别是 borrow_record 为什么是核心表：它连接学生、具体物资、借出服务点、归还服务点，并记录时间和状态。</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本页回应老师课件里的物理结构设计要求：选择存取方法和存储结构。我们主要通过索引体现存取方法设计。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本页展示数据库实施成果，不需要读每张表名，强调已经在 MySQL 中跑通：表、视图、存储过程、触发器都创建成功。</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577B9-4207-7AC8-F37B-14CED1227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748FE-CC4B-BA10-5603-106D10E66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66675-06BD-7C17-E3EA-941F65EA99CD}"/>
              </a:ext>
            </a:extLst>
          </p:cNvPr>
          <p:cNvSpPr>
            <a:spLocks noGrp="1"/>
          </p:cNvSpPr>
          <p:nvPr>
            <p:ph type="body" idx="1"/>
          </p:nvPr>
        </p:nvSpPr>
        <p:spPr/>
        <p:txBody>
          <a:bodyPr/>
          <a:lstStyle/>
          <a:p>
            <a:r>
              <a:rPr lang="en-US" dirty="0"/>
              <a:t>本页展示数据库实施成果，不需要读每张表名，强调已经在 MySQL 中跑通：表、视图、存储过程、触发器都创建成功。</a:t>
            </a:r>
          </a:p>
        </p:txBody>
      </p:sp>
      <p:sp>
        <p:nvSpPr>
          <p:cNvPr id="4" name="Slide Number Placeholder 3">
            <a:extLst>
              <a:ext uri="{FF2B5EF4-FFF2-40B4-BE49-F238E27FC236}">
                <a16:creationId xmlns:a16="http://schemas.microsoft.com/office/drawing/2014/main" id="{B0484C32-A3D7-0840-B876-7861F30D787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47963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BE57-56C5-37C8-6DB5-4A2BFF475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D2A1A-228A-732D-8DBF-D59A7EEDA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648370-A1BC-442D-0D05-EF161065F138}"/>
              </a:ext>
            </a:extLst>
          </p:cNvPr>
          <p:cNvSpPr>
            <a:spLocks noGrp="1"/>
          </p:cNvSpPr>
          <p:nvPr>
            <p:ph type="body" idx="1"/>
          </p:nvPr>
        </p:nvSpPr>
        <p:spPr/>
        <p:txBody>
          <a:bodyPr/>
          <a:lstStyle/>
          <a:p>
            <a:r>
              <a:rPr lang="en-US" dirty="0"/>
              <a:t>本页展示数据库实施成果，不需要读每张表名，强调已经在 MySQL 中跑通：表、视图、存储过程、触发器都创建成功。</a:t>
            </a:r>
          </a:p>
        </p:txBody>
      </p:sp>
      <p:sp>
        <p:nvSpPr>
          <p:cNvPr id="4" name="Slide Number Placeholder 3">
            <a:extLst>
              <a:ext uri="{FF2B5EF4-FFF2-40B4-BE49-F238E27FC236}">
                <a16:creationId xmlns:a16="http://schemas.microsoft.com/office/drawing/2014/main" id="{8FB2994E-4527-7379-4710-51C55B39CAA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2003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4FBE-E51E-BF24-305C-9DFB0FE09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65042-0D40-F9C5-ED05-1F2AD97E9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B8238-A6C5-71DF-CF49-5C20A3BF9B96}"/>
              </a:ext>
            </a:extLst>
          </p:cNvPr>
          <p:cNvSpPr>
            <a:spLocks noGrp="1"/>
          </p:cNvSpPr>
          <p:nvPr>
            <p:ph type="body" idx="1"/>
          </p:nvPr>
        </p:nvSpPr>
        <p:spPr/>
        <p:txBody>
          <a:bodyPr/>
          <a:lstStyle/>
          <a:p>
            <a:r>
              <a:rPr lang="en-US" dirty="0"/>
              <a:t>本页展示数据库实施成果，不需要读每张表名，强调已经在 MySQL 中跑通：表、视图、存储过程、触发器都创建成功。</a:t>
            </a:r>
          </a:p>
        </p:txBody>
      </p:sp>
      <p:sp>
        <p:nvSpPr>
          <p:cNvPr id="4" name="Slide Number Placeholder 3">
            <a:extLst>
              <a:ext uri="{FF2B5EF4-FFF2-40B4-BE49-F238E27FC236}">
                <a16:creationId xmlns:a16="http://schemas.microsoft.com/office/drawing/2014/main" id="{8C7A4CC4-A9ED-B805-C4BF-89ACBFA0D70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436891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本页讲存储过程的价值：不是简单 SQL，而是把借出和归还封装成事务。事务保证多表更新的一致性。</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83E1C-5A59-63E0-C73D-5367B6A0F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CA2BD-A735-EF59-58F6-F3A18608A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ECBA7E-F70B-03FC-6343-71E3D240CFF2}"/>
              </a:ext>
            </a:extLst>
          </p:cNvPr>
          <p:cNvSpPr>
            <a:spLocks noGrp="1"/>
          </p:cNvSpPr>
          <p:nvPr>
            <p:ph type="body" idx="1"/>
          </p:nvPr>
        </p:nvSpPr>
        <p:spPr/>
        <p:txBody>
          <a:bodyPr/>
          <a:lstStyle/>
          <a:p>
            <a:r>
              <a:rPr lang="en-US" dirty="0"/>
              <a:t>本页展示数据库实施成果，不需要读每张表名，强调已经在 MySQL 中跑通：表、视图、存储过程、触发器都创建成功。</a:t>
            </a:r>
          </a:p>
        </p:txBody>
      </p:sp>
      <p:sp>
        <p:nvSpPr>
          <p:cNvPr id="4" name="Slide Number Placeholder 3">
            <a:extLst>
              <a:ext uri="{FF2B5EF4-FFF2-40B4-BE49-F238E27FC236}">
                <a16:creationId xmlns:a16="http://schemas.microsoft.com/office/drawing/2014/main" id="{59857CF6-CA15-283B-4B3E-8B13611D8D1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862341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55394-BDA7-2B47-CEE1-87866A150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1FC88-797B-9B59-E718-2A316130B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7C942-5BD5-82B5-6275-0B1F644FB4D8}"/>
              </a:ext>
            </a:extLst>
          </p:cNvPr>
          <p:cNvSpPr>
            <a:spLocks noGrp="1"/>
          </p:cNvSpPr>
          <p:nvPr>
            <p:ph type="body" idx="1"/>
          </p:nvPr>
        </p:nvSpPr>
        <p:spPr/>
        <p:txBody>
          <a:bodyPr/>
          <a:lstStyle/>
          <a:p>
            <a:r>
              <a:rPr lang="en-US" dirty="0"/>
              <a:t>本页展示数据库实施成果，不需要读每张表名，强调已经在 MySQL 中跑通：表、视图、存储过程、触发器都创建成功。</a:t>
            </a:r>
          </a:p>
        </p:txBody>
      </p:sp>
      <p:sp>
        <p:nvSpPr>
          <p:cNvPr id="4" name="Slide Number Placeholder 3">
            <a:extLst>
              <a:ext uri="{FF2B5EF4-FFF2-40B4-BE49-F238E27FC236}">
                <a16:creationId xmlns:a16="http://schemas.microsoft.com/office/drawing/2014/main" id="{471F34DC-560C-97E8-0365-FA374AD8E75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67589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本页讲触发器。强调触发器让逾期扣分自动发生，实现业务规则自动化。可以结合 T06 截图讲。</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本页讲测试。重点讲 T02 和 T06：T02 证明存储过程能生成借还记录并更新状态；T06 证明触发器自动生成信用扣分记录。</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本页说明运行维护。可以说这一部分是维护建议和可扩展方向，不需要现场演示。</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037F9-337E-39F4-F044-8CDEAF6EB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9B218-98DD-57EE-CA0A-889363779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70797B-DE2F-181E-9CDD-70E4CD39687F}"/>
              </a:ext>
            </a:extLst>
          </p:cNvPr>
          <p:cNvSpPr>
            <a:spLocks noGrp="1"/>
          </p:cNvSpPr>
          <p:nvPr>
            <p:ph type="body" idx="1"/>
          </p:nvPr>
        </p:nvSpPr>
        <p:spPr/>
        <p:txBody>
          <a:bodyPr/>
          <a:lstStyle/>
          <a:p>
            <a:r>
              <a:rPr lang="en-US" dirty="0"/>
              <a:t>本页说明运行维护。可以说这一部分是维护建议和可扩展方向，不需要现场演示。</a:t>
            </a:r>
          </a:p>
        </p:txBody>
      </p:sp>
      <p:sp>
        <p:nvSpPr>
          <p:cNvPr id="4" name="Slide Number Placeholder 3">
            <a:extLst>
              <a:ext uri="{FF2B5EF4-FFF2-40B4-BE49-F238E27FC236}">
                <a16:creationId xmlns:a16="http://schemas.microsoft.com/office/drawing/2014/main" id="{A6C1D051-BCF0-2A10-B09E-F4A9709D3F6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22213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7FA97-36E6-8D2C-BB11-DE444DA70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503AF-B347-C955-4833-CF1E7354A9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71D90-1E94-E046-158C-0C27576B29DB}"/>
              </a:ext>
            </a:extLst>
          </p:cNvPr>
          <p:cNvSpPr>
            <a:spLocks noGrp="1"/>
          </p:cNvSpPr>
          <p:nvPr>
            <p:ph type="body" idx="1"/>
          </p:nvPr>
        </p:nvSpPr>
        <p:spPr/>
        <p:txBody>
          <a:bodyPr/>
          <a:lstStyle/>
          <a:p>
            <a:r>
              <a:rPr lang="en-US" dirty="0"/>
              <a:t>本页说明运行维护。可以说这一部分是维护建议和可扩展方向，不需要现场演示。</a:t>
            </a:r>
          </a:p>
        </p:txBody>
      </p:sp>
      <p:sp>
        <p:nvSpPr>
          <p:cNvPr id="4" name="Slide Number Placeholder 3">
            <a:extLst>
              <a:ext uri="{FF2B5EF4-FFF2-40B4-BE49-F238E27FC236}">
                <a16:creationId xmlns:a16="http://schemas.microsoft.com/office/drawing/2014/main" id="{71F0687B-29D3-8BE8-BFE9-600334FFD43E}"/>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7016773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最后一页总结：系统结构完整，完成了数据库设计流程，也有运行验证和后续落地空间。结束时感谢老师。</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EA5A5"/>
          </a:solidFill>
          <a:ln w="12700">
            <a:solidFill>
              <a:srgbClr val="333333">
                <a:alpha val="0"/>
              </a:srgbClr>
            </a:solidFill>
            <a:prstDash val="solid"/>
          </a:ln>
        </p:spPr>
      </p:sp>
      <p:pic>
        <p:nvPicPr>
          <p:cNvPr id="4" name="Image 0" descr="/mnt/data/docx_media/word/media/image1.png"/>
          <p:cNvPicPr>
            <a:picLocks noChangeAspect="1"/>
          </p:cNvPicPr>
          <p:nvPr/>
        </p:nvPicPr>
        <p:blipFill>
          <a:blip r:embed="rId3"/>
          <a:stretch>
            <a:fillRect/>
          </a:stretch>
        </p:blipFill>
        <p:spPr>
          <a:xfrm>
            <a:off x="788476" y="502920"/>
            <a:ext cx="1989207" cy="777240"/>
          </a:xfrm>
          <a:prstGeom prst="rect">
            <a:avLst/>
          </a:prstGeom>
        </p:spPr>
      </p:pic>
      <p:sp>
        <p:nvSpPr>
          <p:cNvPr id="5" name="Text 2"/>
          <p:cNvSpPr/>
          <p:nvPr/>
        </p:nvSpPr>
        <p:spPr>
          <a:xfrm>
            <a:off x="685800" y="1691640"/>
            <a:ext cx="8595360" cy="12344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Microsoft YaHei" pitchFamily="34" charset="0"/>
                <a:ea typeface="Microsoft YaHei" pitchFamily="34" charset="-122"/>
                <a:cs typeface="Microsoft YaHei" pitchFamily="34" charset="-120"/>
              </a:rPr>
              <a:t>基于 MySQL 的</a:t>
            </a:r>
            <a:endParaRPr lang="en-US" sz="3200" dirty="0"/>
          </a:p>
          <a:p>
            <a:pPr marL="0" indent="0">
              <a:buNone/>
            </a:pPr>
            <a:r>
              <a:rPr lang="en-US" sz="3200" b="1" dirty="0">
                <a:solidFill>
                  <a:srgbClr val="FFFFFF"/>
                </a:solidFill>
                <a:latin typeface="Microsoft YaHei" pitchFamily="34" charset="0"/>
                <a:ea typeface="Microsoft YaHei" pitchFamily="34" charset="-122"/>
                <a:cs typeface="Microsoft YaHei" pitchFamily="34" charset="-120"/>
              </a:rPr>
              <a:t>厦大共享雨具与便民物资借还管理系统</a:t>
            </a:r>
            <a:endParaRPr lang="en-US" sz="3200" dirty="0"/>
          </a:p>
        </p:txBody>
      </p:sp>
      <p:sp>
        <p:nvSpPr>
          <p:cNvPr id="7" name="Text 4"/>
          <p:cNvSpPr/>
          <p:nvPr/>
        </p:nvSpPr>
        <p:spPr>
          <a:xfrm>
            <a:off x="713232" y="5212080"/>
            <a:ext cx="5943600" cy="658368"/>
          </a:xfrm>
          <a:prstGeom prst="rect">
            <a:avLst/>
          </a:prstGeom>
          <a:noFill/>
          <a:ln/>
        </p:spPr>
        <p:txBody>
          <a:bodyPr wrap="square" lIns="0" tIns="0" rIns="0" bIns="0" rtlCol="0" anchor="ctr"/>
          <a:lstStyle/>
          <a:p>
            <a:pPr marL="0" indent="0">
              <a:buNone/>
            </a:pPr>
            <a:r>
              <a:rPr lang="en-US" sz="1300" dirty="0" err="1">
                <a:solidFill>
                  <a:srgbClr val="E2E8F0"/>
                </a:solidFill>
                <a:latin typeface="Microsoft YaHei" pitchFamily="34" charset="0"/>
                <a:ea typeface="Microsoft YaHei" pitchFamily="34" charset="-122"/>
                <a:cs typeface="Microsoft YaHei" pitchFamily="34" charset="-120"/>
              </a:rPr>
              <a:t>小组成员：汤诗航、李铭峰、施宇奇、姜振坤、曹嘉豪</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err="1">
                <a:solidFill>
                  <a:srgbClr val="0B1F33"/>
                </a:solidFill>
                <a:latin typeface="Microsoft YaHei" pitchFamily="34" charset="0"/>
                <a:ea typeface="Microsoft YaHei" pitchFamily="34" charset="-122"/>
                <a:cs typeface="Microsoft YaHei" pitchFamily="34" charset="-120"/>
              </a:rPr>
              <a:t>从校园场景到数据库落地</a:t>
            </a:r>
            <a:endParaRPr lang="en-US" sz="2600" dirty="0"/>
          </a:p>
        </p:txBody>
      </p:sp>
      <p:sp>
        <p:nvSpPr>
          <p:cNvPr id="5" name="Text 3"/>
          <p:cNvSpPr/>
          <p:nvPr/>
        </p:nvSpPr>
        <p:spPr>
          <a:xfrm>
            <a:off x="530352" y="749808"/>
            <a:ext cx="8961120" cy="246888"/>
          </a:xfrm>
          <a:prstGeom prst="rect">
            <a:avLst/>
          </a:prstGeom>
          <a:noFill/>
          <a:ln/>
        </p:spPr>
        <p:txBody>
          <a:bodyPr wrap="square" lIns="0" tIns="0" rIns="0" bIns="0" rtlCol="0" anchor="ctr"/>
          <a:lstStyle/>
          <a:p>
            <a:pPr marL="0" indent="0">
              <a:buNone/>
            </a:pPr>
            <a:r>
              <a:rPr lang="en-US" sz="1050" dirty="0">
                <a:solidFill>
                  <a:srgbClr val="64748B"/>
                </a:solidFill>
                <a:latin typeface="Microsoft YaHei" pitchFamily="34" charset="0"/>
                <a:ea typeface="Microsoft YaHei" pitchFamily="34" charset="-122"/>
                <a:cs typeface="Microsoft YaHei" pitchFamily="34" charset="-120"/>
              </a:rPr>
              <a:t>围绕“为什么做、怎么设计、如何实现、是否可运行”四个问题展开</a:t>
            </a:r>
            <a:endParaRPr lang="en-US" sz="105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2</a:t>
            </a:r>
            <a:endParaRPr lang="en-US" sz="800" dirty="0"/>
          </a:p>
        </p:txBody>
      </p:sp>
      <p:sp>
        <p:nvSpPr>
          <p:cNvPr id="7" name="Text 5"/>
          <p:cNvSpPr/>
          <p:nvPr/>
        </p:nvSpPr>
        <p:spPr>
          <a:xfrm>
            <a:off x="685800" y="1828800"/>
            <a:ext cx="2331720" cy="2011680"/>
          </a:xfrm>
          <a:prstGeom prst="rect">
            <a:avLst/>
          </a:prstGeom>
          <a:solidFill>
            <a:srgbClr val="E0F2FE"/>
          </a:solidFill>
          <a:ln>
            <a:solidFill>
              <a:srgbClr val="075985">
                <a:alpha val="90000"/>
              </a:srgbClr>
            </a:solidFill>
          </a:ln>
        </p:spPr>
        <p:txBody>
          <a:bodyPr wrap="square" rtlCol="0" anchor="t">
            <a:normAutofit/>
          </a:bodyPr>
          <a:lstStyle/>
          <a:p>
            <a:pPr marL="0" indent="0">
              <a:buNone/>
            </a:pPr>
            <a:r>
              <a:rPr lang="en-US" sz="2400" b="1" dirty="0">
                <a:solidFill>
                  <a:srgbClr val="0B1F33"/>
                </a:solidFill>
                <a:latin typeface="Microsoft YaHei" pitchFamily="34" charset="0"/>
                <a:ea typeface="Microsoft YaHei" pitchFamily="34" charset="-122"/>
                <a:cs typeface="Microsoft YaHei" pitchFamily="34" charset="-120"/>
              </a:rPr>
              <a:t>01 需求场景</a:t>
            </a:r>
            <a:endParaRPr lang="en-US" sz="2400" dirty="0"/>
          </a:p>
          <a:p>
            <a:pPr marL="0" indent="0">
              <a:buNone/>
            </a:pPr>
            <a:endParaRPr lang="en-US" sz="1200" dirty="0">
              <a:solidFill>
                <a:srgbClr val="334155"/>
              </a:solidFill>
              <a:latin typeface="Microsoft YaHei" pitchFamily="34" charset="0"/>
              <a:ea typeface="Microsoft YaHei" pitchFamily="34" charset="-122"/>
              <a:cs typeface="Microsoft YaHei" pitchFamily="34" charset="-120"/>
            </a:endParaRPr>
          </a:p>
          <a:p>
            <a:pPr marL="0" indent="0">
              <a:buNone/>
            </a:pPr>
            <a:endParaRPr lang="en-US" sz="1200" dirty="0">
              <a:solidFill>
                <a:srgbClr val="334155"/>
              </a:solidFill>
              <a:latin typeface="Microsoft YaHei" pitchFamily="34" charset="0"/>
              <a:ea typeface="Microsoft YaHei" pitchFamily="34" charset="-122"/>
              <a:cs typeface="Microsoft YaHei" pitchFamily="34" charset="-120"/>
            </a:endParaRPr>
          </a:p>
          <a:p>
            <a:pPr marL="0" indent="0" algn="ctr">
              <a:buNone/>
            </a:pPr>
            <a:r>
              <a:rPr lang="en-US" sz="1200" dirty="0" err="1">
                <a:solidFill>
                  <a:srgbClr val="334155"/>
                </a:solidFill>
                <a:latin typeface="Microsoft YaHei" pitchFamily="34" charset="0"/>
                <a:ea typeface="Microsoft YaHei" pitchFamily="34" charset="-122"/>
                <a:cs typeface="Microsoft YaHei" pitchFamily="34" charset="-120"/>
              </a:rPr>
              <a:t>厦门多雨与便民物资借还需求</a:t>
            </a:r>
            <a:endParaRPr lang="en-US" sz="1200" dirty="0"/>
          </a:p>
          <a:p>
            <a:pPr marL="0" indent="0" algn="ctr">
              <a:buNone/>
            </a:pPr>
            <a:r>
              <a:rPr lang="en-US" sz="1200" dirty="0">
                <a:solidFill>
                  <a:srgbClr val="334155"/>
                </a:solidFill>
                <a:latin typeface="Microsoft YaHei" pitchFamily="34" charset="0"/>
                <a:ea typeface="Microsoft YaHei" pitchFamily="34" charset="-122"/>
                <a:cs typeface="Microsoft YaHei" pitchFamily="34" charset="-120"/>
              </a:rPr>
              <a:t>明确用户角色与核心业务流程</a:t>
            </a:r>
            <a:endParaRPr lang="en-US" sz="1200" dirty="0"/>
          </a:p>
        </p:txBody>
      </p:sp>
      <p:sp>
        <p:nvSpPr>
          <p:cNvPr id="8" name="Text 6"/>
          <p:cNvSpPr/>
          <p:nvPr/>
        </p:nvSpPr>
        <p:spPr>
          <a:xfrm>
            <a:off x="3520440" y="1828800"/>
            <a:ext cx="2331720" cy="2011680"/>
          </a:xfrm>
          <a:prstGeom prst="rect">
            <a:avLst/>
          </a:prstGeom>
          <a:solidFill>
            <a:srgbClr val="F0FDFA"/>
          </a:solidFill>
          <a:ln>
            <a:solidFill>
              <a:srgbClr val="0F766E">
                <a:alpha val="90000"/>
              </a:srgbClr>
            </a:solidFill>
          </a:ln>
        </p:spPr>
        <p:txBody>
          <a:bodyPr wrap="square" rtlCol="0" anchor="t">
            <a:normAutofit/>
          </a:bodyPr>
          <a:lstStyle/>
          <a:p>
            <a:pPr marL="0" indent="0">
              <a:buNone/>
            </a:pPr>
            <a:r>
              <a:rPr lang="en-US" sz="2400" b="1" dirty="0">
                <a:solidFill>
                  <a:srgbClr val="0B1F33"/>
                </a:solidFill>
                <a:latin typeface="Microsoft YaHei" pitchFamily="34" charset="0"/>
                <a:ea typeface="Microsoft YaHei" pitchFamily="34" charset="-122"/>
                <a:cs typeface="Microsoft YaHei" pitchFamily="34" charset="-120"/>
              </a:rPr>
              <a:t>02 数据建模</a:t>
            </a:r>
            <a:endParaRPr lang="en-US" sz="2400" dirty="0"/>
          </a:p>
          <a:p>
            <a:pPr marL="0" indent="0">
              <a:buNone/>
            </a:pPr>
            <a:endParaRPr lang="en-US" sz="1150" dirty="0">
              <a:solidFill>
                <a:srgbClr val="334155"/>
              </a:solidFill>
              <a:latin typeface="Microsoft YaHei" pitchFamily="34" charset="0"/>
              <a:ea typeface="Microsoft YaHei" pitchFamily="34" charset="-122"/>
              <a:cs typeface="Microsoft YaHei" pitchFamily="34" charset="-120"/>
            </a:endParaRPr>
          </a:p>
          <a:p>
            <a:pPr marL="0" indent="0">
              <a:buNone/>
            </a:pPr>
            <a:endParaRPr lang="en-US" sz="1150" dirty="0">
              <a:solidFill>
                <a:srgbClr val="334155"/>
              </a:solidFill>
              <a:latin typeface="Microsoft YaHei" pitchFamily="34" charset="0"/>
              <a:ea typeface="Microsoft YaHei" pitchFamily="34" charset="-122"/>
              <a:cs typeface="Microsoft YaHei" pitchFamily="34" charset="-120"/>
            </a:endParaRPr>
          </a:p>
          <a:p>
            <a:pPr marL="0" indent="0" algn="ctr">
              <a:buNone/>
            </a:pPr>
            <a:r>
              <a:rPr lang="en-US" sz="1200" dirty="0" err="1">
                <a:solidFill>
                  <a:srgbClr val="334155"/>
                </a:solidFill>
                <a:latin typeface="Times New Roman" panose="02020603050405020304" pitchFamily="18" charset="0"/>
                <a:ea typeface="Microsoft YaHei" pitchFamily="34" charset="-122"/>
                <a:cs typeface="Times New Roman" panose="02020603050405020304" pitchFamily="18" charset="0"/>
              </a:rPr>
              <a:t>从</a:t>
            </a:r>
            <a:r>
              <a:rPr lang="en-US" sz="1200" dirty="0">
                <a:solidFill>
                  <a:srgbClr val="334155"/>
                </a:solidFill>
                <a:latin typeface="Times New Roman" panose="02020603050405020304" pitchFamily="18" charset="0"/>
                <a:ea typeface="Microsoft YaHei" pitchFamily="34" charset="-122"/>
                <a:cs typeface="Times New Roman" panose="02020603050405020304" pitchFamily="18" charset="0"/>
              </a:rPr>
              <a:t> E-R 图到 12 个关系模式</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334155"/>
                </a:solidFill>
                <a:latin typeface="Times New Roman" panose="02020603050405020304" pitchFamily="18" charset="0"/>
                <a:ea typeface="Microsoft YaHei" pitchFamily="34" charset="-122"/>
                <a:cs typeface="Times New Roman" panose="02020603050405020304" pitchFamily="18" charset="0"/>
              </a:rPr>
              <a:t>处理 1:N 与 M:N 联系</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6252519" y="1828800"/>
            <a:ext cx="2533135" cy="2011680"/>
          </a:xfrm>
          <a:prstGeom prst="rect">
            <a:avLst/>
          </a:prstGeom>
          <a:solidFill>
            <a:srgbClr val="FFF7ED"/>
          </a:solidFill>
          <a:ln>
            <a:solidFill>
              <a:srgbClr val="D97706">
                <a:alpha val="90000"/>
              </a:srgbClr>
            </a:solidFill>
          </a:ln>
        </p:spPr>
        <p:txBody>
          <a:bodyPr wrap="square" rtlCol="0" anchor="t">
            <a:normAutofit/>
          </a:bodyPr>
          <a:lstStyle/>
          <a:p>
            <a:pPr marL="0" indent="0">
              <a:buNone/>
            </a:pPr>
            <a:r>
              <a:rPr lang="en-US" sz="2400" b="1" dirty="0">
                <a:solidFill>
                  <a:srgbClr val="0B1F33"/>
                </a:solidFill>
                <a:latin typeface="Microsoft YaHei" pitchFamily="34" charset="0"/>
                <a:ea typeface="Microsoft YaHei" pitchFamily="34" charset="-122"/>
                <a:cs typeface="Microsoft YaHei" pitchFamily="34" charset="-120"/>
              </a:rPr>
              <a:t>03 MySQL 实施</a:t>
            </a:r>
            <a:endParaRPr lang="en-US" sz="2400" dirty="0"/>
          </a:p>
          <a:p>
            <a:pPr marL="0" indent="0">
              <a:buNone/>
            </a:pPr>
            <a:endParaRPr lang="en-US" sz="1200" dirty="0">
              <a:solidFill>
                <a:srgbClr val="334155"/>
              </a:solidFill>
              <a:latin typeface="Microsoft YaHei" pitchFamily="34" charset="0"/>
              <a:ea typeface="Microsoft YaHei" pitchFamily="34" charset="-122"/>
              <a:cs typeface="Microsoft YaHei" pitchFamily="34" charset="-120"/>
            </a:endParaRPr>
          </a:p>
          <a:p>
            <a:pPr marL="0" indent="0">
              <a:buNone/>
            </a:pPr>
            <a:endParaRPr lang="en-US" sz="1200" dirty="0">
              <a:solidFill>
                <a:srgbClr val="334155"/>
              </a:solidFill>
              <a:latin typeface="Microsoft YaHei" pitchFamily="34" charset="0"/>
              <a:ea typeface="Microsoft YaHei" pitchFamily="34" charset="-122"/>
              <a:cs typeface="Microsoft YaHei" pitchFamily="34" charset="-120"/>
            </a:endParaRPr>
          </a:p>
          <a:p>
            <a:pPr marL="0" indent="0" algn="ctr">
              <a:buNone/>
            </a:pPr>
            <a:r>
              <a:rPr lang="en-US" sz="1200" dirty="0" err="1">
                <a:solidFill>
                  <a:srgbClr val="334155"/>
                </a:solidFill>
                <a:latin typeface="Microsoft YaHei" pitchFamily="34" charset="0"/>
                <a:ea typeface="Microsoft YaHei" pitchFamily="34" charset="-122"/>
                <a:cs typeface="Microsoft YaHei" pitchFamily="34" charset="-120"/>
              </a:rPr>
              <a:t>建库建表、索引、视图</a:t>
            </a:r>
            <a:endParaRPr lang="en-US" sz="1200" dirty="0"/>
          </a:p>
          <a:p>
            <a:pPr marL="0" indent="0" algn="ctr">
              <a:buNone/>
            </a:pPr>
            <a:r>
              <a:rPr lang="en-US" sz="1200" dirty="0">
                <a:solidFill>
                  <a:srgbClr val="334155"/>
                </a:solidFill>
                <a:latin typeface="Microsoft YaHei" pitchFamily="34" charset="0"/>
                <a:ea typeface="Microsoft YaHei" pitchFamily="34" charset="-122"/>
                <a:cs typeface="Microsoft YaHei" pitchFamily="34" charset="-120"/>
              </a:rPr>
              <a:t>存储过程与触发器</a:t>
            </a:r>
            <a:endParaRPr lang="en-US" sz="1200" dirty="0"/>
          </a:p>
        </p:txBody>
      </p:sp>
      <p:sp>
        <p:nvSpPr>
          <p:cNvPr id="10" name="Text 8"/>
          <p:cNvSpPr/>
          <p:nvPr/>
        </p:nvSpPr>
        <p:spPr>
          <a:xfrm>
            <a:off x="9189720" y="1828800"/>
            <a:ext cx="2331720" cy="2011680"/>
          </a:xfrm>
          <a:prstGeom prst="rect">
            <a:avLst/>
          </a:prstGeom>
          <a:solidFill>
            <a:srgbClr val="F3E8FF"/>
          </a:solidFill>
          <a:ln>
            <a:solidFill>
              <a:srgbClr val="7C3AED">
                <a:alpha val="90000"/>
              </a:srgbClr>
            </a:solidFill>
          </a:ln>
        </p:spPr>
        <p:txBody>
          <a:bodyPr wrap="square" rtlCol="0" anchor="t">
            <a:normAutofit/>
          </a:bodyPr>
          <a:lstStyle/>
          <a:p>
            <a:pPr marL="0" indent="0">
              <a:buNone/>
            </a:pPr>
            <a:r>
              <a:rPr lang="en-US" sz="2000" b="1" dirty="0">
                <a:solidFill>
                  <a:srgbClr val="0B1F33"/>
                </a:solidFill>
                <a:latin typeface="Microsoft YaHei" pitchFamily="34" charset="0"/>
                <a:ea typeface="Microsoft YaHei" pitchFamily="34" charset="-122"/>
                <a:cs typeface="Microsoft YaHei" pitchFamily="34" charset="-120"/>
              </a:rPr>
              <a:t>04 测试与落地</a:t>
            </a:r>
            <a:endParaRPr lang="en-US" sz="2000" dirty="0"/>
          </a:p>
          <a:p>
            <a:pPr marL="0" indent="0">
              <a:buNone/>
            </a:pPr>
            <a:endParaRPr lang="en-US" sz="1200" dirty="0">
              <a:solidFill>
                <a:srgbClr val="334155"/>
              </a:solidFill>
              <a:latin typeface="Microsoft YaHei" pitchFamily="34" charset="0"/>
              <a:ea typeface="Microsoft YaHei" pitchFamily="34" charset="-122"/>
              <a:cs typeface="Microsoft YaHei" pitchFamily="34" charset="-120"/>
            </a:endParaRPr>
          </a:p>
          <a:p>
            <a:pPr marL="0" indent="0">
              <a:buNone/>
            </a:pPr>
            <a:endParaRPr lang="en-US" sz="1200" dirty="0">
              <a:solidFill>
                <a:srgbClr val="334155"/>
              </a:solidFill>
              <a:latin typeface="Microsoft YaHei" pitchFamily="34" charset="0"/>
              <a:ea typeface="Microsoft YaHei" pitchFamily="34" charset="-122"/>
              <a:cs typeface="Microsoft YaHei" pitchFamily="34" charset="-120"/>
            </a:endParaRPr>
          </a:p>
          <a:p>
            <a:pPr marL="0" indent="0" algn="ctr">
              <a:buNone/>
            </a:pPr>
            <a:r>
              <a:rPr lang="en-US" sz="1200" dirty="0">
                <a:solidFill>
                  <a:srgbClr val="334155"/>
                </a:solidFill>
                <a:latin typeface="Microsoft YaHei" pitchFamily="34" charset="0"/>
                <a:ea typeface="Microsoft YaHei" pitchFamily="34" charset="-122"/>
                <a:cs typeface="Microsoft YaHei" pitchFamily="34" charset="-120"/>
              </a:rPr>
              <a:t>8 组测试用例验证核心流程</a:t>
            </a:r>
            <a:endParaRPr lang="en-US" sz="1200" dirty="0"/>
          </a:p>
          <a:p>
            <a:pPr marL="0" indent="0" algn="ctr">
              <a:buNone/>
            </a:pPr>
            <a:r>
              <a:rPr lang="en-US" sz="1200" dirty="0">
                <a:solidFill>
                  <a:srgbClr val="334155"/>
                </a:solidFill>
                <a:latin typeface="Microsoft YaHei" pitchFamily="34" charset="0"/>
                <a:ea typeface="Microsoft YaHei" pitchFamily="34" charset="-122"/>
                <a:cs typeface="Microsoft YaHei" pitchFamily="34" charset="-120"/>
              </a:rPr>
              <a:t>总结运行维护和扩展方向</a:t>
            </a:r>
            <a:endParaRPr lang="en-US" sz="1200" dirty="0"/>
          </a:p>
        </p:txBody>
      </p:sp>
      <p:sp>
        <p:nvSpPr>
          <p:cNvPr id="11" name="Text 9"/>
          <p:cNvSpPr/>
          <p:nvPr/>
        </p:nvSpPr>
        <p:spPr>
          <a:xfrm>
            <a:off x="777240" y="4709160"/>
            <a:ext cx="10652760" cy="438912"/>
          </a:xfrm>
          <a:prstGeom prst="rect">
            <a:avLst/>
          </a:prstGeom>
          <a:solidFill>
            <a:srgbClr val="FFFFFF"/>
          </a:solidFill>
          <a:ln>
            <a:solidFill>
              <a:srgbClr val="CBD5E1"/>
            </a:solidFill>
          </a:ln>
        </p:spPr>
        <p:txBody>
          <a:bodyPr wrap="square" lIns="381" tIns="381" rIns="381" bIns="381" rtlCol="0" anchor="ctr"/>
          <a:lstStyle/>
          <a:p>
            <a:pPr marL="0" indent="0" algn="ctr">
              <a:buNone/>
            </a:pPr>
            <a:r>
              <a:rPr lang="en-US" sz="1700" b="1" dirty="0">
                <a:solidFill>
                  <a:srgbClr val="0B1F33"/>
                </a:solidFill>
                <a:latin typeface="Microsoft YaHei" pitchFamily="34" charset="0"/>
                <a:ea typeface="Microsoft YaHei" pitchFamily="34" charset="-122"/>
                <a:cs typeface="Microsoft YaHei" pitchFamily="34" charset="-120"/>
              </a:rPr>
              <a:t>需求分析  →  概念结构  →  逻辑结构  →  物理结构  →  数据库实施  →  运行维护</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项目背景：厦门多雨场景下的校园便民管理问题</a:t>
            </a:r>
            <a:endParaRPr lang="en-US" sz="2600" dirty="0"/>
          </a:p>
        </p:txBody>
      </p:sp>
      <p:sp>
        <p:nvSpPr>
          <p:cNvPr id="5" name="Text 3"/>
          <p:cNvSpPr/>
          <p:nvPr/>
        </p:nvSpPr>
        <p:spPr>
          <a:xfrm>
            <a:off x="530352" y="749808"/>
            <a:ext cx="8961120" cy="246888"/>
          </a:xfrm>
          <a:prstGeom prst="rect">
            <a:avLst/>
          </a:prstGeom>
          <a:noFill/>
          <a:ln/>
        </p:spPr>
        <p:txBody>
          <a:bodyPr wrap="square" lIns="0" tIns="0" rIns="0" bIns="0" rtlCol="0" anchor="ctr"/>
          <a:lstStyle/>
          <a:p>
            <a:pPr marL="0" indent="0">
              <a:buNone/>
            </a:pPr>
            <a:r>
              <a:rPr lang="en-US" sz="1050" dirty="0">
                <a:solidFill>
                  <a:srgbClr val="64748B"/>
                </a:solidFill>
                <a:latin typeface="Microsoft YaHei" pitchFamily="34" charset="0"/>
                <a:ea typeface="Microsoft YaHei" pitchFamily="34" charset="-122"/>
                <a:cs typeface="Microsoft YaHei" pitchFamily="34" charset="-120"/>
              </a:rPr>
              <a:t>线下人工管理容易导致物资状态、责任追踪和服务点库存不清</a:t>
            </a:r>
            <a:endParaRPr lang="en-US" sz="105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3</a:t>
            </a:r>
            <a:endParaRPr lang="en-US" sz="800" dirty="0"/>
          </a:p>
        </p:txBody>
      </p:sp>
      <p:sp>
        <p:nvSpPr>
          <p:cNvPr id="7" name="Text 5"/>
          <p:cNvSpPr/>
          <p:nvPr/>
        </p:nvSpPr>
        <p:spPr>
          <a:xfrm>
            <a:off x="439756" y="1313682"/>
            <a:ext cx="3742862" cy="1652098"/>
          </a:xfrm>
          <a:prstGeom prst="rect">
            <a:avLst/>
          </a:prstGeom>
          <a:solidFill>
            <a:srgbClr val="E0F2FE"/>
          </a:solidFill>
          <a:ln>
            <a:solidFill>
              <a:srgbClr val="075985">
                <a:alpha val="90000"/>
              </a:srgbClr>
            </a:solidFill>
          </a:ln>
        </p:spPr>
        <p:txBody>
          <a:bodyPr wrap="square" rtlCol="0" anchor="t">
            <a:normAutofit/>
          </a:bodyPr>
          <a:lstStyle/>
          <a:p>
            <a:pPr marL="0" indent="0" algn="ctr">
              <a:buNone/>
            </a:pPr>
            <a:r>
              <a:rPr lang="en-US" b="1" dirty="0">
                <a:solidFill>
                  <a:srgbClr val="0B1F33"/>
                </a:solidFill>
                <a:latin typeface="Microsoft YaHei" pitchFamily="34" charset="0"/>
                <a:ea typeface="Microsoft YaHei" pitchFamily="34" charset="-122"/>
                <a:cs typeface="Microsoft YaHei" pitchFamily="34" charset="-120"/>
              </a:rPr>
              <a:t>真实场景</a:t>
            </a:r>
            <a:endParaRPr lang="en-US" dirty="0"/>
          </a:p>
          <a:p>
            <a:pPr marL="0" indent="0">
              <a:buNone/>
            </a:pPr>
            <a:endParaRPr lang="en-US" sz="1100" dirty="0">
              <a:solidFill>
                <a:srgbClr val="334155"/>
              </a:solidFill>
              <a:latin typeface="Microsoft YaHei" pitchFamily="34" charset="0"/>
              <a:ea typeface="Microsoft YaHei" pitchFamily="34" charset="-122"/>
              <a:cs typeface="Microsoft YaHei" pitchFamily="34" charset="-120"/>
            </a:endParaRPr>
          </a:p>
          <a:p>
            <a:pPr marL="0" indent="0">
              <a:buNone/>
            </a:pPr>
            <a:endParaRPr lang="en-US" sz="1100" dirty="0">
              <a:solidFill>
                <a:srgbClr val="334155"/>
              </a:solidFill>
              <a:latin typeface="Microsoft YaHei" pitchFamily="34" charset="0"/>
              <a:ea typeface="Microsoft YaHei" pitchFamily="34" charset="-122"/>
              <a:cs typeface="Microsoft YaHei" pitchFamily="34" charset="-120"/>
            </a:endParaRPr>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突发降雨、台风季、教学楼与宿舍区往返</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临时需要雨伞、充电宝、工具箱、简易医药包</a:t>
            </a:r>
            <a:endParaRPr lang="en-US" sz="1400" dirty="0"/>
          </a:p>
        </p:txBody>
      </p:sp>
      <p:sp>
        <p:nvSpPr>
          <p:cNvPr id="8" name="Text 6"/>
          <p:cNvSpPr/>
          <p:nvPr/>
        </p:nvSpPr>
        <p:spPr>
          <a:xfrm>
            <a:off x="4800600" y="1325880"/>
            <a:ext cx="2834640" cy="1652098"/>
          </a:xfrm>
          <a:prstGeom prst="rect">
            <a:avLst/>
          </a:prstGeom>
          <a:solidFill>
            <a:srgbClr val="FFF7ED"/>
          </a:solidFill>
          <a:ln>
            <a:solidFill>
              <a:srgbClr val="D97706">
                <a:alpha val="90000"/>
              </a:srgbClr>
            </a:solidFill>
          </a:ln>
        </p:spPr>
        <p:txBody>
          <a:bodyPr wrap="square" rtlCol="0" anchor="t">
            <a:normAutofit/>
          </a:bodyPr>
          <a:lstStyle/>
          <a:p>
            <a:pPr marL="0" indent="0" algn="ctr">
              <a:buNone/>
            </a:pPr>
            <a:r>
              <a:rPr lang="en-US" sz="1600" b="1" dirty="0">
                <a:solidFill>
                  <a:srgbClr val="0B1F33"/>
                </a:solidFill>
                <a:latin typeface="Microsoft YaHei" pitchFamily="34" charset="0"/>
                <a:ea typeface="Microsoft YaHei" pitchFamily="34" charset="-122"/>
                <a:cs typeface="Microsoft YaHei" pitchFamily="34" charset="-120"/>
              </a:rPr>
              <a:t>管理痛点</a:t>
            </a:r>
            <a:endParaRPr lang="en-US" sz="1600" dirty="0"/>
          </a:p>
          <a:p>
            <a:pPr marL="0" indent="0" algn="ctr">
              <a:buNone/>
            </a:pPr>
            <a:endParaRPr lang="en-US" sz="1400" dirty="0">
              <a:solidFill>
                <a:srgbClr val="334155"/>
              </a:solidFill>
              <a:latin typeface="Microsoft YaHei" pitchFamily="34" charset="0"/>
              <a:ea typeface="Microsoft YaHei" pitchFamily="34" charset="-122"/>
              <a:cs typeface="Microsoft YaHei" pitchFamily="34" charset="-120"/>
            </a:endParaRPr>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物资数量不清</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借还记录不完整</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逾期和损坏难追踪</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服务点库存分布不均</a:t>
            </a:r>
            <a:endParaRPr lang="en-US" sz="1400" dirty="0"/>
          </a:p>
        </p:txBody>
      </p:sp>
      <p:sp>
        <p:nvSpPr>
          <p:cNvPr id="9" name="Text 7"/>
          <p:cNvSpPr/>
          <p:nvPr/>
        </p:nvSpPr>
        <p:spPr>
          <a:xfrm>
            <a:off x="8237220" y="1325880"/>
            <a:ext cx="3611880" cy="1652098"/>
          </a:xfrm>
          <a:prstGeom prst="rect">
            <a:avLst/>
          </a:prstGeom>
          <a:solidFill>
            <a:srgbClr val="F0FDFA"/>
          </a:solidFill>
          <a:ln>
            <a:solidFill>
              <a:srgbClr val="0F766E">
                <a:alpha val="90000"/>
              </a:srgbClr>
            </a:solidFill>
          </a:ln>
        </p:spPr>
        <p:txBody>
          <a:bodyPr wrap="square" rtlCol="0" anchor="t">
            <a:normAutofit/>
          </a:bodyPr>
          <a:lstStyle/>
          <a:p>
            <a:pPr marL="0" indent="0" algn="ctr">
              <a:buNone/>
            </a:pPr>
            <a:r>
              <a:rPr lang="en-US" sz="1600" b="1" dirty="0">
                <a:solidFill>
                  <a:srgbClr val="0B1F33"/>
                </a:solidFill>
                <a:latin typeface="Microsoft YaHei" pitchFamily="34" charset="0"/>
                <a:ea typeface="Microsoft YaHei" pitchFamily="34" charset="-122"/>
                <a:cs typeface="Microsoft YaHei" pitchFamily="34" charset="-120"/>
              </a:rPr>
              <a:t>系统目标</a:t>
            </a:r>
            <a:endParaRPr lang="en-US" sz="1600" dirty="0"/>
          </a:p>
          <a:p>
            <a:pPr marL="0" indent="0" algn="ctr">
              <a:buNone/>
            </a:pPr>
            <a:endParaRPr lang="en-US" sz="1400" dirty="0">
              <a:solidFill>
                <a:srgbClr val="334155"/>
              </a:solidFill>
              <a:latin typeface="Microsoft YaHei" pitchFamily="34" charset="0"/>
              <a:ea typeface="Microsoft YaHei" pitchFamily="34" charset="-122"/>
              <a:cs typeface="Microsoft YaHei" pitchFamily="34" charset="-120"/>
            </a:endParaRPr>
          </a:p>
          <a:p>
            <a:pPr marL="0" indent="0" algn="ctr">
              <a:buNone/>
            </a:pPr>
            <a:endParaRPr lang="en-US" sz="1400" dirty="0">
              <a:solidFill>
                <a:srgbClr val="334155"/>
              </a:solidFill>
              <a:latin typeface="Microsoft YaHei" pitchFamily="34" charset="0"/>
              <a:ea typeface="Microsoft YaHei" pitchFamily="34" charset="-122"/>
              <a:cs typeface="Microsoft YaHei" pitchFamily="34" charset="-120"/>
            </a:endParaRPr>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通过</a:t>
            </a:r>
            <a:r>
              <a:rPr lang="en-US" sz="1400" dirty="0">
                <a:solidFill>
                  <a:srgbClr val="334155"/>
                </a:solidFill>
                <a:latin typeface="Microsoft YaHei" pitchFamily="34" charset="0"/>
                <a:ea typeface="Microsoft YaHei" pitchFamily="34" charset="-122"/>
                <a:cs typeface="Microsoft YaHei" pitchFamily="34" charset="-120"/>
              </a:rPr>
              <a:t> MySQL 建立统一数据库</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让“人、点、物、记录”形成可追溯闭环</a:t>
            </a:r>
            <a:endParaRPr lang="en-US" sz="1400" dirty="0"/>
          </a:p>
        </p:txBody>
      </p:sp>
      <p:sp>
        <p:nvSpPr>
          <p:cNvPr id="11" name="Text 9"/>
          <p:cNvSpPr/>
          <p:nvPr/>
        </p:nvSpPr>
        <p:spPr>
          <a:xfrm>
            <a:off x="2514600" y="4462272"/>
            <a:ext cx="365760" cy="365760"/>
          </a:xfrm>
          <a:prstGeom prst="rect">
            <a:avLst/>
          </a:prstGeom>
          <a:noFill/>
          <a:ln/>
        </p:spPr>
        <p:txBody>
          <a:bodyPr wrap="square" rtlCol="0" anchor="ctr"/>
          <a:lstStyle/>
          <a:p>
            <a:pPr marL="0" indent="0" algn="ctr">
              <a:buNone/>
            </a:pPr>
            <a:endParaRPr lang="en-US" sz="2000" dirty="0"/>
          </a:p>
        </p:txBody>
      </p:sp>
      <p:sp>
        <p:nvSpPr>
          <p:cNvPr id="13" name="Text 11"/>
          <p:cNvSpPr/>
          <p:nvPr/>
        </p:nvSpPr>
        <p:spPr>
          <a:xfrm>
            <a:off x="4572000" y="4462272"/>
            <a:ext cx="365760" cy="365760"/>
          </a:xfrm>
          <a:prstGeom prst="rect">
            <a:avLst/>
          </a:prstGeom>
          <a:noFill/>
          <a:ln/>
        </p:spPr>
        <p:txBody>
          <a:bodyPr wrap="square" rtlCol="0" anchor="ctr"/>
          <a:lstStyle/>
          <a:p>
            <a:pPr marL="0" indent="0" algn="ctr">
              <a:buNone/>
            </a:pPr>
            <a:endParaRPr lang="en-US" sz="2000" dirty="0"/>
          </a:p>
        </p:txBody>
      </p:sp>
      <p:sp>
        <p:nvSpPr>
          <p:cNvPr id="15" name="Text 13"/>
          <p:cNvSpPr/>
          <p:nvPr/>
        </p:nvSpPr>
        <p:spPr>
          <a:xfrm>
            <a:off x="6355080" y="4462272"/>
            <a:ext cx="365760" cy="365760"/>
          </a:xfrm>
          <a:prstGeom prst="rect">
            <a:avLst/>
          </a:prstGeom>
          <a:noFill/>
          <a:ln/>
        </p:spPr>
        <p:txBody>
          <a:bodyPr wrap="square" rtlCol="0" anchor="ctr"/>
          <a:lstStyle/>
          <a:p>
            <a:pPr marL="0" indent="0" algn="ctr">
              <a:buNone/>
            </a:pPr>
            <a:endParaRPr lang="en-US" sz="2000" dirty="0"/>
          </a:p>
        </p:txBody>
      </p:sp>
      <p:pic>
        <p:nvPicPr>
          <p:cNvPr id="1028" name="Picture 4" descr="暴雨来袭，厦大被迫停课，华南各大高校开启“看海”模式|园林|暴雨|模式_新浪新闻">
            <a:extLst>
              <a:ext uri="{FF2B5EF4-FFF2-40B4-BE49-F238E27FC236}">
                <a16:creationId xmlns:a16="http://schemas.microsoft.com/office/drawing/2014/main" id="{26D25D5C-A819-764E-85F6-1A03DE6F3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5959" y="3235616"/>
            <a:ext cx="4581652" cy="309261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厦大万名萌新报道！依然保持“女多男少”，年龄最小仅15岁，外文学院82%是女生！_新生">
            <a:extLst>
              <a:ext uri="{FF2B5EF4-FFF2-40B4-BE49-F238E27FC236}">
                <a16:creationId xmlns:a16="http://schemas.microsoft.com/office/drawing/2014/main" id="{8C6CB62E-8416-DA40-BFB1-8281E6CD69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4391" y="3241918"/>
            <a:ext cx="4638924" cy="3092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txBody>
          <a:bodyPr/>
          <a:lstStyle/>
          <a:p>
            <a:endParaRPr lang="zh-CN" altLang="en-US" dirty="0"/>
          </a:p>
        </p:txBody>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err="1">
                <a:solidFill>
                  <a:srgbClr val="0B1F33"/>
                </a:solidFill>
                <a:latin typeface="Microsoft YaHei" pitchFamily="34" charset="0"/>
                <a:ea typeface="Microsoft YaHei" pitchFamily="34" charset="-122"/>
                <a:cs typeface="Microsoft YaHei" pitchFamily="34" charset="-120"/>
              </a:rPr>
              <a:t>核心目标</a:t>
            </a:r>
            <a:endParaRPr lang="en-US" sz="260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4</a:t>
            </a:r>
            <a:endParaRPr lang="en-US" sz="800" dirty="0"/>
          </a:p>
        </p:txBody>
      </p:sp>
      <p:sp>
        <p:nvSpPr>
          <p:cNvPr id="7" name="Text 5"/>
          <p:cNvSpPr/>
          <p:nvPr/>
        </p:nvSpPr>
        <p:spPr>
          <a:xfrm>
            <a:off x="640080" y="1234440"/>
            <a:ext cx="3520440" cy="946297"/>
          </a:xfrm>
          <a:prstGeom prst="rect">
            <a:avLst/>
          </a:prstGeom>
          <a:solidFill>
            <a:srgbClr val="FFFFFF"/>
          </a:solidFill>
          <a:ln>
            <a:solidFill>
              <a:srgbClr val="075985">
                <a:alpha val="90000"/>
              </a:srgbClr>
            </a:solidFill>
          </a:ln>
        </p:spPr>
        <p:txBody>
          <a:bodyPr wrap="square" rtlCol="0" anchor="t">
            <a:normAutofit/>
          </a:bodyPr>
          <a:lstStyle/>
          <a:p>
            <a:pPr marL="0" indent="0" algn="ctr">
              <a:buNone/>
            </a:pPr>
            <a:r>
              <a:rPr lang="en-US" sz="1400" b="1" dirty="0">
                <a:solidFill>
                  <a:srgbClr val="0B1F33"/>
                </a:solidFill>
                <a:latin typeface="Microsoft YaHei" pitchFamily="34" charset="0"/>
                <a:ea typeface="Microsoft YaHei" pitchFamily="34" charset="-122"/>
                <a:cs typeface="Microsoft YaHei" pitchFamily="34" charset="-120"/>
              </a:rPr>
              <a:t>借还流程规范化</a:t>
            </a:r>
            <a:endParaRPr lang="en-US" sz="1400" dirty="0"/>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自动生成借还记录</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更新借出/归还状态</a:t>
            </a:r>
            <a:endParaRPr lang="en-US" sz="1400" dirty="0"/>
          </a:p>
        </p:txBody>
      </p:sp>
      <p:sp>
        <p:nvSpPr>
          <p:cNvPr id="8" name="Text 6"/>
          <p:cNvSpPr/>
          <p:nvPr/>
        </p:nvSpPr>
        <p:spPr>
          <a:xfrm>
            <a:off x="4480560" y="1234440"/>
            <a:ext cx="3520440" cy="946297"/>
          </a:xfrm>
          <a:prstGeom prst="rect">
            <a:avLst/>
          </a:prstGeom>
          <a:solidFill>
            <a:srgbClr val="F8FAFC"/>
          </a:solidFill>
          <a:ln>
            <a:solidFill>
              <a:srgbClr val="075985">
                <a:alpha val="90000"/>
              </a:srgbClr>
            </a:solidFill>
          </a:ln>
        </p:spPr>
        <p:txBody>
          <a:bodyPr wrap="square" rtlCol="0" anchor="t">
            <a:normAutofit/>
          </a:bodyPr>
          <a:lstStyle/>
          <a:p>
            <a:pPr marL="0" indent="0" algn="ctr">
              <a:buNone/>
            </a:pPr>
            <a:r>
              <a:rPr lang="en-US" sz="1400" b="1" dirty="0">
                <a:solidFill>
                  <a:srgbClr val="0B1F33"/>
                </a:solidFill>
                <a:latin typeface="Microsoft YaHei" pitchFamily="34" charset="0"/>
                <a:ea typeface="Microsoft YaHei" pitchFamily="34" charset="-122"/>
                <a:cs typeface="Microsoft YaHei" pitchFamily="34" charset="-120"/>
              </a:rPr>
              <a:t>物资状态管理</a:t>
            </a:r>
            <a:endParaRPr lang="en-US" sz="1400" dirty="0"/>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可用</a:t>
            </a:r>
            <a:r>
              <a:rPr lang="en-US" sz="1400" dirty="0">
                <a:solidFill>
                  <a:srgbClr val="334155"/>
                </a:solidFill>
                <a:latin typeface="Microsoft YaHei" pitchFamily="34" charset="0"/>
                <a:ea typeface="Microsoft YaHei" pitchFamily="34" charset="-122"/>
                <a:cs typeface="Microsoft YaHei" pitchFamily="34" charset="-120"/>
              </a:rPr>
              <a:t> / 借出中</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维修中 / 报废</a:t>
            </a:r>
            <a:endParaRPr lang="en-US" sz="1400" dirty="0"/>
          </a:p>
        </p:txBody>
      </p:sp>
      <p:sp>
        <p:nvSpPr>
          <p:cNvPr id="9" name="Text 7"/>
          <p:cNvSpPr/>
          <p:nvPr/>
        </p:nvSpPr>
        <p:spPr>
          <a:xfrm>
            <a:off x="8321040" y="1234440"/>
            <a:ext cx="3520440" cy="946297"/>
          </a:xfrm>
          <a:prstGeom prst="rect">
            <a:avLst/>
          </a:prstGeom>
          <a:solidFill>
            <a:srgbClr val="FFFFFF"/>
          </a:solidFill>
          <a:ln>
            <a:solidFill>
              <a:srgbClr val="075985">
                <a:alpha val="90000"/>
              </a:srgbClr>
            </a:solidFill>
          </a:ln>
        </p:spPr>
        <p:txBody>
          <a:bodyPr wrap="square" rtlCol="0" anchor="t">
            <a:normAutofit/>
          </a:bodyPr>
          <a:lstStyle/>
          <a:p>
            <a:pPr marL="0" indent="0" algn="ctr">
              <a:buNone/>
            </a:pPr>
            <a:r>
              <a:rPr lang="en-US" sz="1400" b="1" dirty="0">
                <a:solidFill>
                  <a:srgbClr val="0B1F33"/>
                </a:solidFill>
                <a:latin typeface="Microsoft YaHei" pitchFamily="34" charset="0"/>
                <a:ea typeface="Microsoft YaHei" pitchFamily="34" charset="-122"/>
                <a:cs typeface="Microsoft YaHei" pitchFamily="34" charset="-120"/>
              </a:rPr>
              <a:t>库存配置管理</a:t>
            </a:r>
            <a:endParaRPr lang="en-US" sz="1400" dirty="0"/>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服务点</a:t>
            </a:r>
            <a:r>
              <a:rPr lang="en-US" sz="1400" dirty="0">
                <a:solidFill>
                  <a:srgbClr val="334155"/>
                </a:solidFill>
                <a:latin typeface="Microsoft YaHei" pitchFamily="34" charset="0"/>
                <a:ea typeface="Microsoft YaHei" pitchFamily="34" charset="-122"/>
                <a:cs typeface="Microsoft YaHei" pitchFamily="34" charset="-120"/>
              </a:rPr>
              <a:t> × 物资类型</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容量与预警线</a:t>
            </a:r>
            <a:endParaRPr lang="en-US" sz="1400" dirty="0"/>
          </a:p>
        </p:txBody>
      </p:sp>
      <p:sp>
        <p:nvSpPr>
          <p:cNvPr id="10" name="Text 8"/>
          <p:cNvSpPr/>
          <p:nvPr/>
        </p:nvSpPr>
        <p:spPr>
          <a:xfrm>
            <a:off x="640080" y="2697480"/>
            <a:ext cx="3520440" cy="946297"/>
          </a:xfrm>
          <a:prstGeom prst="rect">
            <a:avLst/>
          </a:prstGeom>
          <a:solidFill>
            <a:srgbClr val="F8FAFC"/>
          </a:solidFill>
          <a:ln>
            <a:solidFill>
              <a:srgbClr val="0F766E">
                <a:alpha val="90000"/>
              </a:srgbClr>
            </a:solidFill>
          </a:ln>
        </p:spPr>
        <p:txBody>
          <a:bodyPr wrap="square" rtlCol="0" anchor="t">
            <a:normAutofit/>
          </a:bodyPr>
          <a:lstStyle/>
          <a:p>
            <a:pPr marL="0" indent="0" algn="ctr">
              <a:buNone/>
            </a:pPr>
            <a:r>
              <a:rPr lang="en-US" sz="1400" b="1" dirty="0">
                <a:solidFill>
                  <a:srgbClr val="0B1F33"/>
                </a:solidFill>
                <a:latin typeface="Microsoft YaHei" pitchFamily="34" charset="0"/>
                <a:ea typeface="Microsoft YaHei" pitchFamily="34" charset="-122"/>
                <a:cs typeface="Microsoft YaHei" pitchFamily="34" charset="-120"/>
              </a:rPr>
              <a:t>维修信息记录</a:t>
            </a:r>
            <a:endParaRPr lang="en-US" sz="1400" dirty="0"/>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损坏登记、维修处理</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恢复可用或报废</a:t>
            </a:r>
            <a:endParaRPr lang="en-US" sz="1400" dirty="0"/>
          </a:p>
        </p:txBody>
      </p:sp>
      <p:sp>
        <p:nvSpPr>
          <p:cNvPr id="11" name="Text 9"/>
          <p:cNvSpPr/>
          <p:nvPr/>
        </p:nvSpPr>
        <p:spPr>
          <a:xfrm>
            <a:off x="4480560" y="2697480"/>
            <a:ext cx="3520440" cy="946297"/>
          </a:xfrm>
          <a:prstGeom prst="rect">
            <a:avLst/>
          </a:prstGeom>
          <a:solidFill>
            <a:srgbClr val="FFFFFF"/>
          </a:solidFill>
          <a:ln>
            <a:solidFill>
              <a:srgbClr val="0F766E">
                <a:alpha val="90000"/>
              </a:srgbClr>
            </a:solidFill>
          </a:ln>
        </p:spPr>
        <p:txBody>
          <a:bodyPr wrap="square" rtlCol="0" anchor="t">
            <a:normAutofit/>
          </a:bodyPr>
          <a:lstStyle/>
          <a:p>
            <a:pPr marL="0" indent="0" algn="ctr">
              <a:buNone/>
            </a:pPr>
            <a:r>
              <a:rPr lang="en-US" sz="1400" b="1" dirty="0">
                <a:solidFill>
                  <a:srgbClr val="0B1F33"/>
                </a:solidFill>
                <a:latin typeface="Microsoft YaHei" pitchFamily="34" charset="0"/>
                <a:ea typeface="Microsoft YaHei" pitchFamily="34" charset="-122"/>
                <a:cs typeface="Microsoft YaHei" pitchFamily="34" charset="-120"/>
              </a:rPr>
              <a:t>信用约束机制</a:t>
            </a:r>
            <a:endParaRPr lang="en-US" sz="1400" dirty="0"/>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逾期自动扣分</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信用记录可追溯</a:t>
            </a:r>
            <a:endParaRPr lang="en-US" sz="1400" dirty="0"/>
          </a:p>
        </p:txBody>
      </p:sp>
      <p:sp>
        <p:nvSpPr>
          <p:cNvPr id="12" name="Text 10"/>
          <p:cNvSpPr/>
          <p:nvPr/>
        </p:nvSpPr>
        <p:spPr>
          <a:xfrm>
            <a:off x="8321040" y="2697480"/>
            <a:ext cx="3520440" cy="946297"/>
          </a:xfrm>
          <a:prstGeom prst="rect">
            <a:avLst/>
          </a:prstGeom>
          <a:solidFill>
            <a:srgbClr val="F8FAFC"/>
          </a:solidFill>
          <a:ln>
            <a:solidFill>
              <a:srgbClr val="0F766E">
                <a:alpha val="90000"/>
              </a:srgbClr>
            </a:solidFill>
          </a:ln>
        </p:spPr>
        <p:txBody>
          <a:bodyPr wrap="square" rtlCol="0" anchor="t">
            <a:normAutofit/>
          </a:bodyPr>
          <a:lstStyle/>
          <a:p>
            <a:pPr marL="0" indent="0" algn="ctr">
              <a:buNone/>
            </a:pPr>
            <a:r>
              <a:rPr lang="en-US" sz="1400" b="1" dirty="0">
                <a:solidFill>
                  <a:srgbClr val="0B1F33"/>
                </a:solidFill>
                <a:latin typeface="Microsoft YaHei" pitchFamily="34" charset="0"/>
                <a:ea typeface="Microsoft YaHei" pitchFamily="34" charset="-122"/>
                <a:cs typeface="Microsoft YaHei" pitchFamily="34" charset="-120"/>
              </a:rPr>
              <a:t>日志追踪</a:t>
            </a:r>
            <a:endParaRPr lang="en-US" sz="1400" dirty="0"/>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关键操作写入日志</a:t>
            </a:r>
            <a:endParaRPr lang="en-US" sz="1400" dirty="0"/>
          </a:p>
          <a:p>
            <a:pPr marL="0" indent="0" algn="ctr">
              <a:buNone/>
            </a:pPr>
            <a:r>
              <a:rPr lang="en-US" sz="1400" dirty="0" err="1">
                <a:solidFill>
                  <a:srgbClr val="334155"/>
                </a:solidFill>
                <a:latin typeface="Microsoft YaHei" pitchFamily="34" charset="0"/>
                <a:ea typeface="Microsoft YaHei" pitchFamily="34" charset="-122"/>
                <a:cs typeface="Microsoft YaHei" pitchFamily="34" charset="-120"/>
              </a:rPr>
              <a:t>便于审计维护</a:t>
            </a:r>
            <a:endParaRPr lang="en-US" sz="1400" dirty="0"/>
          </a:p>
        </p:txBody>
      </p:sp>
      <p:sp>
        <p:nvSpPr>
          <p:cNvPr id="15" name="文本框 14">
            <a:extLst>
              <a:ext uri="{FF2B5EF4-FFF2-40B4-BE49-F238E27FC236}">
                <a16:creationId xmlns:a16="http://schemas.microsoft.com/office/drawing/2014/main" id="{345F6B01-2C24-39E1-7CA9-F16EFD0451E2}"/>
              </a:ext>
            </a:extLst>
          </p:cNvPr>
          <p:cNvSpPr txBox="1"/>
          <p:nvPr/>
        </p:nvSpPr>
        <p:spPr>
          <a:xfrm>
            <a:off x="690137" y="4357223"/>
            <a:ext cx="10939437" cy="923330"/>
          </a:xfrm>
          <a:prstGeom prst="rect">
            <a:avLst/>
          </a:prstGeom>
          <a:noFill/>
        </p:spPr>
        <p:txBody>
          <a:bodyPr wrap="square" rtlCol="0">
            <a:spAutoFit/>
          </a:bodyPr>
          <a:lstStyle/>
          <a:p>
            <a:r>
              <a:rPr kumimoji="1" lang="zh-CN" altLang="en-US" dirty="0">
                <a:latin typeface="FangSong" panose="02010609060101010101" pitchFamily="49" charset="-122"/>
                <a:ea typeface="FangSong" panose="02010609060101010101" pitchFamily="49" charset="-122"/>
              </a:rPr>
              <a:t>开发环境：</a:t>
            </a:r>
            <a:endParaRPr kumimoji="1" lang="en-US" altLang="zh-CN" dirty="0">
              <a:latin typeface="FangSong" panose="02010609060101010101" pitchFamily="49" charset="-122"/>
              <a:ea typeface="FangSong" panose="02010609060101010101" pitchFamily="49" charset="-122"/>
            </a:endParaRPr>
          </a:p>
          <a:p>
            <a:r>
              <a:rPr lang="zh-CN" altLang="zh-CN" dirty="0">
                <a:latin typeface="FangSong" panose="02010609060101010101" pitchFamily="49" charset="-122"/>
                <a:ea typeface="FangSong" panose="02010609060101010101" pitchFamily="49" charset="-122"/>
              </a:rPr>
              <a:t>本系统采用</a:t>
            </a:r>
            <a:r>
              <a:rPr lang="en-US" altLang="zh-CN" dirty="0">
                <a:latin typeface="Times New Roman" panose="02020603050405020304" pitchFamily="18" charset="0"/>
                <a:ea typeface="FangSong" panose="02010609060101010101" pitchFamily="49" charset="-122"/>
                <a:cs typeface="Times New Roman" panose="02020603050405020304" pitchFamily="18" charset="0"/>
              </a:rPr>
              <a:t>MySQL</a:t>
            </a:r>
            <a:r>
              <a:rPr lang="zh-CN" altLang="zh-CN" dirty="0">
                <a:latin typeface="FangSong" panose="02010609060101010101" pitchFamily="49" charset="-122"/>
                <a:ea typeface="FangSong" panose="02010609060101010101" pitchFamily="49" charset="-122"/>
              </a:rPr>
              <a:t>作为数据库管理系统。系统主要通过</a:t>
            </a:r>
            <a:r>
              <a:rPr lang="en-US" altLang="zh-CN" dirty="0">
                <a:latin typeface="FangSong" panose="02010609060101010101" pitchFamily="49" charset="-122"/>
                <a:ea typeface="FangSong" panose="02010609060101010101" pitchFamily="49" charset="-122"/>
              </a:rPr>
              <a:t>SQL</a:t>
            </a:r>
            <a:r>
              <a:rPr lang="zh-CN" altLang="zh-CN" dirty="0">
                <a:latin typeface="FangSong" panose="02010609060101010101" pitchFamily="49" charset="-122"/>
                <a:ea typeface="FangSong" panose="02010609060101010101" pitchFamily="49" charset="-122"/>
              </a:rPr>
              <a:t>完成数据库创建、基本表创建、测试数据插入、索引创建、视图创建、存储过程和触发器设计。 </a:t>
            </a:r>
            <a:endParaRPr kumimoji="1" lang="zh-CN" altLang="en-US" dirty="0">
              <a:latin typeface="FangSong" panose="02010609060101010101" pitchFamily="49" charset="-122"/>
              <a:ea typeface="FangSong"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5088"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需求分析：用户角色与核心业务流程</a:t>
            </a:r>
            <a:endParaRPr lang="en-US" sz="2600" dirty="0"/>
          </a:p>
        </p:txBody>
      </p:sp>
      <p:sp>
        <p:nvSpPr>
          <p:cNvPr id="5" name="Text 3"/>
          <p:cNvSpPr/>
          <p:nvPr/>
        </p:nvSpPr>
        <p:spPr>
          <a:xfrm>
            <a:off x="530352" y="749808"/>
            <a:ext cx="8961120" cy="246888"/>
          </a:xfrm>
          <a:prstGeom prst="rect">
            <a:avLst/>
          </a:prstGeom>
          <a:noFill/>
          <a:ln/>
        </p:spPr>
        <p:txBody>
          <a:bodyPr wrap="square" lIns="0" tIns="0" rIns="0" bIns="0" rtlCol="0" anchor="ctr"/>
          <a:lstStyle/>
          <a:p>
            <a:pPr marL="0" indent="0">
              <a:buNone/>
            </a:pPr>
            <a:r>
              <a:rPr lang="en-US" sz="1050" dirty="0">
                <a:solidFill>
                  <a:srgbClr val="64748B"/>
                </a:solidFill>
                <a:latin typeface="Microsoft YaHei" pitchFamily="34" charset="0"/>
                <a:ea typeface="Microsoft YaHei" pitchFamily="34" charset="-122"/>
                <a:cs typeface="Microsoft YaHei" pitchFamily="34" charset="-120"/>
              </a:rPr>
              <a:t>三类用户 + 四条流程，形成“查询—借出—归还—维修—统计”的主线</a:t>
            </a:r>
            <a:endParaRPr lang="en-US" sz="105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5</a:t>
            </a:r>
            <a:endParaRPr lang="en-US" sz="800" dirty="0"/>
          </a:p>
        </p:txBody>
      </p:sp>
      <p:sp>
        <p:nvSpPr>
          <p:cNvPr id="7" name="Text 5"/>
          <p:cNvSpPr/>
          <p:nvPr/>
        </p:nvSpPr>
        <p:spPr>
          <a:xfrm>
            <a:off x="685800" y="1143000"/>
            <a:ext cx="2926080" cy="1056503"/>
          </a:xfrm>
          <a:prstGeom prst="rect">
            <a:avLst/>
          </a:prstGeom>
          <a:solidFill>
            <a:srgbClr val="E0F2FE"/>
          </a:solidFill>
          <a:ln>
            <a:solidFill>
              <a:srgbClr val="075985">
                <a:alpha val="90000"/>
              </a:srgbClr>
            </a:solidFill>
          </a:ln>
        </p:spPr>
        <p:txBody>
          <a:bodyPr wrap="square" rtlCol="0" anchor="t">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学生</a:t>
            </a:r>
            <a:endParaRPr lang="en-US" sz="1500" dirty="0"/>
          </a:p>
          <a:p>
            <a:pPr marL="0" indent="0">
              <a:buNone/>
            </a:pPr>
            <a:r>
              <a:rPr lang="en-US" sz="1100" dirty="0">
                <a:solidFill>
                  <a:srgbClr val="334155"/>
                </a:solidFill>
                <a:latin typeface="Microsoft YaHei" pitchFamily="34" charset="0"/>
                <a:ea typeface="Microsoft YaHei" pitchFamily="34" charset="-122"/>
                <a:cs typeface="Microsoft YaHei" pitchFamily="34" charset="-120"/>
              </a:rPr>
              <a:t>查询可借物资</a:t>
            </a:r>
            <a:endParaRPr lang="en-US" sz="1500" dirty="0"/>
          </a:p>
          <a:p>
            <a:pPr marL="0" indent="0">
              <a:buNone/>
            </a:pPr>
            <a:r>
              <a:rPr lang="en-US" sz="1100" dirty="0">
                <a:solidFill>
                  <a:srgbClr val="334155"/>
                </a:solidFill>
                <a:latin typeface="Microsoft YaHei" pitchFamily="34" charset="0"/>
                <a:ea typeface="Microsoft YaHei" pitchFamily="34" charset="-122"/>
                <a:cs typeface="Microsoft YaHei" pitchFamily="34" charset="-120"/>
              </a:rPr>
              <a:t>发起借用、完成归还</a:t>
            </a:r>
            <a:endParaRPr lang="en-US" sz="1500" dirty="0"/>
          </a:p>
          <a:p>
            <a:pPr marL="0" indent="0">
              <a:buNone/>
            </a:pPr>
            <a:r>
              <a:rPr lang="en-US" sz="1100" dirty="0">
                <a:solidFill>
                  <a:srgbClr val="334155"/>
                </a:solidFill>
                <a:latin typeface="Microsoft YaHei" pitchFamily="34" charset="0"/>
                <a:ea typeface="Microsoft YaHei" pitchFamily="34" charset="-122"/>
                <a:cs typeface="Microsoft YaHei" pitchFamily="34" charset="-120"/>
              </a:rPr>
              <a:t>查看个人借还与信用记录</a:t>
            </a:r>
            <a:endParaRPr lang="en-US" sz="1500" dirty="0"/>
          </a:p>
        </p:txBody>
      </p:sp>
      <p:sp>
        <p:nvSpPr>
          <p:cNvPr id="8" name="Text 6"/>
          <p:cNvSpPr/>
          <p:nvPr/>
        </p:nvSpPr>
        <p:spPr>
          <a:xfrm>
            <a:off x="4617720" y="1143000"/>
            <a:ext cx="2926080" cy="1056503"/>
          </a:xfrm>
          <a:prstGeom prst="rect">
            <a:avLst/>
          </a:prstGeom>
          <a:solidFill>
            <a:srgbClr val="FFF7ED"/>
          </a:solidFill>
          <a:ln>
            <a:solidFill>
              <a:srgbClr val="D97706">
                <a:alpha val="90000"/>
              </a:srgbClr>
            </a:solidFill>
          </a:ln>
        </p:spPr>
        <p:txBody>
          <a:bodyPr wrap="square" rtlCol="0" anchor="t">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管理员</a:t>
            </a:r>
            <a:endParaRPr lang="en-US" sz="1500" dirty="0"/>
          </a:p>
          <a:p>
            <a:pPr marL="0" indent="0">
              <a:buNone/>
            </a:pPr>
            <a:r>
              <a:rPr lang="en-US" sz="1100" dirty="0">
                <a:solidFill>
                  <a:srgbClr val="334155"/>
                </a:solidFill>
                <a:latin typeface="Microsoft YaHei" pitchFamily="34" charset="0"/>
                <a:ea typeface="Microsoft YaHei" pitchFamily="34" charset="-122"/>
                <a:cs typeface="Microsoft YaHei" pitchFamily="34" charset="-120"/>
              </a:rPr>
              <a:t>维护服务点、物资、库存</a:t>
            </a:r>
            <a:endParaRPr lang="en-US" sz="1500" dirty="0"/>
          </a:p>
          <a:p>
            <a:pPr marL="0" indent="0">
              <a:buNone/>
            </a:pPr>
            <a:r>
              <a:rPr lang="en-US" sz="1100" dirty="0">
                <a:solidFill>
                  <a:srgbClr val="334155"/>
                </a:solidFill>
                <a:latin typeface="Microsoft YaHei" pitchFamily="34" charset="0"/>
                <a:ea typeface="Microsoft YaHei" pitchFamily="34" charset="-122"/>
                <a:cs typeface="Microsoft YaHei" pitchFamily="34" charset="-120"/>
              </a:rPr>
              <a:t>确认借还、登记损坏</a:t>
            </a:r>
            <a:endParaRPr lang="en-US" sz="1500" dirty="0"/>
          </a:p>
          <a:p>
            <a:pPr marL="0" indent="0">
              <a:buNone/>
            </a:pPr>
            <a:r>
              <a:rPr lang="en-US" sz="1100" dirty="0">
                <a:solidFill>
                  <a:srgbClr val="334155"/>
                </a:solidFill>
                <a:latin typeface="Microsoft YaHei" pitchFamily="34" charset="0"/>
                <a:ea typeface="Microsoft YaHei" pitchFamily="34" charset="-122"/>
                <a:cs typeface="Microsoft YaHei" pitchFamily="34" charset="-120"/>
              </a:rPr>
              <a:t>查看统计与日志</a:t>
            </a:r>
            <a:endParaRPr lang="en-US" sz="1500" dirty="0"/>
          </a:p>
        </p:txBody>
      </p:sp>
      <p:sp>
        <p:nvSpPr>
          <p:cNvPr id="9" name="Text 7"/>
          <p:cNvSpPr/>
          <p:nvPr/>
        </p:nvSpPr>
        <p:spPr>
          <a:xfrm>
            <a:off x="8549640" y="1143000"/>
            <a:ext cx="2926080" cy="1056503"/>
          </a:xfrm>
          <a:prstGeom prst="rect">
            <a:avLst/>
          </a:prstGeom>
          <a:solidFill>
            <a:srgbClr val="F0FDFA"/>
          </a:solidFill>
          <a:ln>
            <a:solidFill>
              <a:srgbClr val="0F766E">
                <a:alpha val="90000"/>
              </a:srgbClr>
            </a:solidFill>
          </a:ln>
        </p:spPr>
        <p:txBody>
          <a:bodyPr wrap="square" rtlCol="0" anchor="t">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维修工</a:t>
            </a:r>
            <a:endParaRPr lang="en-US" sz="1500" dirty="0"/>
          </a:p>
          <a:p>
            <a:pPr marL="0" indent="0">
              <a:buNone/>
            </a:pPr>
            <a:r>
              <a:rPr lang="en-US" sz="1100" dirty="0">
                <a:solidFill>
                  <a:srgbClr val="334155"/>
                </a:solidFill>
                <a:latin typeface="Microsoft YaHei" pitchFamily="34" charset="0"/>
                <a:ea typeface="Microsoft YaHei" pitchFamily="34" charset="-122"/>
                <a:cs typeface="Microsoft YaHei" pitchFamily="34" charset="-120"/>
              </a:rPr>
              <a:t>查看维修记录</a:t>
            </a:r>
            <a:endParaRPr lang="en-US" sz="1500" dirty="0"/>
          </a:p>
          <a:p>
            <a:pPr marL="0" indent="0">
              <a:buNone/>
            </a:pPr>
            <a:r>
              <a:rPr lang="en-US" sz="1100" dirty="0">
                <a:solidFill>
                  <a:srgbClr val="334155"/>
                </a:solidFill>
                <a:latin typeface="Microsoft YaHei" pitchFamily="34" charset="0"/>
                <a:ea typeface="Microsoft YaHei" pitchFamily="34" charset="-122"/>
                <a:cs typeface="Microsoft YaHei" pitchFamily="34" charset="-120"/>
              </a:rPr>
              <a:t>更新维修状态</a:t>
            </a:r>
            <a:endParaRPr lang="en-US" sz="1500" dirty="0"/>
          </a:p>
          <a:p>
            <a:pPr marL="0" indent="0">
              <a:buNone/>
            </a:pPr>
            <a:r>
              <a:rPr lang="en-US" sz="1100" dirty="0">
                <a:solidFill>
                  <a:srgbClr val="334155"/>
                </a:solidFill>
                <a:latin typeface="Microsoft YaHei" pitchFamily="34" charset="0"/>
                <a:ea typeface="Microsoft YaHei" pitchFamily="34" charset="-122"/>
                <a:cs typeface="Microsoft YaHei" pitchFamily="34" charset="-120"/>
              </a:rPr>
              <a:t>恢复可用或标记报废</a:t>
            </a:r>
            <a:endParaRPr lang="en-US" sz="1500" dirty="0"/>
          </a:p>
        </p:txBody>
      </p:sp>
      <p:sp>
        <p:nvSpPr>
          <p:cNvPr id="10" name="Text 8"/>
          <p:cNvSpPr/>
          <p:nvPr/>
        </p:nvSpPr>
        <p:spPr>
          <a:xfrm>
            <a:off x="530352" y="2480124"/>
            <a:ext cx="1508760" cy="502920"/>
          </a:xfrm>
          <a:prstGeom prst="rect">
            <a:avLst/>
          </a:prstGeom>
          <a:solidFill>
            <a:srgbClr val="FFFFFF"/>
          </a:solidFill>
          <a:ln>
            <a:solidFill>
              <a:srgbClr val="CBD5E1"/>
            </a:solidFill>
          </a:ln>
        </p:spPr>
        <p:txBody>
          <a:bodyPr wrap="square" lIns="381" tIns="381" rIns="381" bIns="381" rtlCol="0" anchor="ctr"/>
          <a:lstStyle/>
          <a:p>
            <a:pPr marL="0" indent="0" algn="ctr">
              <a:buNone/>
            </a:pPr>
            <a:r>
              <a:rPr lang="en-US" sz="1200" b="1" dirty="0">
                <a:solidFill>
                  <a:srgbClr val="0B1F33"/>
                </a:solidFill>
                <a:latin typeface="Microsoft YaHei" pitchFamily="34" charset="0"/>
                <a:ea typeface="Microsoft YaHei" pitchFamily="34" charset="-122"/>
                <a:cs typeface="Microsoft YaHei" pitchFamily="34" charset="-120"/>
              </a:rPr>
              <a:t>查询库存</a:t>
            </a:r>
            <a:endParaRPr lang="en-US" sz="1200" dirty="0"/>
          </a:p>
        </p:txBody>
      </p:sp>
      <p:sp>
        <p:nvSpPr>
          <p:cNvPr id="11" name="Text 9"/>
          <p:cNvSpPr/>
          <p:nvPr/>
        </p:nvSpPr>
        <p:spPr>
          <a:xfrm>
            <a:off x="2404872" y="2480124"/>
            <a:ext cx="1508760" cy="502920"/>
          </a:xfrm>
          <a:prstGeom prst="rect">
            <a:avLst/>
          </a:prstGeom>
          <a:solidFill>
            <a:srgbClr val="F8FAFC"/>
          </a:solidFill>
          <a:ln>
            <a:solidFill>
              <a:srgbClr val="CBD5E1"/>
            </a:solidFill>
          </a:ln>
        </p:spPr>
        <p:txBody>
          <a:bodyPr wrap="square" lIns="381" tIns="381" rIns="381" bIns="381" rtlCol="0" anchor="ctr"/>
          <a:lstStyle/>
          <a:p>
            <a:pPr marL="0" indent="0" algn="ctr">
              <a:buNone/>
            </a:pPr>
            <a:r>
              <a:rPr lang="en-US" sz="1200" b="1" dirty="0">
                <a:solidFill>
                  <a:srgbClr val="0B1F33"/>
                </a:solidFill>
                <a:latin typeface="Microsoft YaHei" pitchFamily="34" charset="0"/>
                <a:ea typeface="Microsoft YaHei" pitchFamily="34" charset="-122"/>
                <a:cs typeface="Microsoft YaHei" pitchFamily="34" charset="-120"/>
              </a:rPr>
              <a:t>借出物资</a:t>
            </a:r>
            <a:endParaRPr lang="en-US" sz="1200" dirty="0"/>
          </a:p>
        </p:txBody>
      </p:sp>
      <p:sp>
        <p:nvSpPr>
          <p:cNvPr id="12" name="Text 10"/>
          <p:cNvSpPr/>
          <p:nvPr/>
        </p:nvSpPr>
        <p:spPr>
          <a:xfrm>
            <a:off x="4279392" y="2480124"/>
            <a:ext cx="1508760" cy="502920"/>
          </a:xfrm>
          <a:prstGeom prst="rect">
            <a:avLst/>
          </a:prstGeom>
          <a:solidFill>
            <a:srgbClr val="FFFFFF"/>
          </a:solidFill>
          <a:ln>
            <a:solidFill>
              <a:srgbClr val="CBD5E1"/>
            </a:solidFill>
          </a:ln>
        </p:spPr>
        <p:txBody>
          <a:bodyPr wrap="square" lIns="381" tIns="381" rIns="381" bIns="381" rtlCol="0" anchor="ctr"/>
          <a:lstStyle/>
          <a:p>
            <a:pPr marL="0" indent="0" algn="ctr">
              <a:buNone/>
            </a:pPr>
            <a:r>
              <a:rPr lang="en-US" sz="1200" b="1" dirty="0">
                <a:solidFill>
                  <a:srgbClr val="0B1F33"/>
                </a:solidFill>
                <a:latin typeface="Microsoft YaHei" pitchFamily="34" charset="0"/>
                <a:ea typeface="Microsoft YaHei" pitchFamily="34" charset="-122"/>
                <a:cs typeface="Microsoft YaHei" pitchFamily="34" charset="-120"/>
              </a:rPr>
              <a:t>归还确认</a:t>
            </a:r>
            <a:endParaRPr lang="en-US" sz="1200" dirty="0"/>
          </a:p>
        </p:txBody>
      </p:sp>
      <p:sp>
        <p:nvSpPr>
          <p:cNvPr id="13" name="Text 11"/>
          <p:cNvSpPr/>
          <p:nvPr/>
        </p:nvSpPr>
        <p:spPr>
          <a:xfrm>
            <a:off x="6153912" y="2480124"/>
            <a:ext cx="1508760" cy="502920"/>
          </a:xfrm>
          <a:prstGeom prst="rect">
            <a:avLst/>
          </a:prstGeom>
          <a:solidFill>
            <a:srgbClr val="F8FAFC"/>
          </a:solidFill>
          <a:ln>
            <a:solidFill>
              <a:srgbClr val="CBD5E1"/>
            </a:solidFill>
          </a:ln>
        </p:spPr>
        <p:txBody>
          <a:bodyPr wrap="square" lIns="381" tIns="381" rIns="381" bIns="381" rtlCol="0" anchor="ctr"/>
          <a:lstStyle/>
          <a:p>
            <a:pPr marL="0" indent="0" algn="ctr">
              <a:buNone/>
            </a:pPr>
            <a:r>
              <a:rPr lang="en-US" sz="1200" b="1" dirty="0">
                <a:solidFill>
                  <a:srgbClr val="0B1F33"/>
                </a:solidFill>
                <a:latin typeface="Microsoft YaHei" pitchFamily="34" charset="0"/>
                <a:ea typeface="Microsoft YaHei" pitchFamily="34" charset="-122"/>
                <a:cs typeface="Microsoft YaHei" pitchFamily="34" charset="-120"/>
              </a:rPr>
              <a:t>逾期扣分</a:t>
            </a:r>
            <a:endParaRPr lang="en-US" sz="1200" dirty="0"/>
          </a:p>
        </p:txBody>
      </p:sp>
      <p:sp>
        <p:nvSpPr>
          <p:cNvPr id="14" name="Text 12"/>
          <p:cNvSpPr/>
          <p:nvPr/>
        </p:nvSpPr>
        <p:spPr>
          <a:xfrm>
            <a:off x="8028432" y="2480124"/>
            <a:ext cx="1508760" cy="502920"/>
          </a:xfrm>
          <a:prstGeom prst="rect">
            <a:avLst/>
          </a:prstGeom>
          <a:solidFill>
            <a:srgbClr val="FFFFFF"/>
          </a:solidFill>
          <a:ln>
            <a:solidFill>
              <a:srgbClr val="CBD5E1"/>
            </a:solidFill>
          </a:ln>
        </p:spPr>
        <p:txBody>
          <a:bodyPr wrap="square" lIns="381" tIns="381" rIns="381" bIns="381" rtlCol="0" anchor="ctr"/>
          <a:lstStyle/>
          <a:p>
            <a:pPr marL="0" indent="0" algn="ctr">
              <a:buNone/>
            </a:pPr>
            <a:r>
              <a:rPr lang="en-US" sz="1200" b="1" dirty="0">
                <a:solidFill>
                  <a:srgbClr val="0B1F33"/>
                </a:solidFill>
                <a:latin typeface="Microsoft YaHei" pitchFamily="34" charset="0"/>
                <a:ea typeface="Microsoft YaHei" pitchFamily="34" charset="-122"/>
                <a:cs typeface="Microsoft YaHei" pitchFamily="34" charset="-120"/>
              </a:rPr>
              <a:t>维修处理</a:t>
            </a:r>
            <a:endParaRPr lang="en-US" sz="1200" dirty="0"/>
          </a:p>
        </p:txBody>
      </p:sp>
      <p:sp>
        <p:nvSpPr>
          <p:cNvPr id="15" name="Text 13"/>
          <p:cNvSpPr/>
          <p:nvPr/>
        </p:nvSpPr>
        <p:spPr>
          <a:xfrm>
            <a:off x="9902952" y="2480124"/>
            <a:ext cx="1508760" cy="502920"/>
          </a:xfrm>
          <a:prstGeom prst="rect">
            <a:avLst/>
          </a:prstGeom>
          <a:solidFill>
            <a:srgbClr val="F8FAFC"/>
          </a:solidFill>
          <a:ln>
            <a:solidFill>
              <a:srgbClr val="CBD5E1"/>
            </a:solidFill>
          </a:ln>
        </p:spPr>
        <p:txBody>
          <a:bodyPr wrap="square" lIns="381" tIns="381" rIns="381" bIns="381" rtlCol="0" anchor="ctr"/>
          <a:lstStyle/>
          <a:p>
            <a:pPr marL="0" indent="0" algn="ctr">
              <a:buNone/>
            </a:pPr>
            <a:r>
              <a:rPr lang="en-US" sz="1200" b="1" dirty="0">
                <a:solidFill>
                  <a:srgbClr val="0B1F33"/>
                </a:solidFill>
                <a:latin typeface="Microsoft YaHei" pitchFamily="34" charset="0"/>
                <a:ea typeface="Microsoft YaHei" pitchFamily="34" charset="-122"/>
                <a:cs typeface="Microsoft YaHei" pitchFamily="34" charset="-120"/>
              </a:rPr>
              <a:t>统计查询</a:t>
            </a:r>
            <a:endParaRPr lang="en-US" sz="1200" dirty="0"/>
          </a:p>
        </p:txBody>
      </p:sp>
      <p:sp>
        <p:nvSpPr>
          <p:cNvPr id="16" name="Text 14"/>
          <p:cNvSpPr/>
          <p:nvPr/>
        </p:nvSpPr>
        <p:spPr>
          <a:xfrm>
            <a:off x="1889760" y="3172968"/>
            <a:ext cx="8412480" cy="320040"/>
          </a:xfrm>
          <a:prstGeom prst="rect">
            <a:avLst/>
          </a:prstGeom>
          <a:noFill/>
          <a:ln/>
        </p:spPr>
        <p:txBody>
          <a:bodyPr wrap="square" lIns="0" tIns="0" rIns="0" bIns="0" rtlCol="0" anchor="ctr"/>
          <a:lstStyle/>
          <a:p>
            <a:pPr marL="0" indent="0" algn="ctr">
              <a:buNone/>
            </a:pPr>
            <a:r>
              <a:rPr lang="en-US" sz="1250" dirty="0">
                <a:solidFill>
                  <a:srgbClr val="64748B"/>
                </a:solidFill>
                <a:latin typeface="Microsoft YaHei" pitchFamily="34" charset="0"/>
                <a:ea typeface="Microsoft YaHei" pitchFamily="34" charset="-122"/>
                <a:cs typeface="Microsoft YaHei" pitchFamily="34" charset="-120"/>
              </a:rPr>
              <a:t>从查询到借还，再到信用扣分与统计分析，形成业务闭环</a:t>
            </a:r>
            <a:endParaRPr lang="en-US" sz="1250" dirty="0"/>
          </a:p>
        </p:txBody>
      </p:sp>
      <p:pic>
        <p:nvPicPr>
          <p:cNvPr id="18" name="图片 17">
            <a:extLst>
              <a:ext uri="{FF2B5EF4-FFF2-40B4-BE49-F238E27FC236}">
                <a16:creationId xmlns:a16="http://schemas.microsoft.com/office/drawing/2014/main" id="{869E4716-338C-5D7F-DAB8-CB2AAAECB3F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0759"/>
          <a:stretch>
            <a:fillRect/>
          </a:stretch>
        </p:blipFill>
        <p:spPr bwMode="auto">
          <a:xfrm>
            <a:off x="502920" y="3493008"/>
            <a:ext cx="5270500" cy="1313180"/>
          </a:xfrm>
          <a:prstGeom prst="rect">
            <a:avLst/>
          </a:prstGeom>
          <a:ln>
            <a:noFill/>
          </a:ln>
          <a:extLst>
            <a:ext uri="{53640926-AAD7-44D8-BBD7-CCE9431645EC}">
              <a14:shadowObscured xmlns:a14="http://schemas.microsoft.com/office/drawing/2010/main"/>
            </a:ext>
          </a:extLst>
        </p:spPr>
      </p:pic>
      <p:pic>
        <p:nvPicPr>
          <p:cNvPr id="19" name="图片 18">
            <a:extLst>
              <a:ext uri="{FF2B5EF4-FFF2-40B4-BE49-F238E27FC236}">
                <a16:creationId xmlns:a16="http://schemas.microsoft.com/office/drawing/2014/main" id="{E02324BF-8C83-5D85-7D3E-758011DB5C7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8756"/>
          <a:stretch>
            <a:fillRect/>
          </a:stretch>
        </p:blipFill>
        <p:spPr bwMode="auto">
          <a:xfrm>
            <a:off x="5734126" y="3529520"/>
            <a:ext cx="5270500" cy="1240155"/>
          </a:xfrm>
          <a:prstGeom prst="rect">
            <a:avLst/>
          </a:prstGeom>
          <a:ln>
            <a:noFill/>
          </a:ln>
          <a:extLst>
            <a:ext uri="{53640926-AAD7-44D8-BBD7-CCE9431645EC}">
              <a14:shadowObscured xmlns:a14="http://schemas.microsoft.com/office/drawing/2010/main"/>
            </a:ext>
          </a:extLst>
        </p:spPr>
      </p:pic>
      <p:pic>
        <p:nvPicPr>
          <p:cNvPr id="20" name="图片 19">
            <a:extLst>
              <a:ext uri="{FF2B5EF4-FFF2-40B4-BE49-F238E27FC236}">
                <a16:creationId xmlns:a16="http://schemas.microsoft.com/office/drawing/2014/main" id="{A614E824-9AAB-CA2B-AA58-B5A9D627BE2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17000"/>
          <a:stretch>
            <a:fillRect/>
          </a:stretch>
        </p:blipFill>
        <p:spPr bwMode="auto">
          <a:xfrm>
            <a:off x="1526011" y="4695815"/>
            <a:ext cx="4121752" cy="1832938"/>
          </a:xfrm>
          <a:prstGeom prst="rect">
            <a:avLst/>
          </a:prstGeom>
          <a:ln>
            <a:noFill/>
          </a:ln>
          <a:extLst>
            <a:ext uri="{53640926-AAD7-44D8-BBD7-CCE9431645EC}">
              <a14:shadowObscured xmlns:a14="http://schemas.microsoft.com/office/drawing/2010/main"/>
            </a:ext>
          </a:extLst>
        </p:spPr>
      </p:pic>
      <p:pic>
        <p:nvPicPr>
          <p:cNvPr id="21" name="图片 20">
            <a:extLst>
              <a:ext uri="{FF2B5EF4-FFF2-40B4-BE49-F238E27FC236}">
                <a16:creationId xmlns:a16="http://schemas.microsoft.com/office/drawing/2014/main" id="{5AC78C2B-96D1-F441-CFB9-C718B0C54CB3}"/>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19793"/>
          <a:stretch>
            <a:fillRect/>
          </a:stretch>
        </p:blipFill>
        <p:spPr bwMode="auto">
          <a:xfrm>
            <a:off x="5561399" y="4657906"/>
            <a:ext cx="4966558" cy="1851988"/>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需求抽象：人、点、物、记录</a:t>
            </a:r>
            <a:endParaRPr lang="en-US" sz="2600" dirty="0"/>
          </a:p>
        </p:txBody>
      </p:sp>
      <p:sp>
        <p:nvSpPr>
          <p:cNvPr id="5" name="Text 3"/>
          <p:cNvSpPr/>
          <p:nvPr/>
        </p:nvSpPr>
        <p:spPr>
          <a:xfrm>
            <a:off x="514807" y="858300"/>
            <a:ext cx="8961120" cy="246888"/>
          </a:xfrm>
          <a:prstGeom prst="rect">
            <a:avLst/>
          </a:prstGeom>
          <a:noFill/>
          <a:ln/>
        </p:spPr>
        <p:txBody>
          <a:bodyPr wrap="square" lIns="0" tIns="0" rIns="0" bIns="0" rtlCol="0" anchor="ctr"/>
          <a:lstStyle/>
          <a:p>
            <a:pPr marL="0" indent="0">
              <a:buNone/>
            </a:pPr>
            <a:r>
              <a:rPr lang="en-US" sz="1050" dirty="0">
                <a:solidFill>
                  <a:srgbClr val="64748B"/>
                </a:solidFill>
                <a:latin typeface="Microsoft YaHei" pitchFamily="34" charset="0"/>
                <a:ea typeface="Microsoft YaHei" pitchFamily="34" charset="-122"/>
                <a:cs typeface="Microsoft YaHei" pitchFamily="34" charset="-120"/>
              </a:rPr>
              <a:t>从业务对象出发确定数据库需要保存的数据</a:t>
            </a:r>
            <a:endParaRPr lang="en-US" sz="105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6</a:t>
            </a:r>
            <a:endParaRPr lang="en-US" sz="800" dirty="0"/>
          </a:p>
        </p:txBody>
      </p:sp>
      <p:sp>
        <p:nvSpPr>
          <p:cNvPr id="7" name="Text 5"/>
          <p:cNvSpPr/>
          <p:nvPr/>
        </p:nvSpPr>
        <p:spPr>
          <a:xfrm>
            <a:off x="868680" y="1325880"/>
            <a:ext cx="2423160" cy="822960"/>
          </a:xfrm>
          <a:prstGeom prst="rect">
            <a:avLst/>
          </a:prstGeom>
          <a:solidFill>
            <a:srgbClr val="E0F2FE"/>
          </a:solidFill>
          <a:ln>
            <a:solidFill>
              <a:srgbClr val="075985">
                <a:alpha val="90000"/>
              </a:srgbClr>
            </a:solidFill>
          </a:ln>
        </p:spPr>
        <p:txBody>
          <a:bodyPr wrap="square" rtlCol="0" anchor="t">
            <a:normAutofit/>
          </a:bodyPr>
          <a:lstStyle/>
          <a:p>
            <a:pPr marL="0" indent="0">
              <a:buNone/>
            </a:pPr>
            <a:r>
              <a:rPr lang="en-US" sz="2000" b="1" dirty="0">
                <a:solidFill>
                  <a:srgbClr val="0B1F33"/>
                </a:solidFill>
                <a:latin typeface="Microsoft YaHei" pitchFamily="34" charset="0"/>
                <a:ea typeface="Microsoft YaHei" pitchFamily="34" charset="-122"/>
                <a:cs typeface="Microsoft YaHei" pitchFamily="34" charset="-120"/>
              </a:rPr>
              <a:t>人</a:t>
            </a:r>
            <a:endParaRPr lang="en-US" sz="2000" dirty="0"/>
          </a:p>
          <a:p>
            <a:pPr marL="0" indent="0">
              <a:buNone/>
            </a:pPr>
            <a:r>
              <a:rPr lang="en-US" sz="1250" dirty="0">
                <a:solidFill>
                  <a:srgbClr val="334155"/>
                </a:solidFill>
                <a:latin typeface="Microsoft YaHei" pitchFamily="34" charset="0"/>
                <a:ea typeface="Microsoft YaHei" pitchFamily="34" charset="-122"/>
                <a:cs typeface="Microsoft YaHei" pitchFamily="34" charset="-120"/>
              </a:rPr>
              <a:t>学生、工作人员、用户账号</a:t>
            </a:r>
            <a:endParaRPr lang="en-US" sz="2000" dirty="0"/>
          </a:p>
        </p:txBody>
      </p:sp>
      <p:sp>
        <p:nvSpPr>
          <p:cNvPr id="8" name="Text 6"/>
          <p:cNvSpPr/>
          <p:nvPr/>
        </p:nvSpPr>
        <p:spPr>
          <a:xfrm>
            <a:off x="3657600" y="1325880"/>
            <a:ext cx="2582562" cy="822960"/>
          </a:xfrm>
          <a:prstGeom prst="rect">
            <a:avLst/>
          </a:prstGeom>
          <a:solidFill>
            <a:srgbClr val="F0FDFA"/>
          </a:solidFill>
          <a:ln>
            <a:solidFill>
              <a:srgbClr val="0F766E">
                <a:alpha val="90000"/>
              </a:srgbClr>
            </a:solidFill>
          </a:ln>
        </p:spPr>
        <p:txBody>
          <a:bodyPr wrap="square" rtlCol="0" anchor="t">
            <a:normAutofit/>
          </a:bodyPr>
          <a:lstStyle/>
          <a:p>
            <a:pPr marL="0" indent="0">
              <a:buNone/>
            </a:pPr>
            <a:r>
              <a:rPr lang="en-US" sz="2000" b="1" dirty="0">
                <a:solidFill>
                  <a:srgbClr val="0B1F33"/>
                </a:solidFill>
                <a:latin typeface="Microsoft YaHei" pitchFamily="34" charset="0"/>
                <a:ea typeface="Microsoft YaHei" pitchFamily="34" charset="-122"/>
                <a:cs typeface="Microsoft YaHei" pitchFamily="34" charset="-120"/>
              </a:rPr>
              <a:t>点</a:t>
            </a:r>
            <a:endParaRPr lang="en-US" sz="2000" dirty="0"/>
          </a:p>
          <a:p>
            <a:pPr marL="0" indent="0">
              <a:buNone/>
            </a:pPr>
            <a:r>
              <a:rPr lang="en-US" sz="1250" dirty="0">
                <a:solidFill>
                  <a:srgbClr val="334155"/>
                </a:solidFill>
                <a:latin typeface="Microsoft YaHei" pitchFamily="34" charset="0"/>
                <a:ea typeface="Microsoft YaHei" pitchFamily="34" charset="-122"/>
                <a:cs typeface="Microsoft YaHei" pitchFamily="34" charset="-120"/>
              </a:rPr>
              <a:t>校内服务点、所在校区、具体位置</a:t>
            </a:r>
            <a:endParaRPr lang="en-US" sz="2000" dirty="0"/>
          </a:p>
        </p:txBody>
      </p:sp>
      <p:sp>
        <p:nvSpPr>
          <p:cNvPr id="9" name="Text 7"/>
          <p:cNvSpPr/>
          <p:nvPr/>
        </p:nvSpPr>
        <p:spPr>
          <a:xfrm>
            <a:off x="6446520" y="1325880"/>
            <a:ext cx="2423160" cy="822960"/>
          </a:xfrm>
          <a:prstGeom prst="rect">
            <a:avLst/>
          </a:prstGeom>
          <a:solidFill>
            <a:srgbClr val="FFF7ED"/>
          </a:solidFill>
          <a:ln>
            <a:solidFill>
              <a:srgbClr val="D97706">
                <a:alpha val="90000"/>
              </a:srgbClr>
            </a:solidFill>
          </a:ln>
        </p:spPr>
        <p:txBody>
          <a:bodyPr wrap="square" rtlCol="0" anchor="t">
            <a:normAutofit/>
          </a:bodyPr>
          <a:lstStyle/>
          <a:p>
            <a:pPr marL="0" indent="0">
              <a:buNone/>
            </a:pPr>
            <a:r>
              <a:rPr lang="en-US" sz="2000" b="1" dirty="0">
                <a:solidFill>
                  <a:srgbClr val="0B1F33"/>
                </a:solidFill>
                <a:latin typeface="Microsoft YaHei" pitchFamily="34" charset="0"/>
                <a:ea typeface="Microsoft YaHei" pitchFamily="34" charset="-122"/>
                <a:cs typeface="Microsoft YaHei" pitchFamily="34" charset="-120"/>
              </a:rPr>
              <a:t>物</a:t>
            </a:r>
            <a:endParaRPr lang="en-US" sz="2000" dirty="0"/>
          </a:p>
          <a:p>
            <a:pPr marL="0" indent="0">
              <a:buNone/>
            </a:pPr>
            <a:r>
              <a:rPr lang="en-US" sz="1250" dirty="0">
                <a:solidFill>
                  <a:srgbClr val="334155"/>
                </a:solidFill>
                <a:latin typeface="Microsoft YaHei" pitchFamily="34" charset="0"/>
                <a:ea typeface="Microsoft YaHei" pitchFamily="34" charset="-122"/>
                <a:cs typeface="Microsoft YaHei" pitchFamily="34" charset="-120"/>
              </a:rPr>
              <a:t>物资类型、具体物资、物资状态</a:t>
            </a:r>
            <a:endParaRPr lang="en-US" sz="2000" dirty="0"/>
          </a:p>
        </p:txBody>
      </p:sp>
      <p:sp>
        <p:nvSpPr>
          <p:cNvPr id="10" name="Text 8"/>
          <p:cNvSpPr/>
          <p:nvPr/>
        </p:nvSpPr>
        <p:spPr>
          <a:xfrm>
            <a:off x="9235440" y="1325880"/>
            <a:ext cx="2423160" cy="822960"/>
          </a:xfrm>
          <a:prstGeom prst="rect">
            <a:avLst/>
          </a:prstGeom>
          <a:solidFill>
            <a:srgbClr val="F3E8FF"/>
          </a:solidFill>
          <a:ln>
            <a:solidFill>
              <a:srgbClr val="7C3AED">
                <a:alpha val="90000"/>
              </a:srgbClr>
            </a:solidFill>
          </a:ln>
        </p:spPr>
        <p:txBody>
          <a:bodyPr wrap="square" rtlCol="0" anchor="t">
            <a:normAutofit/>
          </a:bodyPr>
          <a:lstStyle/>
          <a:p>
            <a:pPr marL="0" indent="0">
              <a:buNone/>
            </a:pPr>
            <a:r>
              <a:rPr lang="en-US" sz="2000" b="1" dirty="0">
                <a:solidFill>
                  <a:srgbClr val="0B1F33"/>
                </a:solidFill>
                <a:latin typeface="Microsoft YaHei" pitchFamily="34" charset="0"/>
                <a:ea typeface="Microsoft YaHei" pitchFamily="34" charset="-122"/>
                <a:cs typeface="Microsoft YaHei" pitchFamily="34" charset="-120"/>
              </a:rPr>
              <a:t>记录</a:t>
            </a:r>
            <a:endParaRPr lang="en-US" sz="2000" dirty="0"/>
          </a:p>
          <a:p>
            <a:pPr marL="0" indent="0">
              <a:buNone/>
            </a:pPr>
            <a:r>
              <a:rPr lang="en-US" sz="1250" dirty="0">
                <a:solidFill>
                  <a:srgbClr val="334155"/>
                </a:solidFill>
                <a:latin typeface="Microsoft YaHei" pitchFamily="34" charset="0"/>
                <a:ea typeface="Microsoft YaHei" pitchFamily="34" charset="-122"/>
                <a:cs typeface="Microsoft YaHei" pitchFamily="34" charset="-120"/>
              </a:rPr>
              <a:t>借还记录、维修记录、信用记录、操作日志</a:t>
            </a:r>
            <a:endParaRPr lang="en-US" sz="2000" dirty="0"/>
          </a:p>
        </p:txBody>
      </p:sp>
      <p:sp>
        <p:nvSpPr>
          <p:cNvPr id="11" name="Text 9"/>
          <p:cNvSpPr/>
          <p:nvPr/>
        </p:nvSpPr>
        <p:spPr>
          <a:xfrm>
            <a:off x="868680" y="2304843"/>
            <a:ext cx="1280160" cy="320040"/>
          </a:xfrm>
          <a:prstGeom prst="rect">
            <a:avLst/>
          </a:prstGeom>
          <a:noFill/>
          <a:ln/>
        </p:spPr>
        <p:txBody>
          <a:bodyPr wrap="square" lIns="0" tIns="0" rIns="0" bIns="0" rtlCol="0" anchor="ctr"/>
          <a:lstStyle/>
          <a:p>
            <a:pPr marL="0" indent="0">
              <a:buNone/>
            </a:pPr>
            <a:r>
              <a:rPr lang="en-US" sz="1500" b="1" dirty="0">
                <a:solidFill>
                  <a:srgbClr val="075985"/>
                </a:solidFill>
                <a:latin typeface="Microsoft YaHei" pitchFamily="34" charset="0"/>
                <a:ea typeface="Microsoft YaHei" pitchFamily="34" charset="-122"/>
                <a:cs typeface="Microsoft YaHei" pitchFamily="34" charset="-120"/>
              </a:rPr>
              <a:t>信息要求</a:t>
            </a:r>
            <a:endParaRPr lang="en-US" sz="1500" dirty="0"/>
          </a:p>
        </p:txBody>
      </p:sp>
      <p:sp>
        <p:nvSpPr>
          <p:cNvPr id="12" name="Text 10"/>
          <p:cNvSpPr/>
          <p:nvPr/>
        </p:nvSpPr>
        <p:spPr>
          <a:xfrm>
            <a:off x="2148840" y="2304843"/>
            <a:ext cx="8961120" cy="320040"/>
          </a:xfrm>
          <a:prstGeom prst="rect">
            <a:avLst/>
          </a:prstGeom>
          <a:noFill/>
          <a:ln/>
        </p:spPr>
        <p:txBody>
          <a:bodyPr wrap="square" lIns="0" tIns="0" rIns="0" bIns="0" rtlCol="0" anchor="ctr"/>
          <a:lstStyle/>
          <a:p>
            <a:pPr marL="0" indent="0">
              <a:buNone/>
            </a:pPr>
            <a:r>
              <a:rPr lang="en-US" sz="1250" dirty="0">
                <a:solidFill>
                  <a:srgbClr val="334155"/>
                </a:solidFill>
                <a:latin typeface="Microsoft YaHei" pitchFamily="34" charset="0"/>
                <a:ea typeface="Microsoft YaHei" pitchFamily="34" charset="-122"/>
                <a:cs typeface="Microsoft YaHei" pitchFamily="34" charset="-120"/>
              </a:rPr>
              <a:t>学生、服务点、物资、库存、借还、维修、信用、日志</a:t>
            </a:r>
            <a:endParaRPr lang="en-US" sz="1250" dirty="0"/>
          </a:p>
        </p:txBody>
      </p:sp>
      <p:sp>
        <p:nvSpPr>
          <p:cNvPr id="13" name="Text 11"/>
          <p:cNvSpPr/>
          <p:nvPr/>
        </p:nvSpPr>
        <p:spPr>
          <a:xfrm>
            <a:off x="868680" y="3000467"/>
            <a:ext cx="1280160" cy="320040"/>
          </a:xfrm>
          <a:prstGeom prst="rect">
            <a:avLst/>
          </a:prstGeom>
          <a:noFill/>
          <a:ln/>
        </p:spPr>
        <p:txBody>
          <a:bodyPr wrap="square" lIns="0" tIns="0" rIns="0" bIns="0" rtlCol="0" anchor="ctr"/>
          <a:lstStyle/>
          <a:p>
            <a:pPr marL="0" indent="0">
              <a:buNone/>
            </a:pPr>
            <a:r>
              <a:rPr lang="en-US" sz="1500" b="1" dirty="0">
                <a:solidFill>
                  <a:srgbClr val="0F766E"/>
                </a:solidFill>
                <a:latin typeface="Microsoft YaHei" pitchFamily="34" charset="0"/>
                <a:ea typeface="Microsoft YaHei" pitchFamily="34" charset="-122"/>
                <a:cs typeface="Microsoft YaHei" pitchFamily="34" charset="-120"/>
              </a:rPr>
              <a:t>处理要求</a:t>
            </a:r>
            <a:endParaRPr lang="en-US" sz="1500" dirty="0"/>
          </a:p>
        </p:txBody>
      </p:sp>
      <p:sp>
        <p:nvSpPr>
          <p:cNvPr id="14" name="Text 12"/>
          <p:cNvSpPr/>
          <p:nvPr/>
        </p:nvSpPr>
        <p:spPr>
          <a:xfrm>
            <a:off x="2148840" y="3000467"/>
            <a:ext cx="8961120" cy="320040"/>
          </a:xfrm>
          <a:prstGeom prst="rect">
            <a:avLst/>
          </a:prstGeom>
          <a:noFill/>
          <a:ln/>
        </p:spPr>
        <p:txBody>
          <a:bodyPr wrap="square" lIns="0" tIns="0" rIns="0" bIns="0" rtlCol="0" anchor="ctr"/>
          <a:lstStyle/>
          <a:p>
            <a:pPr marL="0" indent="0">
              <a:buNone/>
            </a:pPr>
            <a:r>
              <a:rPr lang="en-US" sz="1250" dirty="0">
                <a:solidFill>
                  <a:srgbClr val="334155"/>
                </a:solidFill>
                <a:latin typeface="Microsoft YaHei" pitchFamily="34" charset="0"/>
                <a:ea typeface="Microsoft YaHei" pitchFamily="34" charset="-122"/>
                <a:cs typeface="Microsoft YaHei" pitchFamily="34" charset="-120"/>
              </a:rPr>
              <a:t>借出、归还、维修、库存查询、逾期扣分、日志记录</a:t>
            </a:r>
            <a:endParaRPr lang="en-US" sz="1250" dirty="0"/>
          </a:p>
        </p:txBody>
      </p:sp>
      <p:sp>
        <p:nvSpPr>
          <p:cNvPr id="15" name="Text 13"/>
          <p:cNvSpPr/>
          <p:nvPr/>
        </p:nvSpPr>
        <p:spPr>
          <a:xfrm>
            <a:off x="868680" y="3621828"/>
            <a:ext cx="1554480" cy="320040"/>
          </a:xfrm>
          <a:prstGeom prst="rect">
            <a:avLst/>
          </a:prstGeom>
          <a:noFill/>
          <a:ln/>
        </p:spPr>
        <p:txBody>
          <a:bodyPr wrap="square" lIns="0" tIns="0" rIns="0" bIns="0" rtlCol="0" anchor="ctr"/>
          <a:lstStyle/>
          <a:p>
            <a:pPr marL="0" indent="0">
              <a:buNone/>
            </a:pPr>
            <a:r>
              <a:rPr lang="en-US" sz="1500" b="1" dirty="0">
                <a:solidFill>
                  <a:srgbClr val="D97706"/>
                </a:solidFill>
                <a:latin typeface="Microsoft YaHei" pitchFamily="34" charset="0"/>
                <a:ea typeface="Microsoft YaHei" pitchFamily="34" charset="-122"/>
                <a:cs typeface="Microsoft YaHei" pitchFamily="34" charset="-120"/>
              </a:rPr>
              <a:t>完整性要求</a:t>
            </a:r>
            <a:endParaRPr lang="en-US" sz="1500" dirty="0"/>
          </a:p>
        </p:txBody>
      </p:sp>
      <p:sp>
        <p:nvSpPr>
          <p:cNvPr id="16" name="Text 14"/>
          <p:cNvSpPr/>
          <p:nvPr/>
        </p:nvSpPr>
        <p:spPr>
          <a:xfrm>
            <a:off x="860660" y="3941868"/>
            <a:ext cx="10598390" cy="2149272"/>
          </a:xfrm>
          <a:prstGeom prst="rect">
            <a:avLst/>
          </a:prstGeom>
          <a:noFill/>
          <a:ln/>
        </p:spPr>
        <p:txBody>
          <a:bodyPr wrap="square" lIns="0" tIns="0" rIns="0" bIns="0" rtlCol="0" anchor="ctr"/>
          <a:lstStyle/>
          <a:p>
            <a:endParaRPr lang="en-US" altLang="zh-CN" sz="1200" dirty="0">
              <a:latin typeface="Times New Roman" panose="02020603050405020304" pitchFamily="18" charset="0"/>
              <a:cs typeface="Times New Roman" panose="02020603050405020304" pitchFamily="18" charset="0"/>
            </a:endParaRPr>
          </a:p>
          <a:p>
            <a:endParaRPr lang="en-US" altLang="zh-CN" sz="1200" dirty="0">
              <a:latin typeface="Times New Roman" panose="02020603050405020304" pitchFamily="18" charset="0"/>
              <a:cs typeface="Times New Roman" panose="02020603050405020304" pitchFamily="18" charset="0"/>
            </a:endParaRPr>
          </a:p>
          <a:p>
            <a:r>
              <a:rPr lang="zh-CN" altLang="zh-CN" sz="1400" dirty="0">
                <a:latin typeface="SimSun" panose="02010600030101010101" pitchFamily="2" charset="-122"/>
                <a:ea typeface="SimSun" panose="02010600030101010101" pitchFamily="2" charset="-122"/>
                <a:cs typeface="Times New Roman" panose="02020603050405020304" pitchFamily="18" charset="0"/>
              </a:rPr>
              <a:t>实体完整性方面</a:t>
            </a:r>
            <a:r>
              <a:rPr lang="zh-CN" altLang="en-US"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每张基本表均设置主键，主键不能为空且不能重复。</a:t>
            </a:r>
            <a:endParaRPr lang="en-US" altLang="zh-CN" sz="1400" dirty="0">
              <a:latin typeface="SimSun" panose="02010600030101010101" pitchFamily="2" charset="-122"/>
              <a:ea typeface="SimSun" panose="02010600030101010101" pitchFamily="2" charset="-122"/>
              <a:cs typeface="Times New Roman" panose="02020603050405020304" pitchFamily="18" charset="0"/>
            </a:endParaRPr>
          </a:p>
          <a:p>
            <a:endParaRPr lang="en-US" altLang="zh-CN" sz="1400" dirty="0">
              <a:latin typeface="SimSun" panose="02010600030101010101" pitchFamily="2" charset="-122"/>
              <a:ea typeface="SimSun" panose="02010600030101010101" pitchFamily="2" charset="-122"/>
              <a:cs typeface="Times New Roman" panose="02020603050405020304" pitchFamily="18" charset="0"/>
            </a:endParaRPr>
          </a:p>
          <a:p>
            <a:r>
              <a:rPr lang="zh-CN" altLang="zh-CN" sz="1400" dirty="0">
                <a:latin typeface="SimSun" panose="02010600030101010101" pitchFamily="2" charset="-122"/>
                <a:ea typeface="SimSun" panose="02010600030101010101" pitchFamily="2" charset="-122"/>
                <a:cs typeface="Times New Roman" panose="02020603050405020304" pitchFamily="18" charset="0"/>
              </a:rPr>
              <a:t>参照完整性方面</a:t>
            </a:r>
            <a:r>
              <a:rPr lang="zh-CN" altLang="en-US"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各业务表通过外键保持联系。例如，学生表中的学院编号必须来自学院表；具体物资表中的类型编号和服务点编号必须分别来自物资类型表和服务点表；借还记录中的学生、物资、借出服务点和归还服务点必须引用有效记录；维修记录必须引用有效物资和工作人员；信用记录必须关联有效学生和借还记录。</a:t>
            </a:r>
          </a:p>
          <a:p>
            <a:endParaRPr lang="en-US" altLang="zh-CN" sz="1400" dirty="0">
              <a:latin typeface="SimSun" panose="02010600030101010101" pitchFamily="2" charset="-122"/>
              <a:ea typeface="SimSun" panose="02010600030101010101" pitchFamily="2" charset="-122"/>
              <a:cs typeface="Times New Roman" panose="02020603050405020304" pitchFamily="18" charset="0"/>
            </a:endParaRPr>
          </a:p>
          <a:p>
            <a:r>
              <a:rPr lang="zh-CN" altLang="zh-CN" sz="1400" dirty="0">
                <a:latin typeface="SimSun" panose="02010600030101010101" pitchFamily="2" charset="-122"/>
                <a:ea typeface="SimSun" panose="02010600030101010101" pitchFamily="2" charset="-122"/>
                <a:cs typeface="Times New Roman" panose="02020603050405020304" pitchFamily="18" charset="0"/>
              </a:rPr>
              <a:t>用户自定义完整性方面</a:t>
            </a:r>
            <a:r>
              <a:rPr lang="zh-CN" altLang="en-US"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系统对状态和数值设置约束。物资状态限定为</a:t>
            </a:r>
            <a:r>
              <a:rPr lang="en-US" altLang="zh-CN"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可用、借出中、维修中、报废</a:t>
            </a:r>
            <a:r>
              <a:rPr lang="en-US" altLang="zh-CN"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；借还状态限定为</a:t>
            </a:r>
            <a:r>
              <a:rPr lang="en-US" altLang="zh-CN"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借出中、已归还、逾期</a:t>
            </a:r>
            <a:r>
              <a:rPr lang="en-US" altLang="zh-CN"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；维修状态限定为</a:t>
            </a:r>
            <a:r>
              <a:rPr lang="en-US" altLang="zh-CN"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待处理、处理中、已完成、报废</a:t>
            </a:r>
            <a:r>
              <a:rPr lang="en-US" altLang="zh-CN"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；账号状态限定为</a:t>
            </a:r>
            <a:r>
              <a:rPr lang="en-US" altLang="zh-CN"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正常、锁定</a:t>
            </a:r>
            <a:r>
              <a:rPr lang="en-US" altLang="zh-CN" sz="1400" dirty="0">
                <a:latin typeface="SimSun" panose="02010600030101010101" pitchFamily="2" charset="-122"/>
                <a:ea typeface="SimSun" panose="02010600030101010101" pitchFamily="2" charset="-122"/>
                <a:cs typeface="Times New Roman" panose="02020603050405020304" pitchFamily="18" charset="0"/>
              </a:rPr>
              <a:t>”</a:t>
            </a:r>
            <a:r>
              <a:rPr lang="zh-CN" altLang="zh-CN" sz="1400" dirty="0">
                <a:latin typeface="SimSun" panose="02010600030101010101" pitchFamily="2" charset="-122"/>
                <a:ea typeface="SimSun" panose="02010600030101010101" pitchFamily="2" charset="-122"/>
                <a:cs typeface="Times New Roman" panose="02020603050405020304" pitchFamily="18" charset="0"/>
              </a:rPr>
              <a:t>。学生信用分范围为</a:t>
            </a:r>
            <a:r>
              <a:rPr lang="en-US" altLang="zh-CN" sz="1400" dirty="0">
                <a:latin typeface="SimSun" panose="02010600030101010101" pitchFamily="2" charset="-122"/>
                <a:ea typeface="SimSun" panose="02010600030101010101" pitchFamily="2" charset="-122"/>
                <a:cs typeface="Times New Roman" panose="02020603050405020304" pitchFamily="18" charset="0"/>
              </a:rPr>
              <a:t>0</a:t>
            </a:r>
            <a:r>
              <a:rPr lang="zh-CN" altLang="zh-CN" sz="1400" dirty="0">
                <a:latin typeface="SimSun" panose="02010600030101010101" pitchFamily="2" charset="-122"/>
                <a:ea typeface="SimSun" panose="02010600030101010101" pitchFamily="2" charset="-122"/>
                <a:cs typeface="Times New Roman" panose="02020603050405020304" pitchFamily="18" charset="0"/>
              </a:rPr>
              <a:t>到</a:t>
            </a:r>
            <a:r>
              <a:rPr lang="en-US" altLang="zh-CN" sz="1400" dirty="0">
                <a:latin typeface="SimSun" panose="02010600030101010101" pitchFamily="2" charset="-122"/>
                <a:ea typeface="SimSun" panose="02010600030101010101" pitchFamily="2" charset="-122"/>
                <a:cs typeface="Times New Roman" panose="02020603050405020304" pitchFamily="18" charset="0"/>
              </a:rPr>
              <a:t>100</a:t>
            </a:r>
            <a:r>
              <a:rPr lang="zh-CN" altLang="zh-CN" sz="1400" dirty="0">
                <a:latin typeface="SimSun" panose="02010600030101010101" pitchFamily="2" charset="-122"/>
                <a:ea typeface="SimSun" panose="02010600030101010101" pitchFamily="2" charset="-122"/>
                <a:cs typeface="Times New Roman" panose="02020603050405020304" pitchFamily="18" charset="0"/>
              </a:rPr>
              <a:t>；库存最大容量和预警线不能为负，且预警线不应超过最大容量；归还时间不能早于借出时间</a:t>
            </a:r>
            <a:r>
              <a:rPr lang="zh-CN" altLang="zh-CN" sz="1400" dirty="0">
                <a:latin typeface="SimSun" panose="02010600030101010101" pitchFamily="2" charset="-122"/>
                <a:ea typeface="SimSun" panose="02010600030101010101" pitchFamily="2" charset="-122"/>
              </a:rPr>
              <a:t>。</a:t>
            </a:r>
          </a:p>
          <a:p>
            <a:pPr marL="0" indent="0">
              <a:buNone/>
            </a:pP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概念结构设计：12 个核心实体与联系</a:t>
            </a:r>
            <a:endParaRPr lang="en-US" sz="260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7</a:t>
            </a:r>
            <a:endParaRPr lang="en-US" sz="800" dirty="0"/>
          </a:p>
        </p:txBody>
      </p:sp>
      <p:sp>
        <p:nvSpPr>
          <p:cNvPr id="8" name="Text 5"/>
          <p:cNvSpPr/>
          <p:nvPr/>
        </p:nvSpPr>
        <p:spPr>
          <a:xfrm>
            <a:off x="6623000" y="1542618"/>
            <a:ext cx="4800600" cy="1072566"/>
          </a:xfrm>
          <a:prstGeom prst="rect">
            <a:avLst/>
          </a:prstGeom>
          <a:solidFill>
            <a:srgbClr val="FFFFFF"/>
          </a:solidFill>
          <a:ln>
            <a:solidFill>
              <a:srgbClr val="075985">
                <a:alpha val="90000"/>
              </a:srgbClr>
            </a:solidFill>
          </a:ln>
        </p:spPr>
        <p:txBody>
          <a:bodyPr wrap="square" rtlCol="0" anchor="t">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核心实体</a:t>
            </a:r>
            <a:endParaRPr lang="en-US" sz="1500" dirty="0"/>
          </a:p>
          <a:p>
            <a:pPr marL="0" indent="0">
              <a:buNone/>
            </a:pPr>
            <a:r>
              <a:rPr lang="en-US" sz="1400" dirty="0">
                <a:solidFill>
                  <a:srgbClr val="334155"/>
                </a:solidFill>
                <a:latin typeface="Microsoft YaHei" pitchFamily="34" charset="0"/>
                <a:ea typeface="Microsoft YaHei" pitchFamily="34" charset="-122"/>
                <a:cs typeface="Microsoft YaHei" pitchFamily="34" charset="-120"/>
              </a:rPr>
              <a:t>学院、学生、工作人员、用户账号</a:t>
            </a:r>
            <a:endParaRPr lang="en-US" sz="1400" dirty="0"/>
          </a:p>
          <a:p>
            <a:pPr marL="0" indent="0">
              <a:buNone/>
            </a:pPr>
            <a:r>
              <a:rPr lang="en-US" sz="1400" dirty="0">
                <a:solidFill>
                  <a:srgbClr val="334155"/>
                </a:solidFill>
                <a:latin typeface="Microsoft YaHei" pitchFamily="34" charset="0"/>
                <a:ea typeface="Microsoft YaHei" pitchFamily="34" charset="-122"/>
                <a:cs typeface="Microsoft YaHei" pitchFamily="34" charset="-120"/>
              </a:rPr>
              <a:t>服务点、物资类型、具体物资</a:t>
            </a:r>
            <a:endParaRPr lang="en-US" sz="1400" dirty="0"/>
          </a:p>
          <a:p>
            <a:pPr marL="0" indent="0">
              <a:buNone/>
            </a:pPr>
            <a:r>
              <a:rPr lang="en-US" sz="1400" dirty="0">
                <a:solidFill>
                  <a:srgbClr val="334155"/>
                </a:solidFill>
                <a:latin typeface="Microsoft YaHei" pitchFamily="34" charset="0"/>
                <a:ea typeface="Microsoft YaHei" pitchFamily="34" charset="-122"/>
                <a:cs typeface="Microsoft YaHei" pitchFamily="34" charset="-120"/>
              </a:rPr>
              <a:t>库存配置、借还记录、维修记录、信用记录、操作日志</a:t>
            </a:r>
            <a:endParaRPr lang="en-US" sz="1400" dirty="0"/>
          </a:p>
        </p:txBody>
      </p:sp>
      <p:sp>
        <p:nvSpPr>
          <p:cNvPr id="9" name="Text 6"/>
          <p:cNvSpPr/>
          <p:nvPr/>
        </p:nvSpPr>
        <p:spPr>
          <a:xfrm>
            <a:off x="6629400" y="2825497"/>
            <a:ext cx="4800600" cy="1239876"/>
          </a:xfrm>
          <a:prstGeom prst="rect">
            <a:avLst/>
          </a:prstGeom>
          <a:solidFill>
            <a:srgbClr val="F8FAFC"/>
          </a:solidFill>
          <a:ln>
            <a:solidFill>
              <a:srgbClr val="0F766E">
                <a:alpha val="90000"/>
              </a:srgbClr>
            </a:solidFill>
          </a:ln>
        </p:spPr>
        <p:txBody>
          <a:bodyPr wrap="square" rtlCol="0" anchor="t">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关键联系</a:t>
            </a:r>
            <a:endParaRPr lang="en-US" sz="1500" dirty="0"/>
          </a:p>
          <a:p>
            <a:pPr marL="0" indent="0">
              <a:buNone/>
            </a:pPr>
            <a:r>
              <a:rPr lang="en-US" sz="1400" dirty="0">
                <a:solidFill>
                  <a:srgbClr val="334155"/>
                </a:solidFill>
                <a:latin typeface="Microsoft YaHei" pitchFamily="34" charset="0"/>
                <a:ea typeface="Microsoft YaHei" pitchFamily="34" charset="-122"/>
                <a:cs typeface="Microsoft YaHei" pitchFamily="34" charset="-120"/>
              </a:rPr>
              <a:t>学院—学生：1:N</a:t>
            </a:r>
            <a:endParaRPr lang="en-US" sz="1400" dirty="0"/>
          </a:p>
          <a:p>
            <a:pPr marL="0" indent="0">
              <a:buNone/>
            </a:pPr>
            <a:r>
              <a:rPr lang="en-US" sz="1400" dirty="0">
                <a:solidFill>
                  <a:srgbClr val="334155"/>
                </a:solidFill>
                <a:latin typeface="Microsoft YaHei" pitchFamily="34" charset="0"/>
                <a:ea typeface="Microsoft YaHei" pitchFamily="34" charset="-122"/>
                <a:cs typeface="Microsoft YaHei" pitchFamily="34" charset="-120"/>
              </a:rPr>
              <a:t>物资类型—具体物资：1:N</a:t>
            </a:r>
            <a:endParaRPr lang="en-US" sz="1400" dirty="0"/>
          </a:p>
          <a:p>
            <a:pPr marL="0" indent="0">
              <a:buNone/>
            </a:pPr>
            <a:r>
              <a:rPr lang="en-US" sz="1400" dirty="0">
                <a:solidFill>
                  <a:srgbClr val="334155"/>
                </a:solidFill>
                <a:latin typeface="Microsoft YaHei" pitchFamily="34" charset="0"/>
                <a:ea typeface="Microsoft YaHei" pitchFamily="34" charset="-122"/>
                <a:cs typeface="Microsoft YaHei" pitchFamily="34" charset="-120"/>
              </a:rPr>
              <a:t>服务点—具体物资：1:N</a:t>
            </a:r>
            <a:endParaRPr lang="en-US" sz="1400" dirty="0"/>
          </a:p>
          <a:p>
            <a:pPr marL="0" indent="0">
              <a:buNone/>
            </a:pPr>
            <a:r>
              <a:rPr lang="en-US" sz="1400" dirty="0">
                <a:solidFill>
                  <a:srgbClr val="334155"/>
                </a:solidFill>
                <a:latin typeface="Microsoft YaHei" pitchFamily="34" charset="0"/>
                <a:ea typeface="Microsoft YaHei" pitchFamily="34" charset="-122"/>
                <a:cs typeface="Microsoft YaHei" pitchFamily="34" charset="-120"/>
              </a:rPr>
              <a:t>具体物资—维修记录：1:N</a:t>
            </a:r>
            <a:endParaRPr lang="en-US" sz="1400" dirty="0"/>
          </a:p>
        </p:txBody>
      </p:sp>
      <p:sp>
        <p:nvSpPr>
          <p:cNvPr id="10" name="Text 7"/>
          <p:cNvSpPr/>
          <p:nvPr/>
        </p:nvSpPr>
        <p:spPr>
          <a:xfrm>
            <a:off x="6623000" y="4242817"/>
            <a:ext cx="4800600" cy="860524"/>
          </a:xfrm>
          <a:prstGeom prst="rect">
            <a:avLst/>
          </a:prstGeom>
          <a:solidFill>
            <a:srgbClr val="FFF7ED"/>
          </a:solidFill>
          <a:ln>
            <a:solidFill>
              <a:srgbClr val="D97706">
                <a:alpha val="90000"/>
              </a:srgbClr>
            </a:solidFill>
          </a:ln>
        </p:spPr>
        <p:txBody>
          <a:bodyPr wrap="square" rtlCol="0" anchor="t">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多对多实体化</a:t>
            </a:r>
            <a:endParaRPr lang="en-US" sz="1500" dirty="0"/>
          </a:p>
          <a:p>
            <a:pPr marL="0" indent="0">
              <a:buNone/>
            </a:pPr>
            <a:r>
              <a:rPr lang="en-US" sz="1400" dirty="0">
                <a:solidFill>
                  <a:srgbClr val="334155"/>
                </a:solidFill>
                <a:latin typeface="Microsoft YaHei" pitchFamily="34" charset="0"/>
                <a:ea typeface="Microsoft YaHei" pitchFamily="34" charset="-122"/>
                <a:cs typeface="Microsoft YaHei" pitchFamily="34" charset="-120"/>
              </a:rPr>
              <a:t>学生 × 具体物资 → 借还记录</a:t>
            </a:r>
            <a:endParaRPr lang="en-US" sz="1400" dirty="0"/>
          </a:p>
          <a:p>
            <a:pPr marL="0" indent="0">
              <a:buNone/>
            </a:pPr>
            <a:r>
              <a:rPr lang="en-US" sz="1400" dirty="0">
                <a:solidFill>
                  <a:srgbClr val="334155"/>
                </a:solidFill>
                <a:latin typeface="Microsoft YaHei" pitchFamily="34" charset="0"/>
                <a:ea typeface="Microsoft YaHei" pitchFamily="34" charset="-122"/>
                <a:cs typeface="Microsoft YaHei" pitchFamily="34" charset="-120"/>
              </a:rPr>
              <a:t>服务点 × 物资类型 → 库存配置</a:t>
            </a:r>
            <a:endParaRPr lang="en-US" sz="1400" dirty="0"/>
          </a:p>
        </p:txBody>
      </p:sp>
      <p:pic>
        <p:nvPicPr>
          <p:cNvPr id="13" name="图片 12">
            <a:extLst>
              <a:ext uri="{FF2B5EF4-FFF2-40B4-BE49-F238E27FC236}">
                <a16:creationId xmlns:a16="http://schemas.microsoft.com/office/drawing/2014/main" id="{23717FFB-B200-B875-3411-AAEEB99715B8}"/>
              </a:ext>
            </a:extLst>
          </p:cNvPr>
          <p:cNvPicPr>
            <a:picLocks noChangeAspect="1"/>
          </p:cNvPicPr>
          <p:nvPr/>
        </p:nvPicPr>
        <p:blipFill>
          <a:blip r:embed="rId3"/>
          <a:stretch>
            <a:fillRect/>
          </a:stretch>
        </p:blipFill>
        <p:spPr>
          <a:xfrm>
            <a:off x="403708" y="704088"/>
            <a:ext cx="5943600" cy="57764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逻辑结构设计：从 E-R 图到 12 个关系模式</a:t>
            </a:r>
            <a:endParaRPr lang="en-US" sz="2600" dirty="0"/>
          </a:p>
        </p:txBody>
      </p:sp>
      <p:sp>
        <p:nvSpPr>
          <p:cNvPr id="5" name="Text 3"/>
          <p:cNvSpPr/>
          <p:nvPr/>
        </p:nvSpPr>
        <p:spPr>
          <a:xfrm>
            <a:off x="530352" y="749808"/>
            <a:ext cx="8961120" cy="246888"/>
          </a:xfrm>
          <a:prstGeom prst="rect">
            <a:avLst/>
          </a:prstGeom>
          <a:noFill/>
          <a:ln/>
        </p:spPr>
        <p:txBody>
          <a:bodyPr wrap="square" lIns="0" tIns="0" rIns="0" bIns="0" rtlCol="0" anchor="ctr"/>
          <a:lstStyle/>
          <a:p>
            <a:pPr marL="0" indent="0">
              <a:buNone/>
            </a:pPr>
            <a:r>
              <a:rPr lang="en-US" sz="1050" dirty="0">
                <a:solidFill>
                  <a:srgbClr val="64748B"/>
                </a:solidFill>
                <a:latin typeface="Microsoft YaHei" pitchFamily="34" charset="0"/>
                <a:ea typeface="Microsoft YaHei" pitchFamily="34" charset="-122"/>
                <a:cs typeface="Microsoft YaHei" pitchFamily="34" charset="-120"/>
              </a:rPr>
              <a:t>实体转表，1:N 加外键，M:N 转独立关系模式</a:t>
            </a:r>
            <a:endParaRPr lang="en-US" sz="105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8</a:t>
            </a:r>
            <a:endParaRPr lang="en-US" sz="800" dirty="0"/>
          </a:p>
        </p:txBody>
      </p:sp>
      <p:sp>
        <p:nvSpPr>
          <p:cNvPr id="7" name="Text 5"/>
          <p:cNvSpPr/>
          <p:nvPr/>
        </p:nvSpPr>
        <p:spPr>
          <a:xfrm>
            <a:off x="777240" y="1188720"/>
            <a:ext cx="2651760" cy="1937539"/>
          </a:xfrm>
          <a:prstGeom prst="rect">
            <a:avLst/>
          </a:prstGeom>
          <a:solidFill>
            <a:srgbClr val="E0F2FE"/>
          </a:solidFill>
          <a:ln>
            <a:solidFill>
              <a:srgbClr val="075985">
                <a:alpha val="90000"/>
              </a:srgbClr>
            </a:solidFill>
          </a:ln>
        </p:spPr>
        <p:txBody>
          <a:bodyPr wrap="square" rtlCol="0" anchor="t">
            <a:normAutofit/>
          </a:bodyPr>
          <a:lstStyle/>
          <a:p>
            <a:pPr marL="0" indent="0">
              <a:buNone/>
            </a:pPr>
            <a:r>
              <a:rPr lang="en-US" sz="1600" b="1" dirty="0">
                <a:solidFill>
                  <a:srgbClr val="0B1F33"/>
                </a:solidFill>
                <a:latin typeface="Microsoft YaHei" pitchFamily="34" charset="0"/>
                <a:ea typeface="Microsoft YaHei" pitchFamily="34" charset="-122"/>
                <a:cs typeface="Microsoft YaHei" pitchFamily="34" charset="-120"/>
              </a:rPr>
              <a:t>基础信息表</a:t>
            </a:r>
            <a:endParaRPr lang="en-US" sz="1600" dirty="0"/>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college</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student</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staff</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user_account</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service_station</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item_type</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3794760" y="1188720"/>
            <a:ext cx="2926080" cy="1937539"/>
          </a:xfrm>
          <a:prstGeom prst="rect">
            <a:avLst/>
          </a:prstGeom>
          <a:solidFill>
            <a:srgbClr val="F0FDFA"/>
          </a:solidFill>
          <a:ln>
            <a:solidFill>
              <a:srgbClr val="0F766E">
                <a:alpha val="90000"/>
              </a:srgbClr>
            </a:solidFill>
          </a:ln>
        </p:spPr>
        <p:txBody>
          <a:bodyPr wrap="square" rtlCol="0" anchor="t">
            <a:normAutofit/>
          </a:bodyPr>
          <a:lstStyle/>
          <a:p>
            <a:pPr marL="0" indent="0">
              <a:buNone/>
            </a:pPr>
            <a:r>
              <a:rPr lang="en-US" sz="1600" b="1" dirty="0">
                <a:solidFill>
                  <a:srgbClr val="0B1F33"/>
                </a:solidFill>
                <a:latin typeface="Microsoft YaHei" pitchFamily="34" charset="0"/>
                <a:ea typeface="Microsoft YaHei" pitchFamily="34" charset="-122"/>
                <a:cs typeface="Microsoft YaHei" pitchFamily="34" charset="-120"/>
              </a:rPr>
              <a:t>业务记录表</a:t>
            </a:r>
            <a:endParaRPr lang="en-US" sz="1600" dirty="0"/>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item_asset</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station_inventory</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borrow_record</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maintenance_record</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credit_record</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solidFill>
                  <a:srgbClr val="334155"/>
                </a:solidFill>
                <a:latin typeface="Times New Roman" panose="02020603050405020304" pitchFamily="18" charset="0"/>
                <a:ea typeface="Microsoft YaHei" pitchFamily="34" charset="-122"/>
                <a:cs typeface="Times New Roman" panose="02020603050405020304" pitchFamily="18" charset="0"/>
              </a:rPr>
              <a:t>operation_log</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7132320" y="1188720"/>
            <a:ext cx="4251960" cy="1937539"/>
          </a:xfrm>
          <a:prstGeom prst="rect">
            <a:avLst/>
          </a:prstGeom>
          <a:solidFill>
            <a:srgbClr val="FFF7ED"/>
          </a:solidFill>
          <a:ln>
            <a:solidFill>
              <a:srgbClr val="D97706">
                <a:alpha val="90000"/>
              </a:srgbClr>
            </a:solidFill>
          </a:ln>
        </p:spPr>
        <p:txBody>
          <a:bodyPr wrap="square" rtlCol="0" anchor="t">
            <a:normAutofit lnSpcReduction="10000"/>
          </a:bodyPr>
          <a:lstStyle/>
          <a:p>
            <a:pPr marL="0" indent="0">
              <a:buNone/>
            </a:pPr>
            <a:r>
              <a:rPr lang="en-US" sz="1600" b="1" dirty="0">
                <a:solidFill>
                  <a:srgbClr val="0B1F33"/>
                </a:solidFill>
                <a:latin typeface="Microsoft YaHei" pitchFamily="34" charset="0"/>
                <a:ea typeface="Microsoft YaHei" pitchFamily="34" charset="-122"/>
                <a:cs typeface="Microsoft YaHei" pitchFamily="34" charset="-120"/>
              </a:rPr>
              <a:t>转换规则</a:t>
            </a:r>
            <a:endParaRPr lang="en-US" sz="1600" dirty="0"/>
          </a:p>
          <a:p>
            <a:pPr marL="0" indent="0">
              <a:buNone/>
            </a:pPr>
            <a:r>
              <a:rPr lang="en-US" sz="1600" dirty="0">
                <a:solidFill>
                  <a:srgbClr val="334155"/>
                </a:solidFill>
                <a:latin typeface="Microsoft YaHei" pitchFamily="34" charset="0"/>
                <a:ea typeface="Microsoft YaHei" pitchFamily="34" charset="-122"/>
                <a:cs typeface="Microsoft YaHei" pitchFamily="34" charset="-120"/>
              </a:rPr>
              <a:t>实体 → 独立关系模式</a:t>
            </a:r>
            <a:endParaRPr lang="en-US" sz="1600" dirty="0"/>
          </a:p>
          <a:p>
            <a:pPr marL="0" indent="0">
              <a:buNone/>
            </a:pPr>
            <a:endParaRPr lang="en-US" sz="1600" dirty="0">
              <a:solidFill>
                <a:srgbClr val="334155"/>
              </a:solidFill>
              <a:latin typeface="Microsoft YaHei" pitchFamily="34" charset="0"/>
              <a:ea typeface="Microsoft YaHei" pitchFamily="34" charset="-122"/>
              <a:cs typeface="Microsoft YaHei" pitchFamily="34" charset="-120"/>
            </a:endParaRPr>
          </a:p>
          <a:p>
            <a:pPr marL="0" indent="0">
              <a:buNone/>
            </a:pPr>
            <a:r>
              <a:rPr lang="en-US" sz="1600" dirty="0">
                <a:solidFill>
                  <a:srgbClr val="334155"/>
                </a:solidFill>
                <a:latin typeface="Microsoft YaHei" pitchFamily="34" charset="0"/>
                <a:ea typeface="Microsoft YaHei" pitchFamily="34" charset="-122"/>
                <a:cs typeface="Microsoft YaHei" pitchFamily="34" charset="-120"/>
              </a:rPr>
              <a:t>1:N → 多端加入外键</a:t>
            </a:r>
            <a:endParaRPr lang="en-US" sz="1600" dirty="0"/>
          </a:p>
          <a:p>
            <a:pPr marL="0" indent="0">
              <a:buNone/>
            </a:pPr>
            <a:endParaRPr lang="en-US" sz="1600" dirty="0">
              <a:solidFill>
                <a:srgbClr val="334155"/>
              </a:solidFill>
              <a:latin typeface="Microsoft YaHei" pitchFamily="34" charset="0"/>
              <a:ea typeface="Microsoft YaHei" pitchFamily="34" charset="-122"/>
              <a:cs typeface="Microsoft YaHei" pitchFamily="34" charset="-120"/>
            </a:endParaRPr>
          </a:p>
          <a:p>
            <a:pPr marL="0" indent="0">
              <a:buNone/>
            </a:pPr>
            <a:r>
              <a:rPr lang="en-US" sz="1600" dirty="0">
                <a:solidFill>
                  <a:srgbClr val="334155"/>
                </a:solidFill>
                <a:latin typeface="Microsoft YaHei" pitchFamily="34" charset="0"/>
                <a:ea typeface="Microsoft YaHei" pitchFamily="34" charset="-122"/>
                <a:cs typeface="Microsoft YaHei" pitchFamily="34" charset="-120"/>
              </a:rPr>
              <a:t>M:N → 独立关系模式</a:t>
            </a:r>
            <a:endParaRPr lang="en-US" sz="1600" dirty="0"/>
          </a:p>
          <a:p>
            <a:pPr marL="0" indent="0">
              <a:buNone/>
            </a:pPr>
            <a:endParaRPr lang="en-US" sz="1600" dirty="0">
              <a:solidFill>
                <a:srgbClr val="334155"/>
              </a:solidFill>
              <a:latin typeface="Microsoft YaHei" pitchFamily="34" charset="0"/>
              <a:ea typeface="Microsoft YaHei" pitchFamily="34" charset="-122"/>
              <a:cs typeface="Microsoft YaHei" pitchFamily="34" charset="-120"/>
            </a:endParaRPr>
          </a:p>
          <a:p>
            <a:pPr marL="0" indent="0">
              <a:buNone/>
            </a:pPr>
            <a:r>
              <a:rPr lang="en-US" sz="1600" dirty="0" err="1">
                <a:solidFill>
                  <a:srgbClr val="334155"/>
                </a:solidFill>
                <a:latin typeface="Microsoft YaHei" pitchFamily="34" charset="0"/>
                <a:ea typeface="Microsoft YaHei" pitchFamily="34" charset="-122"/>
                <a:cs typeface="Microsoft YaHei" pitchFamily="34" charset="-120"/>
              </a:rPr>
              <a:t>联系属性</a:t>
            </a:r>
            <a:r>
              <a:rPr lang="en-US" sz="1600" dirty="0">
                <a:solidFill>
                  <a:srgbClr val="334155"/>
                </a:solidFill>
                <a:latin typeface="Microsoft YaHei" pitchFamily="34" charset="0"/>
                <a:ea typeface="Microsoft YaHei" pitchFamily="34" charset="-122"/>
                <a:cs typeface="Microsoft YaHei" pitchFamily="34" charset="-120"/>
              </a:rPr>
              <a:t> → 关系属性</a:t>
            </a:r>
            <a:endParaRPr lang="en-US" sz="1600" dirty="0"/>
          </a:p>
        </p:txBody>
      </p:sp>
      <p:sp>
        <p:nvSpPr>
          <p:cNvPr id="10" name="Text 8"/>
          <p:cNvSpPr/>
          <p:nvPr/>
        </p:nvSpPr>
        <p:spPr>
          <a:xfrm>
            <a:off x="929487" y="3346704"/>
            <a:ext cx="10332720" cy="502920"/>
          </a:xfrm>
          <a:prstGeom prst="rect">
            <a:avLst/>
          </a:prstGeom>
          <a:solidFill>
            <a:srgbClr val="FFFFFF"/>
          </a:solidFill>
          <a:ln>
            <a:solidFill>
              <a:srgbClr val="CBD5E1"/>
            </a:solidFill>
          </a:ln>
        </p:spPr>
        <p:txBody>
          <a:bodyPr wrap="square" lIns="381" tIns="381" rIns="381" bIns="381" rtlCol="0" anchor="ctr"/>
          <a:lstStyle/>
          <a:p>
            <a:pPr marL="0" indent="0" algn="ctr">
              <a:buNone/>
            </a:pPr>
            <a:r>
              <a:rPr lang="en-US" sz="1600" b="1" dirty="0" err="1">
                <a:solidFill>
                  <a:srgbClr val="0B1F33"/>
                </a:solidFill>
                <a:latin typeface="Microsoft YaHei" pitchFamily="34" charset="0"/>
                <a:ea typeface="Microsoft YaHei" pitchFamily="34" charset="-122"/>
                <a:cs typeface="Microsoft YaHei" pitchFamily="34" charset="-120"/>
              </a:rPr>
              <a:t>规范化结果：主要关系模式满足</a:t>
            </a:r>
            <a:r>
              <a:rPr lang="en-US" sz="1600" b="1" dirty="0">
                <a:solidFill>
                  <a:srgbClr val="0B1F33"/>
                </a:solidFill>
                <a:latin typeface="Microsoft YaHei" pitchFamily="34" charset="0"/>
                <a:ea typeface="Microsoft YaHei" pitchFamily="34" charset="-122"/>
                <a:cs typeface="Microsoft YaHei" pitchFamily="34" charset="-120"/>
              </a:rPr>
              <a:t> 3NF，减少冗余并避免更新异常</a:t>
            </a:r>
            <a:endParaRPr lang="en-US" sz="1600" dirty="0"/>
          </a:p>
        </p:txBody>
      </p:sp>
      <p:sp>
        <p:nvSpPr>
          <p:cNvPr id="11" name="文本框 10">
            <a:extLst>
              <a:ext uri="{FF2B5EF4-FFF2-40B4-BE49-F238E27FC236}">
                <a16:creationId xmlns:a16="http://schemas.microsoft.com/office/drawing/2014/main" id="{0BB8D799-992B-91AB-C9E4-117664976D45}"/>
              </a:ext>
            </a:extLst>
          </p:cNvPr>
          <p:cNvSpPr txBox="1"/>
          <p:nvPr/>
        </p:nvSpPr>
        <p:spPr>
          <a:xfrm>
            <a:off x="777240" y="4030282"/>
            <a:ext cx="10726901" cy="2585323"/>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例如，</a:t>
            </a:r>
            <a:r>
              <a:rPr lang="zh-CN" altLang="zh-CN" dirty="0">
                <a:latin typeface="Times New Roman" panose="02020603050405020304" pitchFamily="18" charset="0"/>
                <a:cs typeface="Times New Roman" panose="02020603050405020304" pitchFamily="18" charset="0"/>
              </a:rPr>
              <a:t>对于复合主键表</a:t>
            </a:r>
            <a:r>
              <a:rPr lang="en-US" altLang="zh-CN" dirty="0" err="1">
                <a:latin typeface="Times New Roman" panose="02020603050405020304" pitchFamily="18" charset="0"/>
                <a:cs typeface="Times New Roman" panose="02020603050405020304" pitchFamily="18" charset="0"/>
              </a:rPr>
              <a:t>station_inventory</a:t>
            </a:r>
            <a:r>
              <a:rPr lang="zh-CN" altLang="zh-CN" dirty="0">
                <a:latin typeface="Times New Roman" panose="02020603050405020304" pitchFamily="18" charset="0"/>
                <a:cs typeface="Times New Roman" panose="02020603050405020304" pitchFamily="18" charset="0"/>
              </a:rPr>
              <a:t>，其主键由</a:t>
            </a:r>
            <a:r>
              <a:rPr lang="en-US" altLang="zh-CN" dirty="0" err="1">
                <a:latin typeface="Times New Roman" panose="02020603050405020304" pitchFamily="18" charset="0"/>
                <a:cs typeface="Times New Roman" panose="02020603050405020304" pitchFamily="18" charset="0"/>
              </a:rPr>
              <a:t>station_id</a:t>
            </a:r>
            <a:r>
              <a:rPr lang="zh-CN" altLang="zh-CN" dirty="0">
                <a:latin typeface="Times New Roman" panose="02020603050405020304" pitchFamily="18" charset="0"/>
                <a:cs typeface="Times New Roman" panose="02020603050405020304" pitchFamily="18" charset="0"/>
              </a:rPr>
              <a:t>和</a:t>
            </a:r>
            <a:r>
              <a:rPr lang="en-US" altLang="zh-CN" dirty="0" err="1">
                <a:latin typeface="Times New Roman" panose="02020603050405020304" pitchFamily="18" charset="0"/>
                <a:cs typeface="Times New Roman" panose="02020603050405020304" pitchFamily="18" charset="0"/>
              </a:rPr>
              <a:t>type_id</a:t>
            </a:r>
            <a:r>
              <a:rPr lang="zh-CN" altLang="zh-CN" dirty="0">
                <a:latin typeface="Times New Roman" panose="02020603050405020304" pitchFamily="18" charset="0"/>
                <a:cs typeface="Times New Roman" panose="02020603050405020304" pitchFamily="18" charset="0"/>
              </a:rPr>
              <a:t>共同构成。最大容量和库存预警线不是由单独的服务点编号决定，也不是由单独的物资类型编号决定，而是由某一服务点对某一物资类型的配置共同决定。因此，该表不存在非主属性对复合主键的部分依赖，满足第二范式。</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又</a:t>
            </a:r>
            <a:r>
              <a:rPr lang="zh-CN" altLang="zh-CN" dirty="0">
                <a:latin typeface="Times New Roman" panose="02020603050405020304" pitchFamily="18" charset="0"/>
                <a:cs typeface="Times New Roman" panose="02020603050405020304" pitchFamily="18" charset="0"/>
              </a:rPr>
              <a:t>例如，如果将学院名称直接存入学生表，则会产生</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学号</a:t>
            </a:r>
            <a:r>
              <a:rPr lang="en-US" altLang="zh-CN" dirty="0">
                <a:latin typeface="Times New Roman" panose="02020603050405020304" pitchFamily="18" charset="0"/>
                <a:cs typeface="Times New Roman" panose="02020603050405020304" pitchFamily="18" charset="0"/>
              </a:rPr>
              <a:t> → </a:t>
            </a:r>
            <a:r>
              <a:rPr lang="zh-CN" altLang="zh-CN" dirty="0">
                <a:latin typeface="Times New Roman" panose="02020603050405020304" pitchFamily="18" charset="0"/>
                <a:cs typeface="Times New Roman" panose="02020603050405020304" pitchFamily="18" charset="0"/>
              </a:rPr>
              <a:t>学院编号</a:t>
            </a:r>
            <a:r>
              <a:rPr lang="en-US" altLang="zh-CN" dirty="0">
                <a:latin typeface="Times New Roman" panose="02020603050405020304" pitchFamily="18" charset="0"/>
                <a:cs typeface="Times New Roman" panose="02020603050405020304" pitchFamily="18" charset="0"/>
              </a:rPr>
              <a:t> → </a:t>
            </a:r>
            <a:r>
              <a:rPr lang="zh-CN" altLang="zh-CN" dirty="0">
                <a:latin typeface="Times New Roman" panose="02020603050405020304" pitchFamily="18" charset="0"/>
                <a:cs typeface="Times New Roman" panose="02020603050405020304" pitchFamily="18" charset="0"/>
              </a:rPr>
              <a:t>学院名称</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的传递依赖。为避免该问题，本系统将学院信息单独设计为</a:t>
            </a:r>
            <a:r>
              <a:rPr lang="en-US" altLang="zh-CN" dirty="0">
                <a:latin typeface="Times New Roman" panose="02020603050405020304" pitchFamily="18" charset="0"/>
                <a:cs typeface="Times New Roman" panose="02020603050405020304" pitchFamily="18" charset="0"/>
              </a:rPr>
              <a:t>college</a:t>
            </a:r>
            <a:r>
              <a:rPr lang="zh-CN" altLang="zh-CN" dirty="0">
                <a:latin typeface="Times New Roman" panose="02020603050405020304" pitchFamily="18" charset="0"/>
                <a:cs typeface="Times New Roman" panose="02020603050405020304" pitchFamily="18" charset="0"/>
              </a:rPr>
              <a:t>表，在</a:t>
            </a:r>
            <a:r>
              <a:rPr lang="en-US" altLang="zh-CN" dirty="0">
                <a:latin typeface="Times New Roman" panose="02020603050405020304" pitchFamily="18" charset="0"/>
                <a:cs typeface="Times New Roman" panose="02020603050405020304" pitchFamily="18" charset="0"/>
              </a:rPr>
              <a:t>student</a:t>
            </a:r>
            <a:r>
              <a:rPr lang="zh-CN" altLang="zh-CN" dirty="0">
                <a:latin typeface="Times New Roman" panose="02020603050405020304" pitchFamily="18" charset="0"/>
                <a:cs typeface="Times New Roman" panose="02020603050405020304" pitchFamily="18" charset="0"/>
              </a:rPr>
              <a:t>表中仅保留</a:t>
            </a:r>
            <a:r>
              <a:rPr lang="en-US" altLang="zh-CN" dirty="0" err="1">
                <a:latin typeface="Times New Roman" panose="02020603050405020304" pitchFamily="18" charset="0"/>
                <a:cs typeface="Times New Roman" panose="02020603050405020304" pitchFamily="18" charset="0"/>
              </a:rPr>
              <a:t>college_id</a:t>
            </a:r>
            <a:r>
              <a:rPr lang="zh-CN" altLang="zh-CN" dirty="0">
                <a:latin typeface="Times New Roman" panose="02020603050405020304" pitchFamily="18" charset="0"/>
                <a:cs typeface="Times New Roman" panose="02020603050405020304" pitchFamily="18" charset="0"/>
              </a:rPr>
              <a:t>作为外键</a:t>
            </a:r>
            <a:r>
              <a:rPr lang="zh-CN" altLang="en-US" dirty="0">
                <a:latin typeface="Times New Roman" panose="02020603050405020304" pitchFamily="18" charset="0"/>
                <a:cs typeface="Times New Roman" panose="02020603050405020304" pitchFamily="18" charset="0"/>
              </a:rPr>
              <a:t>，消除了传递依赖，满足第三范式。</a:t>
            </a:r>
            <a:endParaRPr lang="zh-CN" altLang="zh-CN" dirty="0">
              <a:latin typeface="Times New Roman" panose="02020603050405020304" pitchFamily="18" charset="0"/>
              <a:cs typeface="Times New Roman" panose="02020603050405020304" pitchFamily="18" charset="0"/>
            </a:endParaRPr>
          </a:p>
          <a:p>
            <a:endParaRPr lang="zh-CN" altLang="zh-CN" dirty="0">
              <a:latin typeface="Times New Roman" panose="02020603050405020304" pitchFamily="18" charset="0"/>
              <a:cs typeface="Times New Roman" panose="02020603050405020304" pitchFamily="18" charset="0"/>
            </a:endParaRPr>
          </a:p>
          <a:p>
            <a:endParaRPr kumimoji="1"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err="1">
                <a:solidFill>
                  <a:srgbClr val="0B1F33"/>
                </a:solidFill>
                <a:latin typeface="Microsoft YaHei" pitchFamily="34" charset="0"/>
                <a:ea typeface="Microsoft YaHei" pitchFamily="34" charset="-122"/>
              </a:rPr>
              <a:t>用户子模式设计与数据字典</a:t>
            </a:r>
            <a:endParaRPr lang="en-US" sz="260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9</a:t>
            </a:r>
            <a:endParaRPr lang="en-US" sz="800" dirty="0"/>
          </a:p>
        </p:txBody>
      </p:sp>
      <p:sp>
        <p:nvSpPr>
          <p:cNvPr id="18" name="文本框 17">
            <a:extLst>
              <a:ext uri="{FF2B5EF4-FFF2-40B4-BE49-F238E27FC236}">
                <a16:creationId xmlns:a16="http://schemas.microsoft.com/office/drawing/2014/main" id="{858A48CB-3560-4367-A006-9F59B4754C38}"/>
              </a:ext>
            </a:extLst>
          </p:cNvPr>
          <p:cNvSpPr txBox="1"/>
          <p:nvPr/>
        </p:nvSpPr>
        <p:spPr>
          <a:xfrm>
            <a:off x="395428" y="985921"/>
            <a:ext cx="11400838" cy="1754326"/>
          </a:xfrm>
          <a:prstGeom prst="rect">
            <a:avLst/>
          </a:prstGeom>
          <a:noFill/>
        </p:spPr>
        <p:txBody>
          <a:bodyPr wrap="square" rtlCol="0">
            <a:spAutoFit/>
          </a:bodyPr>
          <a:lstStyle/>
          <a:p>
            <a:r>
              <a:rPr lang="zh-CN" altLang="zh-CN" b="1" dirty="0">
                <a:latin typeface="SimSun" panose="02010600030101010101" pitchFamily="2" charset="-122"/>
                <a:ea typeface="SimSun" panose="02010600030101010101" pitchFamily="2" charset="-122"/>
              </a:rPr>
              <a:t>根据系统查询和管理需求，本系统在基本表基础上设计若干用户子模式，用于简化常用查询并提高系统可读性</a:t>
            </a:r>
            <a:r>
              <a:rPr lang="zh-CN" altLang="en-US" b="1" dirty="0">
                <a:latin typeface="SimSun" panose="02010600030101010101" pitchFamily="2" charset="-122"/>
                <a:ea typeface="SimSun" panose="02010600030101010101" pitchFamily="2" charset="-122"/>
              </a:rPr>
              <a:t>：</a:t>
            </a:r>
            <a:endParaRPr lang="en-US" altLang="zh-CN" b="1" dirty="0">
              <a:latin typeface="SimSun" panose="02010600030101010101" pitchFamily="2" charset="-122"/>
              <a:ea typeface="SimSun" panose="02010600030101010101" pitchFamily="2" charset="-122"/>
            </a:endParaRPr>
          </a:p>
          <a:p>
            <a:endParaRPr lang="en-US" altLang="zh-CN" dirty="0">
              <a:latin typeface="SimSun" panose="02010600030101010101" pitchFamily="2" charset="-122"/>
              <a:ea typeface="SimSun" panose="02010600030101010101" pitchFamily="2" charset="-122"/>
            </a:endParaRPr>
          </a:p>
          <a:p>
            <a:pPr marL="285750" indent="-285750">
              <a:buFont typeface="Arial" panose="020B0604020202020204" pitchFamily="34" charset="0"/>
              <a:buChar char="•"/>
            </a:pPr>
            <a:r>
              <a:rPr lang="zh-CN" altLang="zh-CN" dirty="0">
                <a:latin typeface="SimSun" panose="02010600030101010101" pitchFamily="2" charset="-122"/>
                <a:ea typeface="SimSun" panose="02010600030101010101" pitchFamily="2" charset="-122"/>
              </a:rPr>
              <a:t>设计各服务点可借物资统计视图，用于查询每个服务点、每种物资类型当前可用数量</a:t>
            </a:r>
            <a:r>
              <a:rPr lang="zh-CN" altLang="en-US" dirty="0">
                <a:latin typeface="SimSun" panose="02010600030101010101" pitchFamily="2" charset="-122"/>
                <a:ea typeface="SimSun" panose="02010600030101010101" pitchFamily="2" charset="-122"/>
              </a:rPr>
              <a:t>；</a:t>
            </a:r>
            <a:endParaRPr lang="en-US" altLang="zh-CN" dirty="0">
              <a:latin typeface="SimSun" panose="02010600030101010101" pitchFamily="2" charset="-122"/>
              <a:ea typeface="SimSun" panose="02010600030101010101" pitchFamily="2" charset="-122"/>
            </a:endParaRPr>
          </a:p>
          <a:p>
            <a:pPr marL="285750" indent="-285750">
              <a:buFont typeface="Arial" panose="020B0604020202020204" pitchFamily="34" charset="0"/>
              <a:buChar char="•"/>
            </a:pPr>
            <a:r>
              <a:rPr lang="zh-CN" altLang="zh-CN" dirty="0">
                <a:latin typeface="SimSun" panose="02010600030101010101" pitchFamily="2" charset="-122"/>
                <a:ea typeface="SimSun" panose="02010600030101010101" pitchFamily="2" charset="-122"/>
              </a:rPr>
              <a:t>设计学生未归还记录视图，用于查询当前仍处于</a:t>
            </a:r>
            <a:r>
              <a:rPr lang="en-US" altLang="zh-CN" dirty="0">
                <a:latin typeface="SimSun" panose="02010600030101010101" pitchFamily="2" charset="-122"/>
                <a:ea typeface="SimSun" panose="02010600030101010101" pitchFamily="2" charset="-122"/>
              </a:rPr>
              <a:t>“</a:t>
            </a:r>
            <a:r>
              <a:rPr lang="zh-CN" altLang="zh-CN" dirty="0">
                <a:latin typeface="SimSun" panose="02010600030101010101" pitchFamily="2" charset="-122"/>
                <a:ea typeface="SimSun" panose="02010600030101010101" pitchFamily="2" charset="-122"/>
              </a:rPr>
              <a:t>借出中</a:t>
            </a:r>
            <a:r>
              <a:rPr lang="en-US" altLang="zh-CN" dirty="0">
                <a:latin typeface="SimSun" panose="02010600030101010101" pitchFamily="2" charset="-122"/>
                <a:ea typeface="SimSun" panose="02010600030101010101" pitchFamily="2" charset="-122"/>
              </a:rPr>
              <a:t>”</a:t>
            </a:r>
            <a:r>
              <a:rPr lang="zh-CN" altLang="zh-CN" dirty="0">
                <a:latin typeface="SimSun" panose="02010600030101010101" pitchFamily="2" charset="-122"/>
                <a:ea typeface="SimSun" panose="02010600030101010101" pitchFamily="2" charset="-122"/>
              </a:rPr>
              <a:t>的借还记录，便于管理员跟踪未归还物资</a:t>
            </a:r>
            <a:r>
              <a:rPr lang="zh-CN" altLang="en-US" dirty="0">
                <a:latin typeface="SimSun" panose="02010600030101010101" pitchFamily="2" charset="-122"/>
                <a:ea typeface="SimSun" panose="02010600030101010101" pitchFamily="2" charset="-122"/>
              </a:rPr>
              <a:t>；</a:t>
            </a:r>
            <a:endParaRPr lang="zh-CN" altLang="zh-CN" dirty="0">
              <a:latin typeface="SimSun" panose="02010600030101010101" pitchFamily="2" charset="-122"/>
              <a:ea typeface="SimSun" panose="02010600030101010101" pitchFamily="2" charset="-122"/>
            </a:endParaRPr>
          </a:p>
          <a:p>
            <a:pPr marL="285750" indent="-285750">
              <a:buFont typeface="Arial" panose="020B0604020202020204" pitchFamily="34" charset="0"/>
              <a:buChar char="•"/>
            </a:pPr>
            <a:r>
              <a:rPr lang="zh-CN" altLang="zh-CN" dirty="0">
                <a:latin typeface="SimSun" panose="02010600030101010101" pitchFamily="2" charset="-122"/>
                <a:ea typeface="SimSun" panose="02010600030101010101" pitchFamily="2" charset="-122"/>
              </a:rPr>
              <a:t>设计逾期记录视图，用于查询超过应还时间且尚未归还的记录，并计算逾期小时数</a:t>
            </a:r>
            <a:r>
              <a:rPr lang="zh-CN" altLang="en-US" dirty="0">
                <a:latin typeface="SimSun" panose="02010600030101010101" pitchFamily="2" charset="-122"/>
                <a:ea typeface="SimSun" panose="02010600030101010101" pitchFamily="2" charset="-122"/>
              </a:rPr>
              <a:t>；</a:t>
            </a:r>
            <a:endParaRPr lang="en-US" altLang="zh-CN" dirty="0">
              <a:latin typeface="SimSun" panose="02010600030101010101" pitchFamily="2" charset="-122"/>
              <a:ea typeface="SimSun" panose="02010600030101010101" pitchFamily="2" charset="-122"/>
            </a:endParaRPr>
          </a:p>
          <a:p>
            <a:pPr marL="285750" indent="-285750">
              <a:buFont typeface="Arial" panose="020B0604020202020204" pitchFamily="34" charset="0"/>
              <a:buChar char="•"/>
            </a:pPr>
            <a:r>
              <a:rPr lang="zh-CN" altLang="zh-CN" dirty="0">
                <a:latin typeface="SimSun" panose="02010600030101010101" pitchFamily="2" charset="-122"/>
                <a:ea typeface="SimSun" panose="02010600030101010101" pitchFamily="2" charset="-122"/>
              </a:rPr>
              <a:t>设计维修统计视图，用于按物资类型和问题类型统计维修次数</a:t>
            </a:r>
            <a:r>
              <a:rPr lang="zh-CN" altLang="en-US" dirty="0">
                <a:latin typeface="SimSun" panose="02010600030101010101" pitchFamily="2" charset="-122"/>
                <a:ea typeface="SimSun" panose="02010600030101010101" pitchFamily="2" charset="-122"/>
              </a:rPr>
              <a:t>。</a:t>
            </a:r>
            <a:endParaRPr lang="zh-CN" altLang="zh-CN" dirty="0">
              <a:latin typeface="SimSun" panose="02010600030101010101" pitchFamily="2" charset="-122"/>
              <a:ea typeface="SimSun" panose="02010600030101010101" pitchFamily="2" charset="-122"/>
            </a:endParaRPr>
          </a:p>
        </p:txBody>
      </p:sp>
      <p:sp>
        <p:nvSpPr>
          <p:cNvPr id="19" name="文本框 18">
            <a:extLst>
              <a:ext uri="{FF2B5EF4-FFF2-40B4-BE49-F238E27FC236}">
                <a16:creationId xmlns:a16="http://schemas.microsoft.com/office/drawing/2014/main" id="{A8C9F128-8434-7E22-8DEB-DAFBF5A6E0E1}"/>
              </a:ext>
            </a:extLst>
          </p:cNvPr>
          <p:cNvSpPr txBox="1"/>
          <p:nvPr/>
        </p:nvSpPr>
        <p:spPr>
          <a:xfrm>
            <a:off x="395427" y="3057322"/>
            <a:ext cx="11281707" cy="3108543"/>
          </a:xfrm>
          <a:prstGeom prst="rect">
            <a:avLst/>
          </a:prstGeom>
          <a:noFill/>
        </p:spPr>
        <p:txBody>
          <a:bodyPr wrap="square" rtlCol="0">
            <a:spAutoFit/>
          </a:bodyPr>
          <a:lstStyle/>
          <a:p>
            <a:r>
              <a:rPr lang="zh-CN" altLang="en-US" b="1" dirty="0">
                <a:latin typeface="SimSun" panose="02010600030101010101" pitchFamily="2" charset="-122"/>
                <a:ea typeface="SimSun" panose="02010600030101010101" pitchFamily="2" charset="-122"/>
              </a:rPr>
              <a:t>数据字典说明</a:t>
            </a:r>
            <a:endParaRPr lang="en-US" altLang="zh-CN" b="1" dirty="0">
              <a:latin typeface="SimSun" panose="02010600030101010101" pitchFamily="2" charset="-122"/>
              <a:ea typeface="SimSun" panose="02010600030101010101" pitchFamily="2" charset="-122"/>
            </a:endParaRPr>
          </a:p>
          <a:p>
            <a:endParaRPr lang="en-US" altLang="zh-CN" b="1" dirty="0">
              <a:latin typeface="SimSun" panose="02010600030101010101" pitchFamily="2" charset="-122"/>
              <a:ea typeface="SimSun" panose="02010600030101010101" pitchFamily="2" charset="-122"/>
            </a:endParaRPr>
          </a:p>
          <a:p>
            <a:pPr marL="171450" indent="-171450">
              <a:buFont typeface="Arial" panose="020B0604020202020204" pitchFamily="34" charset="0"/>
              <a:buChar char="•"/>
            </a:pPr>
            <a:r>
              <a:rPr lang="zh-CN" altLang="zh-CN" sz="1600" dirty="0">
                <a:solidFill>
                  <a:schemeClr val="accent5"/>
                </a:solidFill>
              </a:rPr>
              <a:t>核心数据项</a:t>
            </a:r>
            <a:r>
              <a:rPr lang="zh-CN" altLang="en-US" sz="1600" dirty="0">
                <a:solidFill>
                  <a:schemeClr val="accent5"/>
                </a:solidFill>
              </a:rPr>
              <a:t>：</a:t>
            </a:r>
            <a:r>
              <a:rPr lang="zh-CN" altLang="zh-CN" sz="1600" dirty="0"/>
              <a:t>包括学号、工号、服务点编号、物资编号、借还流水号、维修记录编号、信用记录编号等</a:t>
            </a:r>
            <a:r>
              <a:rPr lang="zh-CN" altLang="en-US" sz="1600" dirty="0"/>
              <a:t>；</a:t>
            </a:r>
            <a:endParaRPr lang="en-US" altLang="zh-CN" sz="1600" dirty="0"/>
          </a:p>
          <a:p>
            <a:pPr marL="171450" indent="-171450">
              <a:buFont typeface="Arial" panose="020B0604020202020204" pitchFamily="34" charset="0"/>
              <a:buChar char="•"/>
            </a:pPr>
            <a:r>
              <a:rPr lang="zh-CN" altLang="zh-CN" sz="1600" dirty="0">
                <a:solidFill>
                  <a:schemeClr val="accent5"/>
                </a:solidFill>
              </a:rPr>
              <a:t>核心数据结构</a:t>
            </a:r>
            <a:r>
              <a:rPr lang="zh-CN" altLang="en-US" sz="1600" dirty="0">
                <a:solidFill>
                  <a:schemeClr val="accent5"/>
                </a:solidFill>
              </a:rPr>
              <a:t>：</a:t>
            </a:r>
            <a:r>
              <a:rPr lang="zh-CN" altLang="zh-CN" sz="1600" dirty="0"/>
              <a:t>包括学生基本信息、具体物资信息、服务点库存配置、物资借还记录、维修记录和信用记录。它们分别对应系统的主要实体和业务记录</a:t>
            </a:r>
            <a:r>
              <a:rPr lang="zh-CN" altLang="en-US" sz="1600" dirty="0"/>
              <a:t>；</a:t>
            </a:r>
            <a:endParaRPr lang="zh-CN" altLang="zh-CN" sz="1600" dirty="0"/>
          </a:p>
          <a:p>
            <a:pPr marL="171450" indent="-171450">
              <a:buFont typeface="Arial" panose="020B0604020202020204" pitchFamily="34" charset="0"/>
              <a:buChar char="•"/>
            </a:pPr>
            <a:r>
              <a:rPr lang="zh-CN" altLang="zh-CN" sz="1600" dirty="0">
                <a:solidFill>
                  <a:schemeClr val="accent5"/>
                </a:solidFill>
              </a:rPr>
              <a:t>核心数据流</a:t>
            </a:r>
            <a:r>
              <a:rPr lang="zh-CN" altLang="en-US" sz="1600" dirty="0">
                <a:solidFill>
                  <a:schemeClr val="accent5"/>
                </a:solidFill>
              </a:rPr>
              <a:t>：</a:t>
            </a:r>
            <a:r>
              <a:rPr lang="zh-CN" altLang="zh-CN" sz="1600" dirty="0"/>
              <a:t>包括物资借用请求、物资归还确认、维修登记请求、信用扣分通知和库存查询请求。物资借用请求由学生发起，系统根据服务点和物资类型查找可用物资；物资归还确认由管理员处理，系统更新借还记录和物资状态；信用扣分通知在逾期归还时由系统自动生成</a:t>
            </a:r>
            <a:r>
              <a:rPr lang="zh-CN" altLang="en-US" sz="1600" dirty="0"/>
              <a:t>；</a:t>
            </a:r>
            <a:endParaRPr lang="zh-CN" altLang="zh-CN" sz="1600" dirty="0"/>
          </a:p>
          <a:p>
            <a:pPr marL="171450" indent="-171450">
              <a:buFont typeface="Arial" panose="020B0604020202020204" pitchFamily="34" charset="0"/>
              <a:buChar char="•"/>
            </a:pPr>
            <a:r>
              <a:rPr lang="zh-CN" altLang="zh-CN" sz="1600" dirty="0">
                <a:solidFill>
                  <a:schemeClr val="accent5"/>
                </a:solidFill>
              </a:rPr>
              <a:t>核心数据存储</a:t>
            </a:r>
            <a:r>
              <a:rPr lang="zh-CN" altLang="en-US" sz="1600" dirty="0">
                <a:solidFill>
                  <a:schemeClr val="accent5"/>
                </a:solidFill>
              </a:rPr>
              <a:t>：</a:t>
            </a:r>
            <a:r>
              <a:rPr lang="zh-CN" altLang="zh-CN" sz="1600" dirty="0"/>
              <a:t>包括学生信息、物资资产、借还记录、维修记录、信用记录和操作日志。这些数据存储在</a:t>
            </a:r>
            <a:r>
              <a:rPr lang="en-US" altLang="zh-CN" sz="1600" dirty="0">
                <a:latin typeface="Times New Roman" panose="02020603050405020304" pitchFamily="18" charset="0"/>
                <a:cs typeface="Times New Roman" panose="02020603050405020304" pitchFamily="18" charset="0"/>
              </a:rPr>
              <a:t>MySQL</a:t>
            </a:r>
            <a:r>
              <a:rPr lang="zh-CN" altLang="zh-CN" sz="1600" dirty="0"/>
              <a:t>的基本表中，并通过主键、外键和约束保证数据一致性</a:t>
            </a:r>
            <a:r>
              <a:rPr lang="zh-CN" altLang="en-US" sz="1600" dirty="0"/>
              <a:t>；</a:t>
            </a:r>
            <a:endParaRPr lang="zh-CN" altLang="zh-CN" sz="1600" dirty="0"/>
          </a:p>
          <a:p>
            <a:pPr marL="171450" indent="-171450">
              <a:buFont typeface="Arial" panose="020B0604020202020204" pitchFamily="34" charset="0"/>
              <a:buChar char="•"/>
            </a:pPr>
            <a:r>
              <a:rPr lang="zh-CN" altLang="zh-CN" sz="1600" dirty="0">
                <a:solidFill>
                  <a:schemeClr val="accent5"/>
                </a:solidFill>
              </a:rPr>
              <a:t>核心处理过程</a:t>
            </a:r>
            <a:r>
              <a:rPr lang="zh-CN" altLang="en-US" sz="1600" dirty="0">
                <a:solidFill>
                  <a:schemeClr val="accent5"/>
                </a:solidFill>
              </a:rPr>
              <a:t>：</a:t>
            </a:r>
            <a:r>
              <a:rPr lang="zh-CN" altLang="zh-CN" sz="1600" dirty="0"/>
              <a:t>包括借出物资处理、归还物资处理、逾期扣分处理和维修记录处理。借出和归还流程在数据库实施中通过存储过程实现，逾期扣分通过触发器实现。 </a:t>
            </a:r>
            <a:endParaRPr kumimoji="1" lang="zh-CN" alt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物理结构设计：围绕高频查询建立索引</a:t>
            </a:r>
            <a:endParaRPr lang="en-US" sz="2600" dirty="0"/>
          </a:p>
        </p:txBody>
      </p:sp>
      <p:sp>
        <p:nvSpPr>
          <p:cNvPr id="5" name="Text 3"/>
          <p:cNvSpPr/>
          <p:nvPr/>
        </p:nvSpPr>
        <p:spPr>
          <a:xfrm>
            <a:off x="530352" y="749808"/>
            <a:ext cx="8961120" cy="246888"/>
          </a:xfrm>
          <a:prstGeom prst="rect">
            <a:avLst/>
          </a:prstGeom>
          <a:noFill/>
          <a:ln/>
        </p:spPr>
        <p:txBody>
          <a:bodyPr wrap="square" lIns="0" tIns="0" rIns="0" bIns="0" rtlCol="0" anchor="ctr"/>
          <a:lstStyle/>
          <a:p>
            <a:pPr marL="0" indent="0">
              <a:buNone/>
            </a:pPr>
            <a:r>
              <a:rPr lang="en-US" sz="1050" dirty="0">
                <a:solidFill>
                  <a:srgbClr val="64748B"/>
                </a:solidFill>
                <a:latin typeface="Microsoft YaHei" pitchFamily="34" charset="0"/>
                <a:ea typeface="Microsoft YaHei" pitchFamily="34" charset="-122"/>
                <a:cs typeface="Microsoft YaHei" pitchFamily="34" charset="-120"/>
              </a:rPr>
              <a:t>物理设计重点是存取方法，而本项目主要体现为索引设计</a:t>
            </a:r>
            <a:endParaRPr lang="en-US" sz="105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10</a:t>
            </a:r>
            <a:endParaRPr lang="en-US" sz="800" dirty="0"/>
          </a:p>
        </p:txBody>
      </p:sp>
      <p:sp>
        <p:nvSpPr>
          <p:cNvPr id="7" name="Text 5"/>
          <p:cNvSpPr/>
          <p:nvPr/>
        </p:nvSpPr>
        <p:spPr>
          <a:xfrm>
            <a:off x="822960" y="1143000"/>
            <a:ext cx="2743200" cy="274320"/>
          </a:xfrm>
          <a:prstGeom prst="rect">
            <a:avLst/>
          </a:prstGeom>
          <a:noFill/>
          <a:ln/>
        </p:spPr>
        <p:txBody>
          <a:bodyPr wrap="square" lIns="0" tIns="0" rIns="0" bIns="0" rtlCol="0" anchor="ctr"/>
          <a:lstStyle/>
          <a:p>
            <a:pPr marL="0" indent="0" algn="ctr">
              <a:buNone/>
            </a:pPr>
            <a:r>
              <a:rPr lang="en-US" sz="1400" b="1" dirty="0">
                <a:solidFill>
                  <a:srgbClr val="0B1F33"/>
                </a:solidFill>
                <a:latin typeface="Times New Roman" panose="02020603050405020304" pitchFamily="18" charset="0"/>
                <a:ea typeface="Microsoft YaHei" pitchFamily="34" charset="-122"/>
                <a:cs typeface="Times New Roman" panose="02020603050405020304" pitchFamily="18" charset="0"/>
              </a:rPr>
              <a:t>索引名</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3703320" y="1143000"/>
            <a:ext cx="3749040" cy="274320"/>
          </a:xfrm>
          <a:prstGeom prst="rect">
            <a:avLst/>
          </a:prstGeom>
          <a:noFill/>
          <a:ln/>
        </p:spPr>
        <p:txBody>
          <a:bodyPr wrap="square" lIns="0" tIns="0" rIns="0" bIns="0" rtlCol="0" anchor="ctr"/>
          <a:lstStyle/>
          <a:p>
            <a:pPr marL="0" indent="0" algn="ctr">
              <a:buNone/>
            </a:pPr>
            <a:r>
              <a:rPr lang="en-US" sz="1400" b="1" dirty="0">
                <a:solidFill>
                  <a:srgbClr val="0B1F33"/>
                </a:solidFill>
                <a:latin typeface="Times New Roman" panose="02020603050405020304" pitchFamily="18" charset="0"/>
                <a:ea typeface="Microsoft YaHei" pitchFamily="34" charset="-122"/>
                <a:cs typeface="Times New Roman" panose="02020603050405020304" pitchFamily="18" charset="0"/>
              </a:rPr>
              <a:t>字段</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7726680" y="1143000"/>
            <a:ext cx="3474720" cy="274320"/>
          </a:xfrm>
          <a:prstGeom prst="rect">
            <a:avLst/>
          </a:prstGeom>
          <a:noFill/>
          <a:ln/>
        </p:spPr>
        <p:txBody>
          <a:bodyPr wrap="square" lIns="0" tIns="0" rIns="0" bIns="0" rtlCol="0" anchor="ctr"/>
          <a:lstStyle/>
          <a:p>
            <a:pPr marL="0" indent="0" algn="ctr">
              <a:buNone/>
            </a:pPr>
            <a:r>
              <a:rPr lang="en-US" sz="1400" b="1" dirty="0">
                <a:solidFill>
                  <a:srgbClr val="0B1F33"/>
                </a:solidFill>
                <a:latin typeface="Times New Roman" panose="02020603050405020304" pitchFamily="18" charset="0"/>
                <a:ea typeface="Microsoft YaHei" pitchFamily="34" charset="-122"/>
                <a:cs typeface="Times New Roman" panose="02020603050405020304" pitchFamily="18" charset="0"/>
              </a:rPr>
              <a:t>作用</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777240" y="1508760"/>
            <a:ext cx="2743200" cy="384048"/>
          </a:xfrm>
          <a:prstGeom prst="rect">
            <a:avLst/>
          </a:prstGeom>
          <a:solidFill>
            <a:srgbClr val="FFFFFF"/>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idx_student_college</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3611880" y="1508760"/>
            <a:ext cx="3840480" cy="384048"/>
          </a:xfrm>
          <a:prstGeom prst="rect">
            <a:avLst/>
          </a:prstGeom>
          <a:solidFill>
            <a:srgbClr val="FFFFFF"/>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student(college_id)</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7543800" y="1508760"/>
            <a:ext cx="3657600" cy="384048"/>
          </a:xfrm>
          <a:prstGeom prst="rect">
            <a:avLst/>
          </a:prstGeom>
          <a:solidFill>
            <a:srgbClr val="FFFFFF"/>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按学院查询学生</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777240" y="2029968"/>
            <a:ext cx="2743200" cy="384048"/>
          </a:xfrm>
          <a:prstGeom prst="rect">
            <a:avLst/>
          </a:prstGeom>
          <a:solidFill>
            <a:srgbClr val="F8FAFC"/>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idx_item_station_type_status</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3611880" y="2029968"/>
            <a:ext cx="3840480" cy="384048"/>
          </a:xfrm>
          <a:prstGeom prst="rect">
            <a:avLst/>
          </a:prstGeom>
          <a:solidFill>
            <a:srgbClr val="F8FAFC"/>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item_asset(station_id,type_id,status)</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7543800" y="2029968"/>
            <a:ext cx="3657600" cy="384048"/>
          </a:xfrm>
          <a:prstGeom prst="rect">
            <a:avLst/>
          </a:prstGeom>
          <a:solidFill>
            <a:srgbClr val="F8FAFC"/>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借出时查找可用物资</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777240" y="2551176"/>
            <a:ext cx="2743200" cy="384048"/>
          </a:xfrm>
          <a:prstGeom prst="rect">
            <a:avLst/>
          </a:prstGeom>
          <a:solidFill>
            <a:srgbClr val="FFFFFF"/>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idx_borrow_student_status</a:t>
            </a:r>
            <a:endParaRPr lang="en-US" sz="1400" dirty="0">
              <a:latin typeface="Times New Roman" panose="02020603050405020304" pitchFamily="18" charset="0"/>
              <a:cs typeface="Times New Roman" panose="02020603050405020304" pitchFamily="18" charset="0"/>
            </a:endParaRPr>
          </a:p>
        </p:txBody>
      </p:sp>
      <p:sp>
        <p:nvSpPr>
          <p:cNvPr id="17" name="Text 15"/>
          <p:cNvSpPr/>
          <p:nvPr/>
        </p:nvSpPr>
        <p:spPr>
          <a:xfrm>
            <a:off x="3611880" y="2551176"/>
            <a:ext cx="3840480" cy="384048"/>
          </a:xfrm>
          <a:prstGeom prst="rect">
            <a:avLst/>
          </a:prstGeom>
          <a:solidFill>
            <a:srgbClr val="FFFFFF"/>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borrow_record(student_id,borrow_status)</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7543800" y="2551176"/>
            <a:ext cx="3657600" cy="384048"/>
          </a:xfrm>
          <a:prstGeom prst="rect">
            <a:avLst/>
          </a:prstGeom>
          <a:solidFill>
            <a:srgbClr val="FFFFFF"/>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查询学生借还记录</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777240" y="3072384"/>
            <a:ext cx="2743200" cy="384048"/>
          </a:xfrm>
          <a:prstGeom prst="rect">
            <a:avLst/>
          </a:prstGeom>
          <a:solidFill>
            <a:srgbClr val="F8FAFC"/>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idx_borrow_due_time</a:t>
            </a:r>
            <a:endParaRPr lang="en-US" sz="1400" dirty="0">
              <a:latin typeface="Times New Roman" panose="02020603050405020304" pitchFamily="18" charset="0"/>
              <a:cs typeface="Times New Roman" panose="02020603050405020304" pitchFamily="18" charset="0"/>
            </a:endParaRPr>
          </a:p>
        </p:txBody>
      </p:sp>
      <p:sp>
        <p:nvSpPr>
          <p:cNvPr id="20" name="Text 18"/>
          <p:cNvSpPr/>
          <p:nvPr/>
        </p:nvSpPr>
        <p:spPr>
          <a:xfrm>
            <a:off x="3611880" y="3072384"/>
            <a:ext cx="3840480" cy="384048"/>
          </a:xfrm>
          <a:prstGeom prst="rect">
            <a:avLst/>
          </a:prstGeom>
          <a:solidFill>
            <a:srgbClr val="F8FAFC"/>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borrow_record(due_time)</a:t>
            </a:r>
            <a:endParaRPr lang="en-US" sz="1400" dirty="0">
              <a:latin typeface="Times New Roman" panose="02020603050405020304" pitchFamily="18" charset="0"/>
              <a:cs typeface="Times New Roman" panose="02020603050405020304" pitchFamily="18" charset="0"/>
            </a:endParaRPr>
          </a:p>
        </p:txBody>
      </p:sp>
      <p:sp>
        <p:nvSpPr>
          <p:cNvPr id="21" name="Text 19"/>
          <p:cNvSpPr/>
          <p:nvPr/>
        </p:nvSpPr>
        <p:spPr>
          <a:xfrm>
            <a:off x="7543800" y="3072384"/>
            <a:ext cx="3657600" cy="384048"/>
          </a:xfrm>
          <a:prstGeom prst="rect">
            <a:avLst/>
          </a:prstGeom>
          <a:solidFill>
            <a:srgbClr val="F8FAFC"/>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逾期记录查询</a:t>
            </a:r>
            <a:endParaRPr lang="en-US" sz="1400" dirty="0">
              <a:latin typeface="Times New Roman" panose="02020603050405020304" pitchFamily="18" charset="0"/>
              <a:cs typeface="Times New Roman" panose="02020603050405020304" pitchFamily="18" charset="0"/>
            </a:endParaRPr>
          </a:p>
        </p:txBody>
      </p:sp>
      <p:sp>
        <p:nvSpPr>
          <p:cNvPr id="22" name="Text 20"/>
          <p:cNvSpPr/>
          <p:nvPr/>
        </p:nvSpPr>
        <p:spPr>
          <a:xfrm>
            <a:off x="777240" y="3593592"/>
            <a:ext cx="2743200" cy="384048"/>
          </a:xfrm>
          <a:prstGeom prst="rect">
            <a:avLst/>
          </a:prstGeom>
          <a:solidFill>
            <a:srgbClr val="FFFFFF"/>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idx_maintenance_item</a:t>
            </a:r>
            <a:endParaRPr lang="en-US" sz="1400" dirty="0">
              <a:latin typeface="Times New Roman" panose="02020603050405020304" pitchFamily="18" charset="0"/>
              <a:cs typeface="Times New Roman" panose="02020603050405020304" pitchFamily="18" charset="0"/>
            </a:endParaRPr>
          </a:p>
        </p:txBody>
      </p:sp>
      <p:sp>
        <p:nvSpPr>
          <p:cNvPr id="23" name="Text 21"/>
          <p:cNvSpPr/>
          <p:nvPr/>
        </p:nvSpPr>
        <p:spPr>
          <a:xfrm>
            <a:off x="3611880" y="3593592"/>
            <a:ext cx="3840480" cy="384048"/>
          </a:xfrm>
          <a:prstGeom prst="rect">
            <a:avLst/>
          </a:prstGeom>
          <a:solidFill>
            <a:srgbClr val="FFFFFF"/>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maintenance_record(item_id)</a:t>
            </a:r>
            <a:endParaRPr lang="en-US" sz="1400" dirty="0">
              <a:latin typeface="Times New Roman" panose="02020603050405020304" pitchFamily="18" charset="0"/>
              <a:cs typeface="Times New Roman" panose="02020603050405020304" pitchFamily="18" charset="0"/>
            </a:endParaRPr>
          </a:p>
        </p:txBody>
      </p:sp>
      <p:sp>
        <p:nvSpPr>
          <p:cNvPr id="24" name="Text 22"/>
          <p:cNvSpPr/>
          <p:nvPr/>
        </p:nvSpPr>
        <p:spPr>
          <a:xfrm>
            <a:off x="7543800" y="3593592"/>
            <a:ext cx="3657600" cy="384048"/>
          </a:xfrm>
          <a:prstGeom prst="rect">
            <a:avLst/>
          </a:prstGeom>
          <a:solidFill>
            <a:srgbClr val="FFFFFF"/>
          </a:solidFill>
          <a:ln>
            <a:solidFill>
              <a:srgbClr val="CBD5E1"/>
            </a:solidFill>
          </a:ln>
        </p:spPr>
        <p:txBody>
          <a:bodyPr wrap="square" lIns="508" tIns="508" rIns="508" bIns="508" rtlCol="0" anchor="ctr"/>
          <a:lstStyle/>
          <a:p>
            <a:pPr marL="0" indent="0" algn="ctr">
              <a:buNone/>
            </a:pPr>
            <a:r>
              <a:rPr lang="en-US" sz="1400" dirty="0">
                <a:solidFill>
                  <a:srgbClr val="334155"/>
                </a:solidFill>
                <a:latin typeface="Times New Roman" panose="02020603050405020304" pitchFamily="18" charset="0"/>
                <a:ea typeface="Microsoft YaHei" pitchFamily="34" charset="-122"/>
                <a:cs typeface="Times New Roman" panose="02020603050405020304" pitchFamily="18" charset="0"/>
              </a:rPr>
              <a:t>物资维修记录查询</a:t>
            </a:r>
            <a:endParaRPr lang="en-US" sz="1400" dirty="0">
              <a:latin typeface="Times New Roman" panose="02020603050405020304" pitchFamily="18" charset="0"/>
              <a:cs typeface="Times New Roman" panose="02020603050405020304" pitchFamily="18" charset="0"/>
            </a:endParaRPr>
          </a:p>
        </p:txBody>
      </p:sp>
      <p:sp>
        <p:nvSpPr>
          <p:cNvPr id="25" name="Text 23"/>
          <p:cNvSpPr/>
          <p:nvPr/>
        </p:nvSpPr>
        <p:spPr>
          <a:xfrm>
            <a:off x="777240" y="4683211"/>
            <a:ext cx="10424160" cy="812333"/>
          </a:xfrm>
          <a:prstGeom prst="rect">
            <a:avLst/>
          </a:prstGeom>
          <a:solidFill>
            <a:srgbClr val="E0F2FE"/>
          </a:solidFill>
          <a:ln>
            <a:solidFill>
              <a:srgbClr val="075985">
                <a:alpha val="90000"/>
              </a:srgbClr>
            </a:solidFill>
          </a:ln>
        </p:spPr>
        <p:txBody>
          <a:bodyPr wrap="square" rtlCol="0" anchor="t">
            <a:normAutofit fontScale="92500" lnSpcReduction="20000"/>
          </a:bodyPr>
          <a:lstStyle/>
          <a:p>
            <a:pPr marL="0" indent="0">
              <a:buNone/>
            </a:pPr>
            <a:r>
              <a:rPr lang="en-US" sz="2200" b="1" dirty="0" err="1">
                <a:solidFill>
                  <a:srgbClr val="0B1F33"/>
                </a:solidFill>
                <a:latin typeface="Microsoft YaHei" pitchFamily="34" charset="0"/>
                <a:ea typeface="Microsoft YaHei" pitchFamily="34" charset="-122"/>
                <a:cs typeface="Microsoft YaHei" pitchFamily="34" charset="-120"/>
              </a:rPr>
              <a:t>关键联合索引</a:t>
            </a:r>
            <a:endParaRPr lang="en-US" sz="2200" b="1" dirty="0">
              <a:solidFill>
                <a:srgbClr val="0B1F33"/>
              </a:solidFill>
              <a:latin typeface="Microsoft YaHei" pitchFamily="34" charset="0"/>
              <a:ea typeface="Microsoft YaHei" pitchFamily="34" charset="-122"/>
              <a:cs typeface="Microsoft YaHei" pitchFamily="34" charset="-120"/>
            </a:endParaRPr>
          </a:p>
          <a:p>
            <a:pPr marL="0" indent="0">
              <a:buNone/>
            </a:pPr>
            <a:endParaRPr lang="en-US" dirty="0"/>
          </a:p>
          <a:p>
            <a:pPr marL="0" indent="0">
              <a:buNone/>
            </a:pPr>
            <a:r>
              <a:rPr lang="en-US" sz="1700" dirty="0">
                <a:solidFill>
                  <a:srgbClr val="334155"/>
                </a:solidFill>
                <a:latin typeface="Times New Roman" panose="02020603050405020304" pitchFamily="18" charset="0"/>
                <a:ea typeface="Microsoft YaHei" pitchFamily="34" charset="-122"/>
                <a:cs typeface="Times New Roman" panose="02020603050405020304" pitchFamily="18" charset="0"/>
              </a:rPr>
              <a:t>idx_item_station_type_status </a:t>
            </a:r>
            <a:r>
              <a:rPr lang="en-US" sz="1700" dirty="0" err="1">
                <a:solidFill>
                  <a:srgbClr val="334155"/>
                </a:solidFill>
                <a:latin typeface="Times New Roman" panose="02020603050405020304" pitchFamily="18" charset="0"/>
                <a:ea typeface="Microsoft YaHei" pitchFamily="34" charset="-122"/>
                <a:cs typeface="Times New Roman" panose="02020603050405020304" pitchFamily="18" charset="0"/>
              </a:rPr>
              <a:t>支撑借出流程：按服务点</a:t>
            </a:r>
            <a:r>
              <a:rPr lang="en-US" sz="1700" dirty="0">
                <a:solidFill>
                  <a:srgbClr val="334155"/>
                </a:solidFill>
                <a:latin typeface="Times New Roman" panose="02020603050405020304" pitchFamily="18" charset="0"/>
                <a:ea typeface="Microsoft YaHei" pitchFamily="34" charset="-122"/>
                <a:cs typeface="Times New Roman" panose="02020603050405020304" pitchFamily="18" charset="0"/>
              </a:rPr>
              <a:t> + 类型 + 状态快速定位“可用”物资。</a:t>
            </a: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374904" y="164592"/>
            <a:ext cx="8595360" cy="384048"/>
          </a:xfrm>
          <a:prstGeom prst="rect">
            <a:avLst/>
          </a:prstGeom>
          <a:noFill/>
          <a:ln/>
        </p:spPr>
        <p:txBody>
          <a:bodyPr wrap="square" lIns="0" tIns="0" rIns="0" bIns="0" rtlCol="0" anchor="ctr"/>
          <a:lstStyle/>
          <a:p>
            <a:pPr marL="0" indent="0">
              <a:buNone/>
            </a:pPr>
            <a:r>
              <a:rPr lang="en-US" sz="2600" b="1" dirty="0" err="1">
                <a:solidFill>
                  <a:srgbClr val="0B1F33"/>
                </a:solidFill>
                <a:latin typeface="Microsoft YaHei" pitchFamily="34" charset="0"/>
                <a:ea typeface="Microsoft YaHei" pitchFamily="34" charset="-122"/>
                <a:cs typeface="Microsoft YaHei" pitchFamily="34" charset="-120"/>
              </a:rPr>
              <a:t>数据库实施：创建库与基本表</a:t>
            </a:r>
            <a:endParaRPr lang="en-US" sz="260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11</a:t>
            </a:r>
            <a:endParaRPr lang="en-US" sz="800" dirty="0"/>
          </a:p>
        </p:txBody>
      </p:sp>
      <p:pic>
        <p:nvPicPr>
          <p:cNvPr id="7" name="Image 0" descr="/mnt/data/docx_media/word/media/image7.png"/>
          <p:cNvPicPr>
            <a:picLocks noChangeAspect="1"/>
          </p:cNvPicPr>
          <p:nvPr/>
        </p:nvPicPr>
        <p:blipFill>
          <a:blip r:embed="rId3"/>
          <a:stretch>
            <a:fillRect/>
          </a:stretch>
        </p:blipFill>
        <p:spPr>
          <a:xfrm>
            <a:off x="7660396" y="1441125"/>
            <a:ext cx="3481656" cy="3314639"/>
          </a:xfrm>
          <a:prstGeom prst="rect">
            <a:avLst/>
          </a:prstGeom>
        </p:spPr>
      </p:pic>
      <p:sp>
        <p:nvSpPr>
          <p:cNvPr id="10" name="Text 5"/>
          <p:cNvSpPr/>
          <p:nvPr/>
        </p:nvSpPr>
        <p:spPr>
          <a:xfrm>
            <a:off x="8817024" y="4921881"/>
            <a:ext cx="1168400" cy="262778"/>
          </a:xfrm>
          <a:prstGeom prst="rect">
            <a:avLst/>
          </a:prstGeom>
          <a:noFill/>
          <a:ln/>
        </p:spPr>
        <p:txBody>
          <a:bodyPr wrap="square" lIns="0" tIns="0" rIns="0" bIns="0" rtlCol="0" anchor="ctr"/>
          <a:lstStyle/>
          <a:p>
            <a:pPr marL="0" indent="0">
              <a:buNone/>
            </a:pPr>
            <a:r>
              <a:rPr lang="en-US" sz="900" dirty="0">
                <a:solidFill>
                  <a:srgbClr val="64748B"/>
                </a:solidFill>
                <a:latin typeface="Microsoft YaHei" pitchFamily="34" charset="0"/>
                <a:ea typeface="Microsoft YaHei" pitchFamily="34" charset="-122"/>
                <a:cs typeface="Microsoft YaHei" pitchFamily="34" charset="-120"/>
              </a:rPr>
              <a:t>12 张基本表创建结果</a:t>
            </a:r>
            <a:endParaRPr lang="en-US" sz="900" dirty="0"/>
          </a:p>
        </p:txBody>
      </p:sp>
      <p:pic>
        <p:nvPicPr>
          <p:cNvPr id="16" name="图片 15">
            <a:extLst>
              <a:ext uri="{FF2B5EF4-FFF2-40B4-BE49-F238E27FC236}">
                <a16:creationId xmlns:a16="http://schemas.microsoft.com/office/drawing/2014/main" id="{EA315686-872D-EBB7-E269-ACEAC32BA838}"/>
              </a:ext>
            </a:extLst>
          </p:cNvPr>
          <p:cNvPicPr>
            <a:picLocks noChangeAspect="1"/>
          </p:cNvPicPr>
          <p:nvPr/>
        </p:nvPicPr>
        <p:blipFill>
          <a:blip r:embed="rId4"/>
          <a:stretch>
            <a:fillRect/>
          </a:stretch>
        </p:blipFill>
        <p:spPr>
          <a:xfrm>
            <a:off x="612164" y="617678"/>
            <a:ext cx="5143297" cy="5805524"/>
          </a:xfrm>
          <a:prstGeom prst="rect">
            <a:avLst/>
          </a:prstGeom>
        </p:spPr>
      </p:pic>
      <p:cxnSp>
        <p:nvCxnSpPr>
          <p:cNvPr id="24" name="直线箭头连接符 23">
            <a:extLst>
              <a:ext uri="{FF2B5EF4-FFF2-40B4-BE49-F238E27FC236}">
                <a16:creationId xmlns:a16="http://schemas.microsoft.com/office/drawing/2014/main" id="{644F925F-2119-3306-624A-A6B91FC269C7}"/>
              </a:ext>
            </a:extLst>
          </p:cNvPr>
          <p:cNvCxnSpPr/>
          <p:nvPr/>
        </p:nvCxnSpPr>
        <p:spPr>
          <a:xfrm>
            <a:off x="6095847" y="3098445"/>
            <a:ext cx="1077113" cy="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pic>
        <p:nvPicPr>
          <p:cNvPr id="25" name="Image 0" descr="/mnt/data/docx_media/word/media/image1.png">
            <a:extLst>
              <a:ext uri="{FF2B5EF4-FFF2-40B4-BE49-F238E27FC236}">
                <a16:creationId xmlns:a16="http://schemas.microsoft.com/office/drawing/2014/main" id="{81656AA5-4A1B-B9B1-DBF3-0E1CB0E55CBF}"/>
              </a:ext>
            </a:extLst>
          </p:cNvPr>
          <p:cNvPicPr>
            <a:picLocks noChangeAspect="1"/>
          </p:cNvPicPr>
          <p:nvPr/>
        </p:nvPicPr>
        <p:blipFill>
          <a:blip r:embed="rId5"/>
          <a:stretch>
            <a:fillRect/>
          </a:stretch>
        </p:blipFill>
        <p:spPr>
          <a:xfrm>
            <a:off x="10199173" y="0"/>
            <a:ext cx="1989207" cy="7772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B0CC8-CE5B-8941-9CD4-60E39A213BA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86E278-3001-02D9-E390-569E84DFE6E3}"/>
              </a:ext>
            </a:extLst>
          </p:cNvPr>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a:extLst>
              <a:ext uri="{FF2B5EF4-FFF2-40B4-BE49-F238E27FC236}">
                <a16:creationId xmlns:a16="http://schemas.microsoft.com/office/drawing/2014/main" id="{8A5B0AB6-2284-728E-4480-4B95D871130D}"/>
              </a:ext>
            </a:extLst>
          </p:cNvPr>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a:extLst>
              <a:ext uri="{FF2B5EF4-FFF2-40B4-BE49-F238E27FC236}">
                <a16:creationId xmlns:a16="http://schemas.microsoft.com/office/drawing/2014/main" id="{DDEFE944-0BB4-B94D-1465-49CC26800750}"/>
              </a:ext>
            </a:extLst>
          </p:cNvPr>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err="1">
                <a:solidFill>
                  <a:srgbClr val="0B1F33"/>
                </a:solidFill>
                <a:latin typeface="Microsoft YaHei" pitchFamily="34" charset="0"/>
                <a:ea typeface="Microsoft YaHei" pitchFamily="34" charset="-122"/>
                <a:cs typeface="Microsoft YaHei" pitchFamily="34" charset="-120"/>
              </a:rPr>
              <a:t>数据库实施：额外约束定义</a:t>
            </a:r>
            <a:endParaRPr lang="en-US" sz="2600" dirty="0"/>
          </a:p>
        </p:txBody>
      </p:sp>
      <p:sp>
        <p:nvSpPr>
          <p:cNvPr id="6" name="Text 4">
            <a:extLst>
              <a:ext uri="{FF2B5EF4-FFF2-40B4-BE49-F238E27FC236}">
                <a16:creationId xmlns:a16="http://schemas.microsoft.com/office/drawing/2014/main" id="{D6BA08E1-192D-2F7B-3374-B0EEFDD48EAD}"/>
              </a:ext>
            </a:extLst>
          </p:cNvPr>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a:t>
            </a:r>
            <a:r>
              <a:rPr lang="en-US" altLang="zh-CN" sz="800" dirty="0">
                <a:solidFill>
                  <a:srgbClr val="64748B"/>
                </a:solidFill>
                <a:latin typeface="Microsoft YaHei" pitchFamily="34" charset="0"/>
                <a:ea typeface="Microsoft YaHei" pitchFamily="34" charset="-122"/>
                <a:cs typeface="Microsoft YaHei" pitchFamily="34" charset="-120"/>
              </a:rPr>
              <a:t>2</a:t>
            </a:r>
            <a:endParaRPr lang="en-US" sz="800" dirty="0"/>
          </a:p>
        </p:txBody>
      </p:sp>
      <p:pic>
        <p:nvPicPr>
          <p:cNvPr id="16" name="图片 15">
            <a:extLst>
              <a:ext uri="{FF2B5EF4-FFF2-40B4-BE49-F238E27FC236}">
                <a16:creationId xmlns:a16="http://schemas.microsoft.com/office/drawing/2014/main" id="{90DE6B84-584E-7538-07F3-C00BBD716865}"/>
              </a:ext>
            </a:extLst>
          </p:cNvPr>
          <p:cNvPicPr>
            <a:picLocks noChangeAspect="1"/>
          </p:cNvPicPr>
          <p:nvPr/>
        </p:nvPicPr>
        <p:blipFill>
          <a:blip r:embed="rId3"/>
          <a:stretch>
            <a:fillRect/>
          </a:stretch>
        </p:blipFill>
        <p:spPr>
          <a:xfrm>
            <a:off x="574040" y="1124425"/>
            <a:ext cx="7016750" cy="4609147"/>
          </a:xfrm>
          <a:prstGeom prst="rect">
            <a:avLst/>
          </a:prstGeom>
        </p:spPr>
      </p:pic>
      <p:sp>
        <p:nvSpPr>
          <p:cNvPr id="17" name="矩形 16">
            <a:extLst>
              <a:ext uri="{FF2B5EF4-FFF2-40B4-BE49-F238E27FC236}">
                <a16:creationId xmlns:a16="http://schemas.microsoft.com/office/drawing/2014/main" id="{378E5972-B7C4-C57D-ED62-2A0086D51E28}"/>
              </a:ext>
            </a:extLst>
          </p:cNvPr>
          <p:cNvSpPr/>
          <p:nvPr/>
        </p:nvSpPr>
        <p:spPr>
          <a:xfrm>
            <a:off x="8292443" y="3117318"/>
            <a:ext cx="2516878" cy="369332"/>
          </a:xfrm>
          <a:prstGeom prst="rect">
            <a:avLst/>
          </a:prstGeom>
          <a:noFill/>
        </p:spPr>
        <p:txBody>
          <a:bodyPr wrap="square" lIns="91440" tIns="45720" rIns="91440" bIns="45720">
            <a:spAutoFit/>
          </a:bodyPr>
          <a:lstStyle/>
          <a:p>
            <a:pPr algn="ctr"/>
            <a:r>
              <a:rPr lang="zh-CN" altLang="en-US" b="0" cap="none" spc="0" dirty="0">
                <a:ln w="0"/>
                <a:solidFill>
                  <a:schemeClr val="accent1"/>
                </a:solidFill>
                <a:effectLst>
                  <a:outerShdw blurRad="38100" dist="25400" dir="5400000" algn="ctr" rotWithShape="0">
                    <a:srgbClr val="6E747A">
                      <a:alpha val="43000"/>
                    </a:srgbClr>
                  </a:outerShdw>
                </a:effectLst>
              </a:rPr>
              <a:t>符合应用场景语义</a:t>
            </a:r>
          </a:p>
        </p:txBody>
      </p:sp>
      <p:pic>
        <p:nvPicPr>
          <p:cNvPr id="18" name="Image 0" descr="/mnt/data/docx_media/word/media/image1.png">
            <a:extLst>
              <a:ext uri="{FF2B5EF4-FFF2-40B4-BE49-F238E27FC236}">
                <a16:creationId xmlns:a16="http://schemas.microsoft.com/office/drawing/2014/main" id="{BF969B65-A5C5-94A7-D304-7F03A64C2782}"/>
              </a:ext>
            </a:extLst>
          </p:cNvPr>
          <p:cNvPicPr>
            <a:picLocks noChangeAspect="1"/>
          </p:cNvPicPr>
          <p:nvPr/>
        </p:nvPicPr>
        <p:blipFill>
          <a:blip r:embed="rId4"/>
          <a:stretch>
            <a:fillRect/>
          </a:stretch>
        </p:blipFill>
        <p:spPr>
          <a:xfrm>
            <a:off x="10202793" y="0"/>
            <a:ext cx="1989207" cy="777240"/>
          </a:xfrm>
          <a:prstGeom prst="rect">
            <a:avLst/>
          </a:prstGeom>
        </p:spPr>
      </p:pic>
    </p:spTree>
    <p:extLst>
      <p:ext uri="{BB962C8B-B14F-4D97-AF65-F5344CB8AC3E}">
        <p14:creationId xmlns:p14="http://schemas.microsoft.com/office/powerpoint/2010/main" val="2736294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2657F-EADC-C57F-75E6-1DDB42139E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4C8F34B-366A-DD98-FFD9-3F04A1180687}"/>
              </a:ext>
            </a:extLst>
          </p:cNvPr>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a:extLst>
              <a:ext uri="{FF2B5EF4-FFF2-40B4-BE49-F238E27FC236}">
                <a16:creationId xmlns:a16="http://schemas.microsoft.com/office/drawing/2014/main" id="{8C42B4AF-D606-2F28-0B42-3C1E0D7DE19E}"/>
              </a:ext>
            </a:extLst>
          </p:cNvPr>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a:extLst>
              <a:ext uri="{FF2B5EF4-FFF2-40B4-BE49-F238E27FC236}">
                <a16:creationId xmlns:a16="http://schemas.microsoft.com/office/drawing/2014/main" id="{B4F8BE20-288B-991E-3905-880A47BACB2A}"/>
              </a:ext>
            </a:extLst>
          </p:cNvPr>
          <p:cNvSpPr/>
          <p:nvPr/>
        </p:nvSpPr>
        <p:spPr>
          <a:xfrm>
            <a:off x="502920" y="184424"/>
            <a:ext cx="8595360" cy="384048"/>
          </a:xfrm>
          <a:prstGeom prst="rect">
            <a:avLst/>
          </a:prstGeom>
          <a:noFill/>
          <a:ln/>
        </p:spPr>
        <p:txBody>
          <a:bodyPr wrap="square" lIns="0" tIns="0" rIns="0" bIns="0" rtlCol="0" anchor="ctr"/>
          <a:lstStyle/>
          <a:p>
            <a:pPr marL="0" indent="0">
              <a:buNone/>
            </a:pPr>
            <a:r>
              <a:rPr lang="en-US" sz="2600" b="1" dirty="0" err="1">
                <a:solidFill>
                  <a:srgbClr val="0B1F33"/>
                </a:solidFill>
                <a:latin typeface="Microsoft YaHei" pitchFamily="34" charset="0"/>
                <a:ea typeface="Microsoft YaHei" pitchFamily="34" charset="-122"/>
                <a:cs typeface="Microsoft YaHei" pitchFamily="34" charset="-120"/>
              </a:rPr>
              <a:t>数据库实施：索引</a:t>
            </a:r>
            <a:endParaRPr lang="en-US" sz="2600" dirty="0"/>
          </a:p>
        </p:txBody>
      </p:sp>
      <p:sp>
        <p:nvSpPr>
          <p:cNvPr id="6" name="Text 4">
            <a:extLst>
              <a:ext uri="{FF2B5EF4-FFF2-40B4-BE49-F238E27FC236}">
                <a16:creationId xmlns:a16="http://schemas.microsoft.com/office/drawing/2014/main" id="{76486378-FE32-C025-D8BD-9355916E13E5}"/>
              </a:ext>
            </a:extLst>
          </p:cNvPr>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a:t>
            </a:r>
            <a:r>
              <a:rPr lang="en-US" altLang="zh-CN" sz="800" dirty="0">
                <a:solidFill>
                  <a:srgbClr val="64748B"/>
                </a:solidFill>
                <a:latin typeface="Microsoft YaHei" pitchFamily="34" charset="0"/>
                <a:ea typeface="Microsoft YaHei" pitchFamily="34" charset="-122"/>
                <a:cs typeface="Microsoft YaHei" pitchFamily="34" charset="-120"/>
              </a:rPr>
              <a:t>3</a:t>
            </a:r>
            <a:endParaRPr lang="en-US" sz="800" dirty="0"/>
          </a:p>
        </p:txBody>
      </p:sp>
      <p:pic>
        <p:nvPicPr>
          <p:cNvPr id="16" name="图片 15">
            <a:extLst>
              <a:ext uri="{FF2B5EF4-FFF2-40B4-BE49-F238E27FC236}">
                <a16:creationId xmlns:a16="http://schemas.microsoft.com/office/drawing/2014/main" id="{47853FFB-D0B5-E80F-938C-5AFDE0DFEA58}"/>
              </a:ext>
            </a:extLst>
          </p:cNvPr>
          <p:cNvPicPr>
            <a:picLocks noChangeAspect="1"/>
          </p:cNvPicPr>
          <p:nvPr/>
        </p:nvPicPr>
        <p:blipFill>
          <a:blip r:embed="rId3"/>
          <a:stretch>
            <a:fillRect/>
          </a:stretch>
        </p:blipFill>
        <p:spPr>
          <a:xfrm>
            <a:off x="502920" y="680329"/>
            <a:ext cx="5806440" cy="1801999"/>
          </a:xfrm>
          <a:prstGeom prst="rect">
            <a:avLst/>
          </a:prstGeom>
        </p:spPr>
      </p:pic>
      <p:pic>
        <p:nvPicPr>
          <p:cNvPr id="20" name="图片 19">
            <a:extLst>
              <a:ext uri="{FF2B5EF4-FFF2-40B4-BE49-F238E27FC236}">
                <a16:creationId xmlns:a16="http://schemas.microsoft.com/office/drawing/2014/main" id="{BB28F53E-76F1-606B-034F-5546CDF49A6F}"/>
              </a:ext>
            </a:extLst>
          </p:cNvPr>
          <p:cNvPicPr>
            <a:picLocks noChangeAspect="1"/>
          </p:cNvPicPr>
          <p:nvPr/>
        </p:nvPicPr>
        <p:blipFill>
          <a:blip r:embed="rId4"/>
          <a:stretch>
            <a:fillRect/>
          </a:stretch>
        </p:blipFill>
        <p:spPr>
          <a:xfrm>
            <a:off x="899225" y="2738241"/>
            <a:ext cx="10522860" cy="562790"/>
          </a:xfrm>
          <a:prstGeom prst="rect">
            <a:avLst/>
          </a:prstGeom>
        </p:spPr>
      </p:pic>
      <p:pic>
        <p:nvPicPr>
          <p:cNvPr id="22" name="图片 21">
            <a:extLst>
              <a:ext uri="{FF2B5EF4-FFF2-40B4-BE49-F238E27FC236}">
                <a16:creationId xmlns:a16="http://schemas.microsoft.com/office/drawing/2014/main" id="{6FBB8389-6C2B-B609-8F7F-515A534D04A3}"/>
              </a:ext>
            </a:extLst>
          </p:cNvPr>
          <p:cNvPicPr>
            <a:picLocks noChangeAspect="1"/>
          </p:cNvPicPr>
          <p:nvPr/>
        </p:nvPicPr>
        <p:blipFill>
          <a:blip r:embed="rId5"/>
          <a:stretch>
            <a:fillRect/>
          </a:stretch>
        </p:blipFill>
        <p:spPr>
          <a:xfrm>
            <a:off x="899226" y="3486683"/>
            <a:ext cx="10522860" cy="1205482"/>
          </a:xfrm>
          <a:prstGeom prst="rect">
            <a:avLst/>
          </a:prstGeom>
        </p:spPr>
      </p:pic>
      <p:pic>
        <p:nvPicPr>
          <p:cNvPr id="24" name="图片 23">
            <a:extLst>
              <a:ext uri="{FF2B5EF4-FFF2-40B4-BE49-F238E27FC236}">
                <a16:creationId xmlns:a16="http://schemas.microsoft.com/office/drawing/2014/main" id="{9639357F-F171-D9D9-FF37-8C198EA9BCC6}"/>
              </a:ext>
            </a:extLst>
          </p:cNvPr>
          <p:cNvPicPr>
            <a:picLocks noChangeAspect="1"/>
          </p:cNvPicPr>
          <p:nvPr/>
        </p:nvPicPr>
        <p:blipFill>
          <a:blip r:embed="rId6"/>
          <a:stretch>
            <a:fillRect/>
          </a:stretch>
        </p:blipFill>
        <p:spPr>
          <a:xfrm>
            <a:off x="897624" y="4877817"/>
            <a:ext cx="10522860" cy="1287762"/>
          </a:xfrm>
          <a:prstGeom prst="rect">
            <a:avLst/>
          </a:prstGeom>
        </p:spPr>
      </p:pic>
      <p:pic>
        <p:nvPicPr>
          <p:cNvPr id="25" name="Image 0" descr="/mnt/data/docx_media/word/media/image1.png">
            <a:extLst>
              <a:ext uri="{FF2B5EF4-FFF2-40B4-BE49-F238E27FC236}">
                <a16:creationId xmlns:a16="http://schemas.microsoft.com/office/drawing/2014/main" id="{E2463F5E-9D9B-8715-8E22-C2C7388C0AA5}"/>
              </a:ext>
            </a:extLst>
          </p:cNvPr>
          <p:cNvPicPr>
            <a:picLocks noChangeAspect="1"/>
          </p:cNvPicPr>
          <p:nvPr/>
        </p:nvPicPr>
        <p:blipFill>
          <a:blip r:embed="rId7"/>
          <a:stretch>
            <a:fillRect/>
          </a:stretch>
        </p:blipFill>
        <p:spPr>
          <a:xfrm>
            <a:off x="10199173" y="0"/>
            <a:ext cx="1989207" cy="777240"/>
          </a:xfrm>
          <a:prstGeom prst="rect">
            <a:avLst/>
          </a:prstGeom>
        </p:spPr>
      </p:pic>
      <p:sp>
        <p:nvSpPr>
          <p:cNvPr id="26" name="矩形 25">
            <a:extLst>
              <a:ext uri="{FF2B5EF4-FFF2-40B4-BE49-F238E27FC236}">
                <a16:creationId xmlns:a16="http://schemas.microsoft.com/office/drawing/2014/main" id="{4198B36E-EB0A-227E-0E7D-A2D7595418D0}"/>
              </a:ext>
            </a:extLst>
          </p:cNvPr>
          <p:cNvSpPr/>
          <p:nvPr/>
        </p:nvSpPr>
        <p:spPr>
          <a:xfrm>
            <a:off x="6786032" y="1319718"/>
            <a:ext cx="2698175"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latin typeface="SimSun" panose="02010600030101010101" pitchFamily="2" charset="-122"/>
                <a:ea typeface="SimSun" panose="02010600030101010101" pitchFamily="2" charset="-122"/>
              </a:rPr>
              <a:t>结果如下所示：</a:t>
            </a:r>
          </a:p>
        </p:txBody>
      </p:sp>
    </p:spTree>
    <p:extLst>
      <p:ext uri="{BB962C8B-B14F-4D97-AF65-F5344CB8AC3E}">
        <p14:creationId xmlns:p14="http://schemas.microsoft.com/office/powerpoint/2010/main" val="2782933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55644-3871-89F8-C2F7-7BF692D22C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1A49D9-1BB9-E682-F579-8DA899DAB5A9}"/>
              </a:ext>
            </a:extLst>
          </p:cNvPr>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a:extLst>
              <a:ext uri="{FF2B5EF4-FFF2-40B4-BE49-F238E27FC236}">
                <a16:creationId xmlns:a16="http://schemas.microsoft.com/office/drawing/2014/main" id="{DF489393-6806-344F-36FC-73B4FCC5B0D4}"/>
              </a:ext>
            </a:extLst>
          </p:cNvPr>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a:extLst>
              <a:ext uri="{FF2B5EF4-FFF2-40B4-BE49-F238E27FC236}">
                <a16:creationId xmlns:a16="http://schemas.microsoft.com/office/drawing/2014/main" id="{1A9787EF-B3CC-1417-05D0-2CFD0EF87590}"/>
              </a:ext>
            </a:extLst>
          </p:cNvPr>
          <p:cNvSpPr/>
          <p:nvPr/>
        </p:nvSpPr>
        <p:spPr>
          <a:xfrm>
            <a:off x="377875" y="160020"/>
            <a:ext cx="8595360" cy="384048"/>
          </a:xfrm>
          <a:prstGeom prst="rect">
            <a:avLst/>
          </a:prstGeom>
          <a:noFill/>
          <a:ln/>
        </p:spPr>
        <p:txBody>
          <a:bodyPr wrap="square" lIns="0" tIns="0" rIns="0" bIns="0" rtlCol="0" anchor="ctr"/>
          <a:lstStyle/>
          <a:p>
            <a:pPr marL="0" indent="0">
              <a:buNone/>
            </a:pPr>
            <a:r>
              <a:rPr lang="en-US" sz="2600" b="1" dirty="0" err="1">
                <a:solidFill>
                  <a:srgbClr val="0B1F33"/>
                </a:solidFill>
                <a:latin typeface="Microsoft YaHei" pitchFamily="34" charset="0"/>
                <a:ea typeface="Microsoft YaHei" pitchFamily="34" charset="-122"/>
                <a:cs typeface="Microsoft YaHei" pitchFamily="34" charset="-120"/>
              </a:rPr>
              <a:t>数据库实施：视图</a:t>
            </a:r>
            <a:endParaRPr lang="en-US" sz="2600" dirty="0"/>
          </a:p>
        </p:txBody>
      </p:sp>
      <p:sp>
        <p:nvSpPr>
          <p:cNvPr id="6" name="Text 4">
            <a:extLst>
              <a:ext uri="{FF2B5EF4-FFF2-40B4-BE49-F238E27FC236}">
                <a16:creationId xmlns:a16="http://schemas.microsoft.com/office/drawing/2014/main" id="{2296617E-E1DA-12BF-9D3C-B061BA87E829}"/>
              </a:ext>
            </a:extLst>
          </p:cNvPr>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a:t>
            </a:r>
            <a:r>
              <a:rPr lang="en-US" altLang="zh-CN" sz="800" dirty="0">
                <a:solidFill>
                  <a:srgbClr val="64748B"/>
                </a:solidFill>
                <a:latin typeface="Microsoft YaHei" pitchFamily="34" charset="0"/>
                <a:ea typeface="Microsoft YaHei" pitchFamily="34" charset="-122"/>
                <a:cs typeface="Microsoft YaHei" pitchFamily="34" charset="-120"/>
              </a:rPr>
              <a:t>4</a:t>
            </a:r>
            <a:endParaRPr lang="en-US" sz="800" dirty="0"/>
          </a:p>
        </p:txBody>
      </p:sp>
      <p:pic>
        <p:nvPicPr>
          <p:cNvPr id="16" name="图片 15">
            <a:extLst>
              <a:ext uri="{FF2B5EF4-FFF2-40B4-BE49-F238E27FC236}">
                <a16:creationId xmlns:a16="http://schemas.microsoft.com/office/drawing/2014/main" id="{30ABB606-5257-441A-12E2-C864ED16C1DC}"/>
              </a:ext>
            </a:extLst>
          </p:cNvPr>
          <p:cNvPicPr>
            <a:picLocks noChangeAspect="1"/>
          </p:cNvPicPr>
          <p:nvPr/>
        </p:nvPicPr>
        <p:blipFill>
          <a:blip r:embed="rId3"/>
          <a:stretch>
            <a:fillRect/>
          </a:stretch>
        </p:blipFill>
        <p:spPr>
          <a:xfrm>
            <a:off x="377874" y="704087"/>
            <a:ext cx="10950526" cy="5723499"/>
          </a:xfrm>
          <a:prstGeom prst="rect">
            <a:avLst/>
          </a:prstGeom>
        </p:spPr>
      </p:pic>
      <p:pic>
        <p:nvPicPr>
          <p:cNvPr id="18" name="图片 17">
            <a:extLst>
              <a:ext uri="{FF2B5EF4-FFF2-40B4-BE49-F238E27FC236}">
                <a16:creationId xmlns:a16="http://schemas.microsoft.com/office/drawing/2014/main" id="{EC240469-D38E-02D7-D731-F8BBC0BEFA13}"/>
              </a:ext>
            </a:extLst>
          </p:cNvPr>
          <p:cNvPicPr>
            <a:picLocks noChangeAspect="1"/>
          </p:cNvPicPr>
          <p:nvPr/>
        </p:nvPicPr>
        <p:blipFill>
          <a:blip r:embed="rId4"/>
          <a:stretch>
            <a:fillRect/>
          </a:stretch>
        </p:blipFill>
        <p:spPr>
          <a:xfrm>
            <a:off x="6926465" y="810223"/>
            <a:ext cx="3390900" cy="1320800"/>
          </a:xfrm>
          <a:prstGeom prst="rect">
            <a:avLst/>
          </a:prstGeom>
        </p:spPr>
      </p:pic>
      <p:pic>
        <p:nvPicPr>
          <p:cNvPr id="20" name="图片 19">
            <a:extLst>
              <a:ext uri="{FF2B5EF4-FFF2-40B4-BE49-F238E27FC236}">
                <a16:creationId xmlns:a16="http://schemas.microsoft.com/office/drawing/2014/main" id="{148F62DD-528E-4114-BDF9-4381F693489E}"/>
              </a:ext>
            </a:extLst>
          </p:cNvPr>
          <p:cNvPicPr>
            <a:picLocks noChangeAspect="1"/>
          </p:cNvPicPr>
          <p:nvPr/>
        </p:nvPicPr>
        <p:blipFill>
          <a:blip r:embed="rId5"/>
          <a:stretch>
            <a:fillRect/>
          </a:stretch>
        </p:blipFill>
        <p:spPr>
          <a:xfrm>
            <a:off x="4553635" y="2835110"/>
            <a:ext cx="6464630" cy="505928"/>
          </a:xfrm>
          <a:prstGeom prst="rect">
            <a:avLst/>
          </a:prstGeom>
        </p:spPr>
      </p:pic>
      <p:pic>
        <p:nvPicPr>
          <p:cNvPr id="22" name="图片 21">
            <a:extLst>
              <a:ext uri="{FF2B5EF4-FFF2-40B4-BE49-F238E27FC236}">
                <a16:creationId xmlns:a16="http://schemas.microsoft.com/office/drawing/2014/main" id="{5F1DEC9F-2C1F-70AB-2AD7-575C9B2843BA}"/>
              </a:ext>
            </a:extLst>
          </p:cNvPr>
          <p:cNvPicPr>
            <a:picLocks noChangeAspect="1"/>
          </p:cNvPicPr>
          <p:nvPr/>
        </p:nvPicPr>
        <p:blipFill>
          <a:blip r:embed="rId6"/>
          <a:stretch>
            <a:fillRect/>
          </a:stretch>
        </p:blipFill>
        <p:spPr>
          <a:xfrm>
            <a:off x="4879085" y="4344967"/>
            <a:ext cx="6210300" cy="381000"/>
          </a:xfrm>
          <a:prstGeom prst="rect">
            <a:avLst/>
          </a:prstGeom>
        </p:spPr>
      </p:pic>
      <p:pic>
        <p:nvPicPr>
          <p:cNvPr id="24" name="图片 23">
            <a:extLst>
              <a:ext uri="{FF2B5EF4-FFF2-40B4-BE49-F238E27FC236}">
                <a16:creationId xmlns:a16="http://schemas.microsoft.com/office/drawing/2014/main" id="{BDDA68A4-B436-AFFC-BD45-48529ECBDB53}"/>
              </a:ext>
            </a:extLst>
          </p:cNvPr>
          <p:cNvPicPr>
            <a:picLocks noChangeAspect="1"/>
          </p:cNvPicPr>
          <p:nvPr/>
        </p:nvPicPr>
        <p:blipFill>
          <a:blip r:embed="rId7"/>
          <a:stretch>
            <a:fillRect/>
          </a:stretch>
        </p:blipFill>
        <p:spPr>
          <a:xfrm>
            <a:off x="6733285" y="5472061"/>
            <a:ext cx="2501900" cy="558800"/>
          </a:xfrm>
          <a:prstGeom prst="rect">
            <a:avLst/>
          </a:prstGeom>
        </p:spPr>
      </p:pic>
    </p:spTree>
    <p:extLst>
      <p:ext uri="{BB962C8B-B14F-4D97-AF65-F5344CB8AC3E}">
        <p14:creationId xmlns:p14="http://schemas.microsoft.com/office/powerpoint/2010/main" val="802119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核心机制：借出与归还由存储过程保证一致性</a:t>
            </a:r>
            <a:endParaRPr lang="en-US" sz="2600" dirty="0"/>
          </a:p>
        </p:txBody>
      </p:sp>
      <p:sp>
        <p:nvSpPr>
          <p:cNvPr id="5" name="Text 3"/>
          <p:cNvSpPr/>
          <p:nvPr/>
        </p:nvSpPr>
        <p:spPr>
          <a:xfrm>
            <a:off x="530352" y="749808"/>
            <a:ext cx="8961120" cy="246888"/>
          </a:xfrm>
          <a:prstGeom prst="rect">
            <a:avLst/>
          </a:prstGeom>
          <a:noFill/>
          <a:ln/>
        </p:spPr>
        <p:txBody>
          <a:bodyPr wrap="square" lIns="0" tIns="0" rIns="0" bIns="0" rtlCol="0" anchor="ctr"/>
          <a:lstStyle/>
          <a:p>
            <a:pPr marL="0" indent="0">
              <a:buNone/>
            </a:pPr>
            <a:r>
              <a:rPr lang="en-US" sz="1050" dirty="0">
                <a:solidFill>
                  <a:srgbClr val="64748B"/>
                </a:solidFill>
                <a:latin typeface="Microsoft YaHei" pitchFamily="34" charset="0"/>
                <a:ea typeface="Microsoft YaHei" pitchFamily="34" charset="-122"/>
                <a:cs typeface="Microsoft YaHei" pitchFamily="34" charset="-120"/>
              </a:rPr>
              <a:t>使用事务避免“记录生成但状态未更新”等不一致情况</a:t>
            </a:r>
            <a:endParaRPr lang="en-US" sz="105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a:t>
            </a:r>
            <a:r>
              <a:rPr lang="en-US" altLang="zh-CN" sz="800" dirty="0">
                <a:solidFill>
                  <a:srgbClr val="64748B"/>
                </a:solidFill>
                <a:latin typeface="Microsoft YaHei" pitchFamily="34" charset="0"/>
                <a:ea typeface="Microsoft YaHei" pitchFamily="34" charset="-122"/>
                <a:cs typeface="Microsoft YaHei" pitchFamily="34" charset="-120"/>
              </a:rPr>
              <a:t>5</a:t>
            </a:r>
            <a:endParaRPr lang="en-US" sz="800" dirty="0"/>
          </a:p>
        </p:txBody>
      </p:sp>
      <p:sp>
        <p:nvSpPr>
          <p:cNvPr id="7" name="Text 5"/>
          <p:cNvSpPr/>
          <p:nvPr/>
        </p:nvSpPr>
        <p:spPr>
          <a:xfrm>
            <a:off x="685800" y="1234440"/>
            <a:ext cx="5257800" cy="1315720"/>
          </a:xfrm>
          <a:prstGeom prst="rect">
            <a:avLst/>
          </a:prstGeom>
          <a:solidFill>
            <a:srgbClr val="E0F2FE"/>
          </a:solidFill>
          <a:ln>
            <a:solidFill>
              <a:srgbClr val="075985">
                <a:alpha val="90000"/>
              </a:srgbClr>
            </a:solidFill>
          </a:ln>
        </p:spPr>
        <p:txBody>
          <a:bodyPr wrap="square" rtlCol="0" anchor="t">
            <a:normAutofit/>
          </a:bodyPr>
          <a:lstStyle/>
          <a:p>
            <a:pPr marL="0" indent="0">
              <a:buNone/>
            </a:pPr>
            <a:r>
              <a:rPr lang="en-US" sz="1600" b="1" dirty="0">
                <a:solidFill>
                  <a:srgbClr val="0B1F33"/>
                </a:solidFill>
                <a:latin typeface="Microsoft YaHei" pitchFamily="34" charset="0"/>
                <a:ea typeface="Microsoft YaHei" pitchFamily="34" charset="-122"/>
                <a:cs typeface="Microsoft YaHei" pitchFamily="34" charset="-120"/>
              </a:rPr>
              <a:t>borrow_item 借出物资</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输入：学号、服务点编号、物资类型编号</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① 查找可用物资</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② 插入借还记录</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③ 更新物资状态为“借出中”</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④ 无库存则回滚并报错</a:t>
            </a:r>
            <a:endParaRPr lang="en-US" sz="1600" dirty="0"/>
          </a:p>
        </p:txBody>
      </p:sp>
      <p:sp>
        <p:nvSpPr>
          <p:cNvPr id="8" name="Text 6"/>
          <p:cNvSpPr/>
          <p:nvPr/>
        </p:nvSpPr>
        <p:spPr>
          <a:xfrm>
            <a:off x="685800" y="3320796"/>
            <a:ext cx="5257800" cy="1315720"/>
          </a:xfrm>
          <a:prstGeom prst="rect">
            <a:avLst/>
          </a:prstGeom>
          <a:solidFill>
            <a:srgbClr val="F0FDFA"/>
          </a:solidFill>
          <a:ln>
            <a:solidFill>
              <a:srgbClr val="0F766E">
                <a:alpha val="90000"/>
              </a:srgbClr>
            </a:solidFill>
          </a:ln>
        </p:spPr>
        <p:txBody>
          <a:bodyPr wrap="square" rtlCol="0" anchor="t">
            <a:normAutofit/>
          </a:bodyPr>
          <a:lstStyle/>
          <a:p>
            <a:pPr marL="0" indent="0">
              <a:buNone/>
            </a:pPr>
            <a:r>
              <a:rPr lang="en-US" sz="1600" b="1" dirty="0">
                <a:solidFill>
                  <a:srgbClr val="0B1F33"/>
                </a:solidFill>
                <a:latin typeface="Microsoft YaHei" pitchFamily="34" charset="0"/>
                <a:ea typeface="Microsoft YaHei" pitchFamily="34" charset="-122"/>
                <a:cs typeface="Microsoft YaHei" pitchFamily="34" charset="-120"/>
              </a:rPr>
              <a:t>return_item 归还物资</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输入：借还记录编号、归还服务点编号</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① 检查记录是否有效</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② 更新归还时间与地点</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③ 状态改为“已归还”</a:t>
            </a:r>
            <a:endParaRPr lang="en-US" sz="1600" dirty="0"/>
          </a:p>
          <a:p>
            <a:pPr marL="0" indent="0">
              <a:buNone/>
            </a:pPr>
            <a:r>
              <a:rPr lang="en-US" sz="1200" dirty="0">
                <a:solidFill>
                  <a:srgbClr val="334155"/>
                </a:solidFill>
                <a:latin typeface="Microsoft YaHei" pitchFamily="34" charset="0"/>
                <a:ea typeface="Microsoft YaHei" pitchFamily="34" charset="-122"/>
                <a:cs typeface="Microsoft YaHei" pitchFamily="34" charset="-120"/>
              </a:rPr>
              <a:t>④ 物资状态恢复“可用”</a:t>
            </a:r>
            <a:endParaRPr lang="en-US" sz="1600" dirty="0"/>
          </a:p>
        </p:txBody>
      </p:sp>
      <p:sp>
        <p:nvSpPr>
          <p:cNvPr id="9" name="Text 7"/>
          <p:cNvSpPr/>
          <p:nvPr/>
        </p:nvSpPr>
        <p:spPr>
          <a:xfrm>
            <a:off x="777240" y="5407152"/>
            <a:ext cx="10332720" cy="502920"/>
          </a:xfrm>
          <a:prstGeom prst="rect">
            <a:avLst/>
          </a:prstGeom>
          <a:solidFill>
            <a:srgbClr val="FFFFFF"/>
          </a:solidFill>
          <a:ln>
            <a:solidFill>
              <a:srgbClr val="CBD5E1"/>
            </a:solidFill>
          </a:ln>
        </p:spPr>
        <p:txBody>
          <a:bodyPr wrap="square" lIns="381" tIns="381" rIns="381" bIns="381" rtlCol="0" anchor="ctr"/>
          <a:lstStyle/>
          <a:p>
            <a:pPr marL="0" indent="0" algn="ctr">
              <a:buNone/>
            </a:pPr>
            <a:r>
              <a:rPr lang="en-US" sz="1600" b="1" dirty="0">
                <a:solidFill>
                  <a:srgbClr val="0B1F33"/>
                </a:solidFill>
                <a:latin typeface="Microsoft YaHei" pitchFamily="34" charset="0"/>
                <a:ea typeface="Microsoft YaHei" pitchFamily="34" charset="-122"/>
                <a:cs typeface="Microsoft YaHei" pitchFamily="34" charset="-120"/>
              </a:rPr>
              <a:t>START TRANSACTION  →  业务检查  →  更新多张表  →  COMMIT / ROLLBACK</a:t>
            </a:r>
            <a:endParaRPr lang="en-US" sz="1600" dirty="0"/>
          </a:p>
        </p:txBody>
      </p:sp>
      <p:pic>
        <p:nvPicPr>
          <p:cNvPr id="1028" name="Picture 4" descr="《MySQL 入门教程》第 31 篇 存储过程（一） - 知乎">
            <a:extLst>
              <a:ext uri="{FF2B5EF4-FFF2-40B4-BE49-F238E27FC236}">
                <a16:creationId xmlns:a16="http://schemas.microsoft.com/office/drawing/2014/main" id="{5EEF0FD3-6AD0-BCD5-EE2A-4E6E363F0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4495" y="856996"/>
            <a:ext cx="4283268" cy="41046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06B9C-17E1-CEB6-1788-E4CDE13BD46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DC7C41-EF4C-D043-5700-14926234201A}"/>
              </a:ext>
            </a:extLst>
          </p:cNvPr>
          <p:cNvSpPr/>
          <p:nvPr/>
        </p:nvSpPr>
        <p:spPr>
          <a:xfrm>
            <a:off x="0" y="0"/>
            <a:ext cx="12191695" cy="6858000"/>
          </a:xfrm>
          <a:prstGeom prst="rect">
            <a:avLst/>
          </a:prstGeom>
          <a:solidFill>
            <a:srgbClr val="F8FAFC"/>
          </a:solidFill>
          <a:ln w="12700">
            <a:solidFill>
              <a:srgbClr val="333333">
                <a:alpha val="0"/>
              </a:srgbClr>
            </a:solidFill>
            <a:prstDash val="solid"/>
          </a:ln>
        </p:spPr>
        <p:txBody>
          <a:bodyPr/>
          <a:lstStyle/>
          <a:p>
            <a:endParaRPr lang="zh-CN" altLang="en-US" dirty="0"/>
          </a:p>
        </p:txBody>
      </p:sp>
      <p:sp>
        <p:nvSpPr>
          <p:cNvPr id="3" name="Shape 1">
            <a:extLst>
              <a:ext uri="{FF2B5EF4-FFF2-40B4-BE49-F238E27FC236}">
                <a16:creationId xmlns:a16="http://schemas.microsoft.com/office/drawing/2014/main" id="{5F4FE3E1-B646-C086-0E2D-CB150F114212}"/>
              </a:ext>
            </a:extLst>
          </p:cNvPr>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a:extLst>
              <a:ext uri="{FF2B5EF4-FFF2-40B4-BE49-F238E27FC236}">
                <a16:creationId xmlns:a16="http://schemas.microsoft.com/office/drawing/2014/main" id="{E97E0071-DD91-99FA-E07C-E416E7EE91F2}"/>
              </a:ext>
            </a:extLst>
          </p:cNvPr>
          <p:cNvSpPr/>
          <p:nvPr/>
        </p:nvSpPr>
        <p:spPr>
          <a:xfrm>
            <a:off x="502920" y="155448"/>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存储过程</a:t>
            </a:r>
            <a:r>
              <a:rPr lang="en-US" altLang="zh-CN" sz="2600" b="1" dirty="0">
                <a:solidFill>
                  <a:srgbClr val="0B1F33"/>
                </a:solidFill>
                <a:latin typeface="Microsoft YaHei" pitchFamily="34" charset="0"/>
                <a:ea typeface="Microsoft YaHei" pitchFamily="34" charset="-122"/>
                <a:cs typeface="Microsoft YaHei" pitchFamily="34" charset="-120"/>
              </a:rPr>
              <a:t>1</a:t>
            </a:r>
            <a:endParaRPr lang="en-US" sz="2600" dirty="0"/>
          </a:p>
        </p:txBody>
      </p:sp>
      <p:sp>
        <p:nvSpPr>
          <p:cNvPr id="6" name="Text 4">
            <a:extLst>
              <a:ext uri="{FF2B5EF4-FFF2-40B4-BE49-F238E27FC236}">
                <a16:creationId xmlns:a16="http://schemas.microsoft.com/office/drawing/2014/main" id="{1DCDF669-C3D7-C970-6E43-85F175EDB84B}"/>
              </a:ext>
            </a:extLst>
          </p:cNvPr>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a:t>
            </a:r>
            <a:r>
              <a:rPr lang="en-US" altLang="zh-CN" sz="800" dirty="0">
                <a:solidFill>
                  <a:srgbClr val="64748B"/>
                </a:solidFill>
                <a:latin typeface="Microsoft YaHei" pitchFamily="34" charset="0"/>
                <a:ea typeface="Microsoft YaHei" pitchFamily="34" charset="-122"/>
                <a:cs typeface="Microsoft YaHei" pitchFamily="34" charset="-120"/>
              </a:rPr>
              <a:t>6</a:t>
            </a:r>
            <a:endParaRPr lang="en-US" sz="800" dirty="0"/>
          </a:p>
        </p:txBody>
      </p:sp>
      <p:sp>
        <p:nvSpPr>
          <p:cNvPr id="5" name="文本框 4">
            <a:extLst>
              <a:ext uri="{FF2B5EF4-FFF2-40B4-BE49-F238E27FC236}">
                <a16:creationId xmlns:a16="http://schemas.microsoft.com/office/drawing/2014/main" id="{5652E658-0DD5-D0D7-D7D2-528E05E9CF46}"/>
              </a:ext>
            </a:extLst>
          </p:cNvPr>
          <p:cNvSpPr txBox="1"/>
          <p:nvPr/>
        </p:nvSpPr>
        <p:spPr>
          <a:xfrm>
            <a:off x="1117600" y="1869440"/>
            <a:ext cx="2184400" cy="1391920"/>
          </a:xfrm>
          <a:prstGeom prst="rect">
            <a:avLst/>
          </a:prstGeom>
          <a:noFill/>
        </p:spPr>
        <p:txBody>
          <a:bodyPr wrap="square" rtlCol="0">
            <a:spAutoFit/>
          </a:bodyPr>
          <a:lstStyle/>
          <a:p>
            <a:endParaRPr kumimoji="1" lang="zh-CN" altLang="en-US" dirty="0"/>
          </a:p>
        </p:txBody>
      </p:sp>
      <p:pic>
        <p:nvPicPr>
          <p:cNvPr id="9" name="图片 8">
            <a:extLst>
              <a:ext uri="{FF2B5EF4-FFF2-40B4-BE49-F238E27FC236}">
                <a16:creationId xmlns:a16="http://schemas.microsoft.com/office/drawing/2014/main" id="{9679FFA3-CE92-43F4-D170-91A8561425ED}"/>
              </a:ext>
            </a:extLst>
          </p:cNvPr>
          <p:cNvPicPr>
            <a:picLocks noChangeAspect="1"/>
          </p:cNvPicPr>
          <p:nvPr/>
        </p:nvPicPr>
        <p:blipFill>
          <a:blip r:embed="rId3"/>
          <a:stretch>
            <a:fillRect/>
          </a:stretch>
        </p:blipFill>
        <p:spPr>
          <a:xfrm>
            <a:off x="574547" y="694943"/>
            <a:ext cx="3783461" cy="5425341"/>
          </a:xfrm>
          <a:prstGeom prst="rect">
            <a:avLst/>
          </a:prstGeom>
        </p:spPr>
      </p:pic>
      <p:pic>
        <p:nvPicPr>
          <p:cNvPr id="12" name="图片 11">
            <a:extLst>
              <a:ext uri="{FF2B5EF4-FFF2-40B4-BE49-F238E27FC236}">
                <a16:creationId xmlns:a16="http://schemas.microsoft.com/office/drawing/2014/main" id="{92EB2A6A-DA1B-9012-0C71-F5CFF2D8127A}"/>
              </a:ext>
            </a:extLst>
          </p:cNvPr>
          <p:cNvPicPr>
            <a:picLocks noChangeAspect="1"/>
          </p:cNvPicPr>
          <p:nvPr/>
        </p:nvPicPr>
        <p:blipFill>
          <a:blip r:embed="rId4"/>
          <a:stretch>
            <a:fillRect/>
          </a:stretch>
        </p:blipFill>
        <p:spPr>
          <a:xfrm>
            <a:off x="574547" y="5985975"/>
            <a:ext cx="3783460" cy="435077"/>
          </a:xfrm>
          <a:prstGeom prst="rect">
            <a:avLst/>
          </a:prstGeom>
        </p:spPr>
      </p:pic>
      <p:sp>
        <p:nvSpPr>
          <p:cNvPr id="13" name="文本框 12">
            <a:extLst>
              <a:ext uri="{FF2B5EF4-FFF2-40B4-BE49-F238E27FC236}">
                <a16:creationId xmlns:a16="http://schemas.microsoft.com/office/drawing/2014/main" id="{60A3BC8A-0D4D-1F7E-0780-B2B98E09F6EA}"/>
              </a:ext>
            </a:extLst>
          </p:cNvPr>
          <p:cNvSpPr txBox="1"/>
          <p:nvPr/>
        </p:nvSpPr>
        <p:spPr>
          <a:xfrm>
            <a:off x="4499943" y="1530709"/>
            <a:ext cx="7549816" cy="3970318"/>
          </a:xfrm>
          <a:prstGeom prst="rect">
            <a:avLst/>
          </a:prstGeom>
          <a:noFill/>
        </p:spPr>
        <p:txBody>
          <a:bodyPr wrap="square" rtlCol="0">
            <a:spAutoFit/>
          </a:bodyPr>
          <a:lstStyle/>
          <a:p>
            <a:r>
              <a:rPr lang="zh-CN" altLang="zh-CN" dirty="0">
                <a:latin typeface="Times New Roman" panose="02020603050405020304" pitchFamily="18" charset="0"/>
                <a:ea typeface="SimSun" panose="02010600030101010101" pitchFamily="2" charset="-122"/>
                <a:cs typeface="Times New Roman" panose="02020603050405020304" pitchFamily="18" charset="0"/>
              </a:rPr>
              <a:t>borrow_item 是本系统用于处理物资借出的核心存储过程。</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它接收学生编号、服务点编号和物资类型编号作为输入参数。</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执行时，系统首先在指定服务点中查找一件对应类型且状态为“可用”的具体物资，并使用 FOR UPDATE 对该记录加锁，避免并发情况下同一物资被重复借出。</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如果没有可用物资，系统回滚事务并提示错误；</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如果存在可用物资，系统查询该类物资的可借时长，自动生成借还记录，并将对应物资状态更新为“借出中”。</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整个过程使用事务控制，保证借还记录插入和物资状态更新要么同时成功，要么同时失败。</a:t>
            </a:r>
            <a:endParaRPr kumimoji="1"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48E5AD5B-64D0-E420-01DA-8334E03BBCE7}"/>
              </a:ext>
            </a:extLst>
          </p:cNvPr>
          <p:cNvSpPr txBox="1"/>
          <p:nvPr/>
        </p:nvSpPr>
        <p:spPr>
          <a:xfrm>
            <a:off x="4499943" y="850436"/>
            <a:ext cx="3652520" cy="369332"/>
          </a:xfrm>
          <a:prstGeom prst="rect">
            <a:avLst/>
          </a:prstGeom>
          <a:noFill/>
        </p:spPr>
        <p:txBody>
          <a:bodyPr wrap="square" rtlCol="0">
            <a:spAutoFit/>
          </a:bodyPr>
          <a:lstStyle/>
          <a:p>
            <a:r>
              <a:rPr kumimoji="1" lang="en-US" altLang="zh-CN" dirty="0"/>
              <a:t>Explanation</a:t>
            </a:r>
            <a:r>
              <a:rPr kumimoji="1" lang="zh-CN" altLang="en-US" dirty="0"/>
              <a:t>：</a:t>
            </a:r>
          </a:p>
        </p:txBody>
      </p:sp>
    </p:spTree>
    <p:extLst>
      <p:ext uri="{BB962C8B-B14F-4D97-AF65-F5344CB8AC3E}">
        <p14:creationId xmlns:p14="http://schemas.microsoft.com/office/powerpoint/2010/main" val="1328468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1A8AE-61D5-99E6-C9A5-DC03CD3C174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763AEE-6DF0-B2A0-DA5A-E125BF9C8C51}"/>
              </a:ext>
            </a:extLst>
          </p:cNvPr>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a:extLst>
              <a:ext uri="{FF2B5EF4-FFF2-40B4-BE49-F238E27FC236}">
                <a16:creationId xmlns:a16="http://schemas.microsoft.com/office/drawing/2014/main" id="{1D68B965-F135-BB3C-3485-97403E748010}"/>
              </a:ext>
            </a:extLst>
          </p:cNvPr>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a:extLst>
              <a:ext uri="{FF2B5EF4-FFF2-40B4-BE49-F238E27FC236}">
                <a16:creationId xmlns:a16="http://schemas.microsoft.com/office/drawing/2014/main" id="{C4A8750B-EE67-900D-5531-6387FDED9F57}"/>
              </a:ext>
            </a:extLst>
          </p:cNvPr>
          <p:cNvSpPr/>
          <p:nvPr/>
        </p:nvSpPr>
        <p:spPr>
          <a:xfrm>
            <a:off x="315467" y="164592"/>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存储过程</a:t>
            </a:r>
            <a:r>
              <a:rPr lang="en-US" altLang="zh-CN" sz="2600" b="1" dirty="0">
                <a:solidFill>
                  <a:srgbClr val="0B1F33"/>
                </a:solidFill>
                <a:latin typeface="Microsoft YaHei" pitchFamily="34" charset="0"/>
                <a:ea typeface="Microsoft YaHei" pitchFamily="34" charset="-122"/>
                <a:cs typeface="Microsoft YaHei" pitchFamily="34" charset="-120"/>
              </a:rPr>
              <a:t>2</a:t>
            </a:r>
            <a:endParaRPr lang="en-US" sz="2600" dirty="0"/>
          </a:p>
        </p:txBody>
      </p:sp>
      <p:sp>
        <p:nvSpPr>
          <p:cNvPr id="6" name="Text 4">
            <a:extLst>
              <a:ext uri="{FF2B5EF4-FFF2-40B4-BE49-F238E27FC236}">
                <a16:creationId xmlns:a16="http://schemas.microsoft.com/office/drawing/2014/main" id="{CFB2C189-1F3F-8A47-E9A8-EDCAB3B555ED}"/>
              </a:ext>
            </a:extLst>
          </p:cNvPr>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a:t>
            </a:r>
            <a:r>
              <a:rPr lang="en-US" altLang="zh-CN" sz="800" dirty="0">
                <a:solidFill>
                  <a:srgbClr val="64748B"/>
                </a:solidFill>
                <a:latin typeface="Microsoft YaHei" pitchFamily="34" charset="0"/>
                <a:ea typeface="Microsoft YaHei" pitchFamily="34" charset="-122"/>
                <a:cs typeface="Microsoft YaHei" pitchFamily="34" charset="-120"/>
              </a:rPr>
              <a:t>7</a:t>
            </a:r>
            <a:endParaRPr lang="en-US" sz="800" dirty="0"/>
          </a:p>
        </p:txBody>
      </p:sp>
      <p:pic>
        <p:nvPicPr>
          <p:cNvPr id="7" name="图片 6">
            <a:extLst>
              <a:ext uri="{FF2B5EF4-FFF2-40B4-BE49-F238E27FC236}">
                <a16:creationId xmlns:a16="http://schemas.microsoft.com/office/drawing/2014/main" id="{F89FEE5B-8F9F-8588-F2B8-4130268DB4F5}"/>
              </a:ext>
            </a:extLst>
          </p:cNvPr>
          <p:cNvPicPr>
            <a:picLocks noChangeAspect="1"/>
          </p:cNvPicPr>
          <p:nvPr/>
        </p:nvPicPr>
        <p:blipFill>
          <a:blip r:embed="rId3"/>
          <a:stretch>
            <a:fillRect/>
          </a:stretch>
        </p:blipFill>
        <p:spPr>
          <a:xfrm>
            <a:off x="315467" y="763524"/>
            <a:ext cx="4692420" cy="5669280"/>
          </a:xfrm>
          <a:prstGeom prst="rect">
            <a:avLst/>
          </a:prstGeom>
        </p:spPr>
      </p:pic>
      <p:sp>
        <p:nvSpPr>
          <p:cNvPr id="9" name="文本框 8">
            <a:extLst>
              <a:ext uri="{FF2B5EF4-FFF2-40B4-BE49-F238E27FC236}">
                <a16:creationId xmlns:a16="http://schemas.microsoft.com/office/drawing/2014/main" id="{030A74F9-3CD0-E332-02A0-FFD217139437}"/>
              </a:ext>
            </a:extLst>
          </p:cNvPr>
          <p:cNvSpPr txBox="1"/>
          <p:nvPr/>
        </p:nvSpPr>
        <p:spPr>
          <a:xfrm>
            <a:off x="5195339" y="1828800"/>
            <a:ext cx="6996355" cy="3970318"/>
          </a:xfrm>
          <a:prstGeom prst="rect">
            <a:avLst/>
          </a:prstGeom>
          <a:noFill/>
        </p:spPr>
        <p:txBody>
          <a:bodyPr wrap="square" rtlCol="0">
            <a:spAutoFit/>
          </a:bodyPr>
          <a:lstStyle/>
          <a:p>
            <a:r>
              <a:rPr lang="zh-CN" altLang="zh-CN" dirty="0">
                <a:latin typeface="Times New Roman" panose="02020603050405020304" pitchFamily="18" charset="0"/>
                <a:ea typeface="SimSun" panose="02010600030101010101" pitchFamily="2" charset="-122"/>
                <a:cs typeface="Times New Roman" panose="02020603050405020304" pitchFamily="18" charset="0"/>
              </a:rPr>
              <a:t>return_item 是本系统用于处理物资归还的核心存储过程。</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它接收借还记录编号和归还服务点编号作为输入参数。</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执行时，系统首先根据借还记录编号查询该记录是否仍处于“借出中”状态，并使用 FOR UPDATE 对记录加锁，防止重复归还。</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如果记录不存在或已经归还，系统会回滚事务并提示错误；</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如果记录有效，系统会更新借还记录中的归还时间、归还服务点和借还状态，同时将对应具体物资的状态恢复为“可用”，并把物资当前所在服务点更新为归还服务点。</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zh-CN" altLang="zh-CN" dirty="0">
                <a:latin typeface="Times New Roman" panose="02020603050405020304" pitchFamily="18" charset="0"/>
                <a:ea typeface="SimSun" panose="02010600030101010101" pitchFamily="2" charset="-122"/>
                <a:cs typeface="Times New Roman" panose="02020603050405020304" pitchFamily="18" charset="0"/>
              </a:rPr>
              <a:t>该过程使用事务保证借还记录和物资状态同步更新，归还后若发生逾期，则由触发器自动完成信用扣分处理。</a:t>
            </a:r>
            <a:endParaRPr kumimoji="1"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869EE4AE-3528-BED0-2190-72864D432B10}"/>
              </a:ext>
            </a:extLst>
          </p:cNvPr>
          <p:cNvSpPr txBox="1"/>
          <p:nvPr/>
        </p:nvSpPr>
        <p:spPr>
          <a:xfrm>
            <a:off x="5195338" y="1135678"/>
            <a:ext cx="3652520" cy="369332"/>
          </a:xfrm>
          <a:prstGeom prst="rect">
            <a:avLst/>
          </a:prstGeom>
          <a:noFill/>
        </p:spPr>
        <p:txBody>
          <a:bodyPr wrap="square" rtlCol="0">
            <a:spAutoFit/>
          </a:bodyPr>
          <a:lstStyle/>
          <a:p>
            <a:r>
              <a:rPr kumimoji="1" lang="en-US" altLang="zh-CN" dirty="0"/>
              <a:t>Explanation</a:t>
            </a:r>
            <a:r>
              <a:rPr kumimoji="1" lang="zh-CN" altLang="en-US" dirty="0"/>
              <a:t>：</a:t>
            </a:r>
          </a:p>
        </p:txBody>
      </p:sp>
    </p:spTree>
    <p:extLst>
      <p:ext uri="{BB962C8B-B14F-4D97-AF65-F5344CB8AC3E}">
        <p14:creationId xmlns:p14="http://schemas.microsoft.com/office/powerpoint/2010/main" val="469576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自动化规则：触发器实现逾期扣分</a:t>
            </a:r>
            <a:endParaRPr lang="en-US" sz="2600" dirty="0"/>
          </a:p>
        </p:txBody>
      </p:sp>
      <p:sp>
        <p:nvSpPr>
          <p:cNvPr id="5" name="Text 3"/>
          <p:cNvSpPr/>
          <p:nvPr/>
        </p:nvSpPr>
        <p:spPr>
          <a:xfrm>
            <a:off x="530352" y="749808"/>
            <a:ext cx="8961120" cy="246888"/>
          </a:xfrm>
          <a:prstGeom prst="rect">
            <a:avLst/>
          </a:prstGeom>
          <a:noFill/>
          <a:ln/>
        </p:spPr>
        <p:txBody>
          <a:bodyPr wrap="square" lIns="0" tIns="0" rIns="0" bIns="0" rtlCol="0" anchor="ctr"/>
          <a:lstStyle/>
          <a:p>
            <a:pPr marL="0" indent="0">
              <a:buNone/>
            </a:pPr>
            <a:r>
              <a:rPr lang="en-US" sz="1050" dirty="0">
                <a:solidFill>
                  <a:srgbClr val="64748B"/>
                </a:solidFill>
                <a:latin typeface="Microsoft YaHei" pitchFamily="34" charset="0"/>
                <a:ea typeface="Microsoft YaHei" pitchFamily="34" charset="-122"/>
                <a:cs typeface="Microsoft YaHei" pitchFamily="34" charset="-120"/>
              </a:rPr>
              <a:t>归还动作触发信用记录生成，减少人工遗漏</a:t>
            </a:r>
            <a:endParaRPr lang="en-US" sz="105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a:t>
            </a:r>
            <a:r>
              <a:rPr lang="en-US" altLang="zh-CN" sz="800" dirty="0">
                <a:solidFill>
                  <a:srgbClr val="64748B"/>
                </a:solidFill>
                <a:latin typeface="Microsoft YaHei" pitchFamily="34" charset="0"/>
                <a:ea typeface="Microsoft YaHei" pitchFamily="34" charset="-122"/>
                <a:cs typeface="Microsoft YaHei" pitchFamily="34" charset="-120"/>
              </a:rPr>
              <a:t>8</a:t>
            </a:r>
            <a:endParaRPr lang="en-US" sz="800" dirty="0"/>
          </a:p>
        </p:txBody>
      </p:sp>
      <p:pic>
        <p:nvPicPr>
          <p:cNvPr id="7" name="Image 0" descr="/mnt/data/docx_media/word/media/image10.png"/>
          <p:cNvPicPr>
            <a:picLocks noChangeAspect="1"/>
          </p:cNvPicPr>
          <p:nvPr/>
        </p:nvPicPr>
        <p:blipFill>
          <a:blip r:embed="rId3"/>
          <a:stretch>
            <a:fillRect/>
          </a:stretch>
        </p:blipFill>
        <p:spPr>
          <a:xfrm>
            <a:off x="530352" y="4050792"/>
            <a:ext cx="6309642" cy="1809496"/>
          </a:xfrm>
          <a:prstGeom prst="rect">
            <a:avLst/>
          </a:prstGeom>
        </p:spPr>
      </p:pic>
      <p:sp>
        <p:nvSpPr>
          <p:cNvPr id="8" name="Text 5"/>
          <p:cNvSpPr/>
          <p:nvPr/>
        </p:nvSpPr>
        <p:spPr>
          <a:xfrm>
            <a:off x="7007354" y="1453896"/>
            <a:ext cx="4800600" cy="757936"/>
          </a:xfrm>
          <a:prstGeom prst="rect">
            <a:avLst/>
          </a:prstGeom>
          <a:solidFill>
            <a:srgbClr val="F8FAFC"/>
          </a:solidFill>
          <a:ln>
            <a:solidFill>
              <a:srgbClr val="64748B">
                <a:alpha val="90000"/>
              </a:srgbClr>
            </a:solidFill>
          </a:ln>
        </p:spPr>
        <p:txBody>
          <a:bodyPr wrap="square" rtlCol="0" anchor="t">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触发时机</a:t>
            </a:r>
            <a:endParaRPr lang="en-US" sz="1500" dirty="0"/>
          </a:p>
          <a:p>
            <a:pPr marL="0" indent="0">
              <a:buNone/>
            </a:pPr>
            <a:r>
              <a:rPr lang="en-US" sz="1150" dirty="0">
                <a:solidFill>
                  <a:srgbClr val="334155"/>
                </a:solidFill>
                <a:latin typeface="Microsoft YaHei" pitchFamily="34" charset="0"/>
                <a:ea typeface="Microsoft YaHei" pitchFamily="34" charset="-122"/>
                <a:cs typeface="Microsoft YaHei" pitchFamily="34" charset="-120"/>
              </a:rPr>
              <a:t>AFTER UPDATE ON borrow_record</a:t>
            </a:r>
            <a:endParaRPr lang="en-US" sz="1500" dirty="0"/>
          </a:p>
          <a:p>
            <a:pPr marL="0" indent="0">
              <a:buNone/>
            </a:pPr>
            <a:r>
              <a:rPr lang="en-US" sz="1150" dirty="0">
                <a:solidFill>
                  <a:srgbClr val="334155"/>
                </a:solidFill>
                <a:latin typeface="Microsoft YaHei" pitchFamily="34" charset="0"/>
                <a:ea typeface="Microsoft YaHei" pitchFamily="34" charset="-122"/>
                <a:cs typeface="Microsoft YaHei" pitchFamily="34" charset="-120"/>
              </a:rPr>
              <a:t>当借还状态从“借出中”更新为“已归还”时触发</a:t>
            </a:r>
            <a:endParaRPr lang="en-US" sz="1500" dirty="0"/>
          </a:p>
        </p:txBody>
      </p:sp>
      <p:sp>
        <p:nvSpPr>
          <p:cNvPr id="9" name="Text 6"/>
          <p:cNvSpPr/>
          <p:nvPr/>
        </p:nvSpPr>
        <p:spPr>
          <a:xfrm>
            <a:off x="7007354" y="4320794"/>
            <a:ext cx="4800600" cy="718312"/>
          </a:xfrm>
          <a:prstGeom prst="rect">
            <a:avLst/>
          </a:prstGeom>
          <a:solidFill>
            <a:srgbClr val="FFF7ED"/>
          </a:solidFill>
          <a:ln>
            <a:solidFill>
              <a:srgbClr val="D97706">
                <a:alpha val="90000"/>
              </a:srgbClr>
            </a:solidFill>
          </a:ln>
        </p:spPr>
        <p:txBody>
          <a:bodyPr wrap="square" rtlCol="0" anchor="t">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判断逻辑</a:t>
            </a:r>
            <a:endParaRPr lang="en-US" sz="1500" dirty="0"/>
          </a:p>
          <a:p>
            <a:pPr marL="0" indent="0">
              <a:buNone/>
            </a:pPr>
            <a:r>
              <a:rPr lang="en-US" sz="1150" dirty="0">
                <a:solidFill>
                  <a:srgbClr val="334155"/>
                </a:solidFill>
                <a:latin typeface="Microsoft YaHei" pitchFamily="34" charset="0"/>
                <a:ea typeface="Microsoft YaHei" pitchFamily="34" charset="-122"/>
                <a:cs typeface="Microsoft YaHei" pitchFamily="34" charset="-120"/>
              </a:rPr>
              <a:t>如果 return_time &gt; due_time，说明逾期归还；</a:t>
            </a:r>
            <a:endParaRPr lang="en-US" sz="1500" dirty="0"/>
          </a:p>
          <a:p>
            <a:pPr marL="0" indent="0">
              <a:buNone/>
            </a:pPr>
            <a:r>
              <a:rPr lang="en-US" sz="1150" dirty="0">
                <a:solidFill>
                  <a:srgbClr val="334155"/>
                </a:solidFill>
                <a:latin typeface="Microsoft YaHei" pitchFamily="34" charset="0"/>
                <a:ea typeface="Microsoft YaHei" pitchFamily="34" charset="-122"/>
                <a:cs typeface="Microsoft YaHei" pitchFamily="34" charset="-120"/>
              </a:rPr>
              <a:t>系统按逾期小时数计算扣分，并设置单次扣分上限。</a:t>
            </a:r>
            <a:endParaRPr lang="en-US" sz="1500" dirty="0"/>
          </a:p>
        </p:txBody>
      </p:sp>
      <p:sp>
        <p:nvSpPr>
          <p:cNvPr id="10" name="Text 7"/>
          <p:cNvSpPr/>
          <p:nvPr/>
        </p:nvSpPr>
        <p:spPr>
          <a:xfrm>
            <a:off x="7007354" y="2929636"/>
            <a:ext cx="4800600" cy="718312"/>
          </a:xfrm>
          <a:prstGeom prst="rect">
            <a:avLst/>
          </a:prstGeom>
          <a:solidFill>
            <a:srgbClr val="F0FDFA"/>
          </a:solidFill>
          <a:ln>
            <a:solidFill>
              <a:srgbClr val="0F766E">
                <a:alpha val="90000"/>
              </a:srgbClr>
            </a:solidFill>
          </a:ln>
        </p:spPr>
        <p:txBody>
          <a:bodyPr wrap="square" rtlCol="0" anchor="t">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执行结果</a:t>
            </a:r>
            <a:endParaRPr lang="en-US" sz="1500" dirty="0"/>
          </a:p>
          <a:p>
            <a:pPr marL="0" indent="0">
              <a:buNone/>
            </a:pPr>
            <a:r>
              <a:rPr lang="en-US" sz="1150" dirty="0">
                <a:solidFill>
                  <a:srgbClr val="334155"/>
                </a:solidFill>
                <a:latin typeface="Microsoft YaHei" pitchFamily="34" charset="0"/>
                <a:ea typeface="Microsoft YaHei" pitchFamily="34" charset="-122"/>
                <a:cs typeface="Microsoft YaHei" pitchFamily="34" charset="-120"/>
              </a:rPr>
              <a:t>插入 credit_record 信用扣分记录；</a:t>
            </a:r>
            <a:endParaRPr lang="en-US" sz="1500" dirty="0"/>
          </a:p>
          <a:p>
            <a:pPr marL="0" indent="0">
              <a:buNone/>
            </a:pPr>
            <a:r>
              <a:rPr lang="en-US" sz="1150" dirty="0">
                <a:solidFill>
                  <a:srgbClr val="334155"/>
                </a:solidFill>
                <a:latin typeface="Microsoft YaHei" pitchFamily="34" charset="0"/>
                <a:ea typeface="Microsoft YaHei" pitchFamily="34" charset="-122"/>
                <a:cs typeface="Microsoft YaHei" pitchFamily="34" charset="-120"/>
              </a:rPr>
              <a:t>同步更新 student.credit_score。</a:t>
            </a:r>
            <a:endParaRPr lang="en-US" sz="1500" dirty="0"/>
          </a:p>
        </p:txBody>
      </p:sp>
      <p:pic>
        <p:nvPicPr>
          <p:cNvPr id="13" name="图片 12">
            <a:extLst>
              <a:ext uri="{FF2B5EF4-FFF2-40B4-BE49-F238E27FC236}">
                <a16:creationId xmlns:a16="http://schemas.microsoft.com/office/drawing/2014/main" id="{2CC41DFD-D66F-D825-7ADB-517CE5DD5730}"/>
              </a:ext>
            </a:extLst>
          </p:cNvPr>
          <p:cNvPicPr>
            <a:picLocks noChangeAspect="1"/>
          </p:cNvPicPr>
          <p:nvPr/>
        </p:nvPicPr>
        <p:blipFill>
          <a:blip r:embed="rId4"/>
          <a:stretch>
            <a:fillRect/>
          </a:stretch>
        </p:blipFill>
        <p:spPr>
          <a:xfrm>
            <a:off x="502920" y="1184148"/>
            <a:ext cx="6337074" cy="25740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测试验证：8 个用例覆盖核心业务流程</a:t>
            </a:r>
            <a:endParaRPr lang="en-US" sz="2600" dirty="0"/>
          </a:p>
        </p:txBody>
      </p:sp>
      <p:sp>
        <p:nvSpPr>
          <p:cNvPr id="5" name="Text 3"/>
          <p:cNvSpPr/>
          <p:nvPr/>
        </p:nvSpPr>
        <p:spPr>
          <a:xfrm>
            <a:off x="530352" y="749808"/>
            <a:ext cx="8961120" cy="246888"/>
          </a:xfrm>
          <a:prstGeom prst="rect">
            <a:avLst/>
          </a:prstGeom>
          <a:noFill/>
          <a:ln/>
        </p:spPr>
        <p:txBody>
          <a:bodyPr wrap="square" lIns="0" tIns="0" rIns="0" bIns="0" rtlCol="0" anchor="ctr"/>
          <a:lstStyle/>
          <a:p>
            <a:pPr marL="0" indent="0">
              <a:buNone/>
            </a:pPr>
            <a:r>
              <a:rPr lang="en-US" sz="1050" dirty="0">
                <a:solidFill>
                  <a:srgbClr val="64748B"/>
                </a:solidFill>
                <a:latin typeface="Microsoft YaHei" pitchFamily="34" charset="0"/>
                <a:ea typeface="Microsoft YaHei" pitchFamily="34" charset="-122"/>
                <a:cs typeface="Microsoft YaHei" pitchFamily="34" charset="-120"/>
              </a:rPr>
              <a:t>从建表、视图、存储过程到触发器功能，均通过 SQL 运行结果验证</a:t>
            </a:r>
            <a:endParaRPr lang="en-US" sz="105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1</a:t>
            </a:r>
            <a:r>
              <a:rPr lang="en-US" altLang="zh-CN" sz="800" dirty="0">
                <a:solidFill>
                  <a:srgbClr val="64748B"/>
                </a:solidFill>
                <a:latin typeface="Microsoft YaHei" pitchFamily="34" charset="0"/>
                <a:ea typeface="Microsoft YaHei" pitchFamily="34" charset="-122"/>
                <a:cs typeface="Microsoft YaHei" pitchFamily="34" charset="-120"/>
              </a:rPr>
              <a:t>9</a:t>
            </a:r>
            <a:endParaRPr lang="en-US" sz="800" dirty="0"/>
          </a:p>
        </p:txBody>
      </p:sp>
      <p:sp>
        <p:nvSpPr>
          <p:cNvPr id="7" name="Text 5"/>
          <p:cNvSpPr/>
          <p:nvPr/>
        </p:nvSpPr>
        <p:spPr>
          <a:xfrm>
            <a:off x="685800" y="1234440"/>
            <a:ext cx="2487168" cy="576072"/>
          </a:xfrm>
          <a:prstGeom prst="rect">
            <a:avLst/>
          </a:prstGeom>
          <a:solidFill>
            <a:srgbClr val="E0F2FE"/>
          </a:solidFill>
          <a:ln>
            <a:solidFill>
              <a:srgbClr val="075985"/>
            </a:solidFill>
          </a:ln>
        </p:spPr>
        <p:txBody>
          <a:bodyPr wrap="square" lIns="381" tIns="381" rIns="381" bIns="381" rtlCol="0" anchor="ctr"/>
          <a:lstStyle/>
          <a:p>
            <a:pPr marL="0" indent="0" algn="ctr">
              <a:buNone/>
            </a:pPr>
            <a:r>
              <a:rPr lang="en-US" sz="1250" b="1" dirty="0">
                <a:solidFill>
                  <a:srgbClr val="0B1F33"/>
                </a:solidFill>
                <a:latin typeface="Microsoft YaHei" pitchFamily="34" charset="0"/>
                <a:ea typeface="Microsoft YaHei" pitchFamily="34" charset="-122"/>
                <a:cs typeface="Microsoft YaHei" pitchFamily="34" charset="-120"/>
              </a:rPr>
              <a:t>T01  可用物资查询</a:t>
            </a:r>
            <a:endParaRPr lang="en-US" sz="1250" dirty="0"/>
          </a:p>
        </p:txBody>
      </p:sp>
      <p:sp>
        <p:nvSpPr>
          <p:cNvPr id="8" name="Text 6"/>
          <p:cNvSpPr/>
          <p:nvPr/>
        </p:nvSpPr>
        <p:spPr>
          <a:xfrm>
            <a:off x="3520440" y="1234440"/>
            <a:ext cx="2487168" cy="576072"/>
          </a:xfrm>
          <a:prstGeom prst="rect">
            <a:avLst/>
          </a:prstGeom>
          <a:solidFill>
            <a:srgbClr val="E0F2FE"/>
          </a:solidFill>
          <a:ln>
            <a:solidFill>
              <a:srgbClr val="075985"/>
            </a:solidFill>
          </a:ln>
        </p:spPr>
        <p:txBody>
          <a:bodyPr wrap="square" lIns="381" tIns="381" rIns="381" bIns="381" rtlCol="0" anchor="ctr"/>
          <a:lstStyle/>
          <a:p>
            <a:pPr marL="0" indent="0" algn="ctr">
              <a:buNone/>
            </a:pPr>
            <a:r>
              <a:rPr lang="en-US" sz="1250" b="1" dirty="0">
                <a:solidFill>
                  <a:srgbClr val="0B1F33"/>
                </a:solidFill>
                <a:latin typeface="Microsoft YaHei" pitchFamily="34" charset="0"/>
                <a:ea typeface="Microsoft YaHei" pitchFamily="34" charset="-122"/>
                <a:cs typeface="Microsoft YaHei" pitchFamily="34" charset="-120"/>
              </a:rPr>
              <a:t>T02  学生借用物资</a:t>
            </a:r>
            <a:endParaRPr lang="en-US" sz="1250" dirty="0"/>
          </a:p>
        </p:txBody>
      </p:sp>
      <p:sp>
        <p:nvSpPr>
          <p:cNvPr id="9" name="Text 7"/>
          <p:cNvSpPr/>
          <p:nvPr/>
        </p:nvSpPr>
        <p:spPr>
          <a:xfrm>
            <a:off x="6355080" y="1234440"/>
            <a:ext cx="2487168" cy="576072"/>
          </a:xfrm>
          <a:prstGeom prst="rect">
            <a:avLst/>
          </a:prstGeom>
          <a:solidFill>
            <a:srgbClr val="E0F2FE"/>
          </a:solidFill>
          <a:ln>
            <a:solidFill>
              <a:srgbClr val="075985"/>
            </a:solidFill>
          </a:ln>
        </p:spPr>
        <p:txBody>
          <a:bodyPr wrap="square" lIns="381" tIns="381" rIns="381" bIns="381" rtlCol="0" anchor="ctr"/>
          <a:lstStyle/>
          <a:p>
            <a:pPr marL="0" indent="0" algn="ctr">
              <a:buNone/>
            </a:pPr>
            <a:r>
              <a:rPr lang="en-US" sz="1250" b="1" dirty="0">
                <a:solidFill>
                  <a:srgbClr val="0B1F33"/>
                </a:solidFill>
                <a:latin typeface="Microsoft YaHei" pitchFamily="34" charset="0"/>
                <a:ea typeface="Microsoft YaHei" pitchFamily="34" charset="-122"/>
                <a:cs typeface="Microsoft YaHei" pitchFamily="34" charset="-120"/>
              </a:rPr>
              <a:t>T03  无库存拒绝借用</a:t>
            </a:r>
            <a:endParaRPr lang="en-US" sz="1250" dirty="0"/>
          </a:p>
        </p:txBody>
      </p:sp>
      <p:sp>
        <p:nvSpPr>
          <p:cNvPr id="10" name="Text 8"/>
          <p:cNvSpPr/>
          <p:nvPr/>
        </p:nvSpPr>
        <p:spPr>
          <a:xfrm>
            <a:off x="9189720" y="1234440"/>
            <a:ext cx="2487168" cy="576072"/>
          </a:xfrm>
          <a:prstGeom prst="rect">
            <a:avLst/>
          </a:prstGeom>
          <a:solidFill>
            <a:srgbClr val="E0F2FE"/>
          </a:solidFill>
          <a:ln>
            <a:solidFill>
              <a:srgbClr val="075985"/>
            </a:solidFill>
          </a:ln>
        </p:spPr>
        <p:txBody>
          <a:bodyPr wrap="square" lIns="381" tIns="381" rIns="381" bIns="381" rtlCol="0" anchor="ctr"/>
          <a:lstStyle/>
          <a:p>
            <a:pPr marL="0" indent="0" algn="ctr">
              <a:buNone/>
            </a:pPr>
            <a:r>
              <a:rPr lang="en-US" sz="1250" b="1" dirty="0">
                <a:solidFill>
                  <a:srgbClr val="0B1F33"/>
                </a:solidFill>
                <a:latin typeface="Microsoft YaHei" pitchFamily="34" charset="0"/>
                <a:ea typeface="Microsoft YaHei" pitchFamily="34" charset="-122"/>
                <a:cs typeface="Microsoft YaHei" pitchFamily="34" charset="-120"/>
              </a:rPr>
              <a:t>T04  未归还记录</a:t>
            </a:r>
            <a:endParaRPr lang="en-US" sz="1250" dirty="0"/>
          </a:p>
        </p:txBody>
      </p:sp>
      <p:sp>
        <p:nvSpPr>
          <p:cNvPr id="11" name="Text 9"/>
          <p:cNvSpPr/>
          <p:nvPr/>
        </p:nvSpPr>
        <p:spPr>
          <a:xfrm>
            <a:off x="685800" y="2194560"/>
            <a:ext cx="2487168" cy="576072"/>
          </a:xfrm>
          <a:prstGeom prst="rect">
            <a:avLst/>
          </a:prstGeom>
          <a:solidFill>
            <a:srgbClr val="F0FDFA"/>
          </a:solidFill>
          <a:ln>
            <a:solidFill>
              <a:srgbClr val="0F766E"/>
            </a:solidFill>
          </a:ln>
        </p:spPr>
        <p:txBody>
          <a:bodyPr wrap="square" lIns="381" tIns="381" rIns="381" bIns="381" rtlCol="0" anchor="ctr"/>
          <a:lstStyle/>
          <a:p>
            <a:pPr marL="0" indent="0" algn="ctr">
              <a:buNone/>
            </a:pPr>
            <a:r>
              <a:rPr lang="en-US" sz="1250" b="1" dirty="0">
                <a:solidFill>
                  <a:srgbClr val="0B1F33"/>
                </a:solidFill>
                <a:latin typeface="Microsoft YaHei" pitchFamily="34" charset="0"/>
                <a:ea typeface="Microsoft YaHei" pitchFamily="34" charset="-122"/>
                <a:cs typeface="Microsoft YaHei" pitchFamily="34" charset="-120"/>
              </a:rPr>
              <a:t>T05  正常归还</a:t>
            </a:r>
            <a:endParaRPr lang="en-US" sz="1250" dirty="0"/>
          </a:p>
        </p:txBody>
      </p:sp>
      <p:sp>
        <p:nvSpPr>
          <p:cNvPr id="12" name="Text 10"/>
          <p:cNvSpPr/>
          <p:nvPr/>
        </p:nvSpPr>
        <p:spPr>
          <a:xfrm>
            <a:off x="3520440" y="2194560"/>
            <a:ext cx="2487168" cy="576072"/>
          </a:xfrm>
          <a:prstGeom prst="rect">
            <a:avLst/>
          </a:prstGeom>
          <a:solidFill>
            <a:srgbClr val="F0FDFA"/>
          </a:solidFill>
          <a:ln>
            <a:solidFill>
              <a:srgbClr val="0F766E"/>
            </a:solidFill>
          </a:ln>
        </p:spPr>
        <p:txBody>
          <a:bodyPr wrap="square" lIns="381" tIns="381" rIns="381" bIns="381" rtlCol="0" anchor="ctr"/>
          <a:lstStyle/>
          <a:p>
            <a:pPr marL="0" indent="0" algn="ctr">
              <a:buNone/>
            </a:pPr>
            <a:r>
              <a:rPr lang="en-US" sz="1250" b="1" dirty="0">
                <a:solidFill>
                  <a:srgbClr val="0B1F33"/>
                </a:solidFill>
                <a:latin typeface="Microsoft YaHei" pitchFamily="34" charset="0"/>
                <a:ea typeface="Microsoft YaHei" pitchFamily="34" charset="-122"/>
                <a:cs typeface="Microsoft YaHei" pitchFamily="34" charset="-120"/>
              </a:rPr>
              <a:t>T06  逾期自动扣分</a:t>
            </a:r>
            <a:endParaRPr lang="en-US" sz="1250" dirty="0"/>
          </a:p>
        </p:txBody>
      </p:sp>
      <p:sp>
        <p:nvSpPr>
          <p:cNvPr id="13" name="Text 11"/>
          <p:cNvSpPr/>
          <p:nvPr/>
        </p:nvSpPr>
        <p:spPr>
          <a:xfrm>
            <a:off x="6355080" y="2194560"/>
            <a:ext cx="2487168" cy="576072"/>
          </a:xfrm>
          <a:prstGeom prst="rect">
            <a:avLst/>
          </a:prstGeom>
          <a:solidFill>
            <a:srgbClr val="F0FDFA"/>
          </a:solidFill>
          <a:ln>
            <a:solidFill>
              <a:srgbClr val="0F766E"/>
            </a:solidFill>
          </a:ln>
        </p:spPr>
        <p:txBody>
          <a:bodyPr wrap="square" lIns="381" tIns="381" rIns="381" bIns="381" rtlCol="0" anchor="ctr"/>
          <a:lstStyle/>
          <a:p>
            <a:pPr marL="0" indent="0" algn="ctr">
              <a:buNone/>
            </a:pPr>
            <a:r>
              <a:rPr lang="en-US" sz="1250" b="1" dirty="0">
                <a:solidFill>
                  <a:srgbClr val="0B1F33"/>
                </a:solidFill>
                <a:latin typeface="Microsoft YaHei" pitchFamily="34" charset="0"/>
                <a:ea typeface="Microsoft YaHei" pitchFamily="34" charset="-122"/>
                <a:cs typeface="Microsoft YaHei" pitchFamily="34" charset="-120"/>
              </a:rPr>
              <a:t>T07  逾期记录查询</a:t>
            </a:r>
            <a:endParaRPr lang="en-US" sz="1250" dirty="0"/>
          </a:p>
        </p:txBody>
      </p:sp>
      <p:sp>
        <p:nvSpPr>
          <p:cNvPr id="14" name="Text 12"/>
          <p:cNvSpPr/>
          <p:nvPr/>
        </p:nvSpPr>
        <p:spPr>
          <a:xfrm>
            <a:off x="9189720" y="2194560"/>
            <a:ext cx="2487168" cy="576072"/>
          </a:xfrm>
          <a:prstGeom prst="rect">
            <a:avLst/>
          </a:prstGeom>
          <a:solidFill>
            <a:srgbClr val="F0FDFA"/>
          </a:solidFill>
          <a:ln>
            <a:solidFill>
              <a:srgbClr val="0F766E"/>
            </a:solidFill>
          </a:ln>
        </p:spPr>
        <p:txBody>
          <a:bodyPr wrap="square" lIns="381" tIns="381" rIns="381" bIns="381" rtlCol="0" anchor="ctr"/>
          <a:lstStyle/>
          <a:p>
            <a:pPr marL="0" indent="0" algn="ctr">
              <a:buNone/>
            </a:pPr>
            <a:r>
              <a:rPr lang="en-US" sz="1250" b="1" dirty="0">
                <a:solidFill>
                  <a:srgbClr val="0B1F33"/>
                </a:solidFill>
                <a:latin typeface="Microsoft YaHei" pitchFamily="34" charset="0"/>
                <a:ea typeface="Microsoft YaHei" pitchFamily="34" charset="-122"/>
                <a:cs typeface="Microsoft YaHei" pitchFamily="34" charset="-120"/>
              </a:rPr>
              <a:t>T08  维修统计</a:t>
            </a:r>
            <a:endParaRPr lang="en-US" sz="1250" dirty="0"/>
          </a:p>
        </p:txBody>
      </p:sp>
      <p:sp>
        <p:nvSpPr>
          <p:cNvPr id="17" name="Text 15"/>
          <p:cNvSpPr/>
          <p:nvPr/>
        </p:nvSpPr>
        <p:spPr>
          <a:xfrm>
            <a:off x="5661443" y="5336535"/>
            <a:ext cx="5830124" cy="365760"/>
          </a:xfrm>
          <a:prstGeom prst="rect">
            <a:avLst/>
          </a:prstGeom>
          <a:noFill/>
          <a:ln/>
        </p:spPr>
        <p:txBody>
          <a:bodyPr wrap="square" lIns="0" tIns="0" rIns="0" bIns="0" rtlCol="0" anchor="ctr"/>
          <a:lstStyle/>
          <a:p>
            <a:pPr marL="0" indent="0" algn="ctr">
              <a:buNone/>
            </a:pPr>
            <a:r>
              <a:rPr lang="en-US" sz="1400" b="1" dirty="0">
                <a:solidFill>
                  <a:srgbClr val="0B1F33"/>
                </a:solidFill>
                <a:latin typeface="Microsoft YaHei" pitchFamily="34" charset="0"/>
                <a:ea typeface="Microsoft YaHei" pitchFamily="34" charset="-122"/>
                <a:cs typeface="Microsoft YaHei" pitchFamily="34" charset="-120"/>
              </a:rPr>
              <a:t>测试结论：主要业务流程可运行，数据库设计与前文需求保持一致。</a:t>
            </a:r>
            <a:endParaRPr lang="en-US" sz="1400" dirty="0"/>
          </a:p>
        </p:txBody>
      </p:sp>
      <p:pic>
        <p:nvPicPr>
          <p:cNvPr id="19" name="图片 18">
            <a:extLst>
              <a:ext uri="{FF2B5EF4-FFF2-40B4-BE49-F238E27FC236}">
                <a16:creationId xmlns:a16="http://schemas.microsoft.com/office/drawing/2014/main" id="{58697794-93EB-100A-AAB9-CD4C1F796C7D}"/>
              </a:ext>
            </a:extLst>
          </p:cNvPr>
          <p:cNvPicPr>
            <a:picLocks noChangeAspect="1"/>
          </p:cNvPicPr>
          <p:nvPr/>
        </p:nvPicPr>
        <p:blipFill>
          <a:blip r:embed="rId3"/>
          <a:stretch>
            <a:fillRect/>
          </a:stretch>
        </p:blipFill>
        <p:spPr>
          <a:xfrm>
            <a:off x="228874" y="2866519"/>
            <a:ext cx="5516775" cy="927514"/>
          </a:xfrm>
          <a:prstGeom prst="rect">
            <a:avLst/>
          </a:prstGeom>
        </p:spPr>
      </p:pic>
      <p:pic>
        <p:nvPicPr>
          <p:cNvPr id="21" name="图片 20">
            <a:extLst>
              <a:ext uri="{FF2B5EF4-FFF2-40B4-BE49-F238E27FC236}">
                <a16:creationId xmlns:a16="http://schemas.microsoft.com/office/drawing/2014/main" id="{456008A7-5452-07F4-558C-65EEC9BFEFF3}"/>
              </a:ext>
            </a:extLst>
          </p:cNvPr>
          <p:cNvPicPr>
            <a:picLocks noChangeAspect="1"/>
          </p:cNvPicPr>
          <p:nvPr/>
        </p:nvPicPr>
        <p:blipFill>
          <a:blip r:embed="rId4"/>
          <a:stretch>
            <a:fillRect/>
          </a:stretch>
        </p:blipFill>
        <p:spPr>
          <a:xfrm>
            <a:off x="228874" y="3889921"/>
            <a:ext cx="6031992" cy="838609"/>
          </a:xfrm>
          <a:prstGeom prst="rect">
            <a:avLst/>
          </a:prstGeom>
        </p:spPr>
      </p:pic>
      <p:pic>
        <p:nvPicPr>
          <p:cNvPr id="23" name="图片 22">
            <a:extLst>
              <a:ext uri="{FF2B5EF4-FFF2-40B4-BE49-F238E27FC236}">
                <a16:creationId xmlns:a16="http://schemas.microsoft.com/office/drawing/2014/main" id="{5AEAF8C3-1208-05FC-33A4-23D328E3FE9D}"/>
              </a:ext>
            </a:extLst>
          </p:cNvPr>
          <p:cNvPicPr>
            <a:picLocks noChangeAspect="1"/>
          </p:cNvPicPr>
          <p:nvPr/>
        </p:nvPicPr>
        <p:blipFill>
          <a:blip r:embed="rId5"/>
          <a:stretch>
            <a:fillRect/>
          </a:stretch>
        </p:blipFill>
        <p:spPr>
          <a:xfrm>
            <a:off x="6260866" y="3889408"/>
            <a:ext cx="5830124" cy="838609"/>
          </a:xfrm>
          <a:prstGeom prst="rect">
            <a:avLst/>
          </a:prstGeom>
        </p:spPr>
      </p:pic>
      <p:pic>
        <p:nvPicPr>
          <p:cNvPr id="25" name="图片 24">
            <a:extLst>
              <a:ext uri="{FF2B5EF4-FFF2-40B4-BE49-F238E27FC236}">
                <a16:creationId xmlns:a16="http://schemas.microsoft.com/office/drawing/2014/main" id="{FA0633F8-9782-97EE-D6DB-C908AEEB39DF}"/>
              </a:ext>
            </a:extLst>
          </p:cNvPr>
          <p:cNvPicPr>
            <a:picLocks noChangeAspect="1"/>
          </p:cNvPicPr>
          <p:nvPr/>
        </p:nvPicPr>
        <p:blipFill>
          <a:blip r:embed="rId6"/>
          <a:stretch>
            <a:fillRect/>
          </a:stretch>
        </p:blipFill>
        <p:spPr>
          <a:xfrm>
            <a:off x="228874" y="4790687"/>
            <a:ext cx="5010860" cy="145745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运行维护与后续改进</a:t>
            </a:r>
            <a:endParaRPr lang="en-US" sz="260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a:t>
            </a:r>
            <a:r>
              <a:rPr lang="en-US" altLang="zh-CN" sz="800" dirty="0">
                <a:solidFill>
                  <a:srgbClr val="64748B"/>
                </a:solidFill>
                <a:latin typeface="Microsoft YaHei" pitchFamily="34" charset="0"/>
                <a:ea typeface="Microsoft YaHei" pitchFamily="34" charset="-122"/>
                <a:cs typeface="Microsoft YaHei" pitchFamily="34" charset="-120"/>
              </a:rPr>
              <a:t>20</a:t>
            </a:r>
            <a:endParaRPr lang="en-US" sz="800" dirty="0"/>
          </a:p>
        </p:txBody>
      </p:sp>
      <p:sp>
        <p:nvSpPr>
          <p:cNvPr id="7" name="Text 5"/>
          <p:cNvSpPr/>
          <p:nvPr/>
        </p:nvSpPr>
        <p:spPr>
          <a:xfrm>
            <a:off x="502920" y="1828800"/>
            <a:ext cx="5303520" cy="2641600"/>
          </a:xfrm>
          <a:prstGeom prst="rect">
            <a:avLst/>
          </a:prstGeom>
          <a:solidFill>
            <a:srgbClr val="FFFFFF"/>
          </a:solidFill>
          <a:ln>
            <a:solidFill>
              <a:srgbClr val="075985">
                <a:alpha val="90000"/>
              </a:srgbClr>
            </a:solidFill>
          </a:ln>
        </p:spPr>
        <p:txBody>
          <a:bodyPr wrap="square" rtlCol="0" anchor="t">
            <a:normAutofit/>
          </a:bodyPr>
          <a:lstStyle/>
          <a:p>
            <a:pPr marL="0" indent="0" algn="ctr">
              <a:buNone/>
            </a:pPr>
            <a:r>
              <a:rPr lang="en-US" sz="2800" b="1" dirty="0">
                <a:solidFill>
                  <a:srgbClr val="0B1F33"/>
                </a:solidFill>
                <a:latin typeface="Microsoft YaHei" pitchFamily="34" charset="0"/>
                <a:ea typeface="Microsoft YaHei" pitchFamily="34" charset="-122"/>
                <a:cs typeface="Microsoft YaHei" pitchFamily="34" charset="-120"/>
              </a:rPr>
              <a:t>运行维护</a:t>
            </a:r>
            <a:endParaRPr lang="en-US" sz="2800" dirty="0"/>
          </a:p>
          <a:p>
            <a:pPr marL="0" indent="0">
              <a:buNone/>
            </a:pPr>
            <a:endParaRPr lang="en-US" sz="2000" dirty="0">
              <a:solidFill>
                <a:srgbClr val="334155"/>
              </a:solidFill>
              <a:latin typeface="Microsoft YaHei" pitchFamily="34" charset="0"/>
              <a:ea typeface="Microsoft YaHei" pitchFamily="34" charset="-122"/>
              <a:cs typeface="Microsoft YaHei" pitchFamily="34" charset="-120"/>
            </a:endParaRPr>
          </a:p>
          <a:p>
            <a:pPr marL="0" indent="0">
              <a:buNone/>
            </a:pPr>
            <a:r>
              <a:rPr lang="en-US" sz="2000" dirty="0" err="1">
                <a:solidFill>
                  <a:srgbClr val="334155"/>
                </a:solidFill>
                <a:latin typeface="Microsoft YaHei" pitchFamily="34" charset="0"/>
                <a:ea typeface="Microsoft YaHei" pitchFamily="34" charset="-122"/>
                <a:cs typeface="Microsoft YaHei" pitchFamily="34" charset="-120"/>
              </a:rPr>
              <a:t>权限管理：学生</a:t>
            </a:r>
            <a:r>
              <a:rPr lang="en-US" sz="2000" dirty="0">
                <a:solidFill>
                  <a:srgbClr val="334155"/>
                </a:solidFill>
                <a:latin typeface="Microsoft YaHei" pitchFamily="34" charset="0"/>
                <a:ea typeface="Microsoft YaHei" pitchFamily="34" charset="-122"/>
                <a:cs typeface="Microsoft YaHei" pitchFamily="34" charset="-120"/>
              </a:rPr>
              <a:t>/管理员/维修工</a:t>
            </a:r>
            <a:endParaRPr lang="en-US" sz="2000" dirty="0"/>
          </a:p>
          <a:p>
            <a:pPr marL="0" indent="0">
              <a:buNone/>
            </a:pPr>
            <a:r>
              <a:rPr lang="en-US" sz="2000" dirty="0">
                <a:solidFill>
                  <a:srgbClr val="334155"/>
                </a:solidFill>
                <a:latin typeface="Microsoft YaHei" pitchFamily="34" charset="0"/>
                <a:ea typeface="Microsoft YaHei" pitchFamily="34" charset="-122"/>
                <a:cs typeface="Microsoft YaHei" pitchFamily="34" charset="-120"/>
              </a:rPr>
              <a:t>数据备份：定期备份表、视图、过程、触发器</a:t>
            </a:r>
            <a:endParaRPr lang="en-US" sz="2000" dirty="0"/>
          </a:p>
          <a:p>
            <a:pPr marL="0" indent="0">
              <a:buNone/>
            </a:pPr>
            <a:r>
              <a:rPr lang="en-US" sz="2000" dirty="0">
                <a:solidFill>
                  <a:srgbClr val="334155"/>
                </a:solidFill>
                <a:latin typeface="Microsoft YaHei" pitchFamily="34" charset="0"/>
                <a:ea typeface="Microsoft YaHei" pitchFamily="34" charset="-122"/>
                <a:cs typeface="Microsoft YaHei" pitchFamily="34" charset="-120"/>
              </a:rPr>
              <a:t>日志维护：操作日志用于审计</a:t>
            </a:r>
            <a:endParaRPr lang="en-US" sz="2000" dirty="0"/>
          </a:p>
          <a:p>
            <a:pPr marL="0" indent="0">
              <a:buNone/>
            </a:pPr>
            <a:r>
              <a:rPr lang="en-US" sz="2000" dirty="0">
                <a:solidFill>
                  <a:srgbClr val="334155"/>
                </a:solidFill>
                <a:latin typeface="Microsoft YaHei" pitchFamily="34" charset="0"/>
                <a:ea typeface="Microsoft YaHei" pitchFamily="34" charset="-122"/>
                <a:cs typeface="Microsoft YaHei" pitchFamily="34" charset="-120"/>
              </a:rPr>
              <a:t>异常处理：检查状态与记录一致性</a:t>
            </a:r>
            <a:endParaRPr lang="en-US" sz="2000" dirty="0"/>
          </a:p>
          <a:p>
            <a:pPr marL="0" indent="0">
              <a:buNone/>
            </a:pPr>
            <a:r>
              <a:rPr lang="en-US" sz="2000" dirty="0">
                <a:solidFill>
                  <a:srgbClr val="334155"/>
                </a:solidFill>
                <a:latin typeface="Microsoft YaHei" pitchFamily="34" charset="0"/>
                <a:ea typeface="Microsoft YaHei" pitchFamily="34" charset="-122"/>
                <a:cs typeface="Microsoft YaHei" pitchFamily="34" charset="-120"/>
              </a:rPr>
              <a:t>性能维护：评估索引与历史数据归档</a:t>
            </a:r>
            <a:endParaRPr lang="en-US" sz="2000" dirty="0"/>
          </a:p>
        </p:txBody>
      </p:sp>
      <p:sp>
        <p:nvSpPr>
          <p:cNvPr id="8" name="Text 6"/>
          <p:cNvSpPr/>
          <p:nvPr/>
        </p:nvSpPr>
        <p:spPr>
          <a:xfrm>
            <a:off x="6239420" y="1828800"/>
            <a:ext cx="5449659" cy="2641600"/>
          </a:xfrm>
          <a:prstGeom prst="rect">
            <a:avLst/>
          </a:prstGeom>
          <a:solidFill>
            <a:srgbClr val="FFFFFF"/>
          </a:solidFill>
          <a:ln>
            <a:solidFill>
              <a:srgbClr val="0F766E">
                <a:alpha val="90000"/>
              </a:srgbClr>
            </a:solidFill>
          </a:ln>
        </p:spPr>
        <p:txBody>
          <a:bodyPr wrap="square" rtlCol="0" anchor="t">
            <a:normAutofit/>
          </a:bodyPr>
          <a:lstStyle/>
          <a:p>
            <a:pPr marL="0" indent="0" algn="ctr">
              <a:buNone/>
            </a:pPr>
            <a:r>
              <a:rPr lang="en-US" sz="2800" b="1" dirty="0">
                <a:solidFill>
                  <a:srgbClr val="0B1F33"/>
                </a:solidFill>
                <a:latin typeface="Microsoft YaHei" pitchFamily="34" charset="0"/>
                <a:ea typeface="Microsoft YaHei" pitchFamily="34" charset="-122"/>
                <a:cs typeface="Microsoft YaHei" pitchFamily="34" charset="-120"/>
              </a:rPr>
              <a:t>改进方向</a:t>
            </a:r>
            <a:endParaRPr lang="en-US" sz="2800" dirty="0"/>
          </a:p>
          <a:p>
            <a:pPr marL="0" indent="0">
              <a:buNone/>
            </a:pPr>
            <a:endParaRPr lang="en-US" sz="2000" dirty="0">
              <a:solidFill>
                <a:srgbClr val="334155"/>
              </a:solidFill>
              <a:latin typeface="Microsoft YaHei" pitchFamily="34" charset="0"/>
              <a:ea typeface="Microsoft YaHei" pitchFamily="34" charset="-122"/>
              <a:cs typeface="Microsoft YaHei" pitchFamily="34" charset="-120"/>
            </a:endParaRPr>
          </a:p>
          <a:p>
            <a:pPr marL="0" indent="0">
              <a:buNone/>
            </a:pPr>
            <a:r>
              <a:rPr lang="en-US" sz="2000" dirty="0" err="1">
                <a:solidFill>
                  <a:srgbClr val="334155"/>
                </a:solidFill>
                <a:latin typeface="Microsoft YaHei" pitchFamily="34" charset="0"/>
                <a:ea typeface="Microsoft YaHei" pitchFamily="34" charset="-122"/>
                <a:cs typeface="Microsoft YaHei" pitchFamily="34" charset="-120"/>
              </a:rPr>
              <a:t>细化管理员角色：服务点管理员</a:t>
            </a:r>
            <a:r>
              <a:rPr lang="en-US" sz="2000" dirty="0">
                <a:solidFill>
                  <a:srgbClr val="334155"/>
                </a:solidFill>
                <a:latin typeface="Microsoft YaHei" pitchFamily="34" charset="0"/>
                <a:ea typeface="Microsoft YaHei" pitchFamily="34" charset="-122"/>
                <a:cs typeface="Microsoft YaHei" pitchFamily="34" charset="-120"/>
              </a:rPr>
              <a:t>/系统管理员</a:t>
            </a:r>
            <a:endParaRPr lang="en-US" sz="2000" dirty="0"/>
          </a:p>
          <a:p>
            <a:pPr marL="0" indent="0">
              <a:buNone/>
            </a:pPr>
            <a:r>
              <a:rPr lang="en-US" sz="2000" dirty="0">
                <a:solidFill>
                  <a:srgbClr val="334155"/>
                </a:solidFill>
                <a:latin typeface="Microsoft YaHei" pitchFamily="34" charset="0"/>
                <a:ea typeface="Microsoft YaHei" pitchFamily="34" charset="-122"/>
                <a:cs typeface="Microsoft YaHei" pitchFamily="34" charset="-120"/>
              </a:rPr>
              <a:t>增加库存预警提醒</a:t>
            </a:r>
            <a:endParaRPr lang="en-US" sz="2000" dirty="0"/>
          </a:p>
          <a:p>
            <a:pPr marL="0" indent="0">
              <a:buNone/>
            </a:pPr>
            <a:r>
              <a:rPr lang="en-US" sz="2000" dirty="0">
                <a:solidFill>
                  <a:srgbClr val="334155"/>
                </a:solidFill>
                <a:latin typeface="Microsoft YaHei" pitchFamily="34" charset="0"/>
                <a:ea typeface="Microsoft YaHei" pitchFamily="34" charset="-122"/>
                <a:cs typeface="Microsoft YaHei" pitchFamily="34" charset="-120"/>
              </a:rPr>
              <a:t>增加热门物资与学院统计视图</a:t>
            </a:r>
            <a:endParaRPr lang="en-US" sz="2000" dirty="0"/>
          </a:p>
          <a:p>
            <a:pPr marL="0" indent="0">
              <a:buNone/>
            </a:pPr>
            <a:r>
              <a:rPr lang="en-US" sz="2000" dirty="0">
                <a:solidFill>
                  <a:srgbClr val="334155"/>
                </a:solidFill>
                <a:latin typeface="Microsoft YaHei" pitchFamily="34" charset="0"/>
                <a:ea typeface="Microsoft YaHei" pitchFamily="34" charset="-122"/>
                <a:cs typeface="Microsoft YaHei" pitchFamily="34" charset="-120"/>
              </a:rPr>
              <a:t>结合前端或后端程序展示功能</a:t>
            </a:r>
            <a:endParaRPr lang="en-US" sz="2000" dirty="0"/>
          </a:p>
          <a:p>
            <a:pPr marL="0" indent="0">
              <a:buNone/>
            </a:pPr>
            <a:r>
              <a:rPr lang="en-US" sz="2000" dirty="0">
                <a:solidFill>
                  <a:srgbClr val="334155"/>
                </a:solidFill>
                <a:latin typeface="Microsoft YaHei" pitchFamily="34" charset="0"/>
                <a:ea typeface="Microsoft YaHei" pitchFamily="34" charset="-122"/>
                <a:cs typeface="Microsoft YaHei" pitchFamily="34" charset="-120"/>
              </a:rPr>
              <a:t>实际部署时采用密码加密存储</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9A25A-211F-4211-723A-54D051AC533D}"/>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1896B82B-297A-B4CE-839E-F249E617D0EC}"/>
              </a:ext>
            </a:extLst>
          </p:cNvPr>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a:extLst>
              <a:ext uri="{FF2B5EF4-FFF2-40B4-BE49-F238E27FC236}">
                <a16:creationId xmlns:a16="http://schemas.microsoft.com/office/drawing/2014/main" id="{3996C121-592A-A3E5-FBB6-2531B4E0A29E}"/>
              </a:ext>
            </a:extLst>
          </p:cNvPr>
          <p:cNvSpPr/>
          <p:nvPr/>
        </p:nvSpPr>
        <p:spPr>
          <a:xfrm>
            <a:off x="502920" y="320040"/>
            <a:ext cx="8595360" cy="384048"/>
          </a:xfrm>
          <a:prstGeom prst="rect">
            <a:avLst/>
          </a:prstGeom>
          <a:noFill/>
          <a:ln/>
        </p:spPr>
        <p:txBody>
          <a:bodyPr wrap="square" lIns="0" tIns="0" rIns="0" bIns="0" rtlCol="0" anchor="ctr"/>
          <a:lstStyle/>
          <a:p>
            <a:r>
              <a:rPr lang="zh-CN" altLang="en-US" sz="2600" b="1" dirty="0">
                <a:solidFill>
                  <a:srgbClr val="0B1F33"/>
                </a:solidFill>
                <a:latin typeface="Microsoft YaHei" pitchFamily="34" charset="0"/>
                <a:ea typeface="Microsoft YaHei" pitchFamily="34" charset="-122"/>
                <a:cs typeface="Microsoft YaHei" pitchFamily="34" charset="-120"/>
              </a:rPr>
              <a:t>个性化物资推荐</a:t>
            </a:r>
            <a:endParaRPr lang="en-US" sz="2600" dirty="0"/>
          </a:p>
        </p:txBody>
      </p:sp>
      <p:sp>
        <p:nvSpPr>
          <p:cNvPr id="6" name="Text 4">
            <a:extLst>
              <a:ext uri="{FF2B5EF4-FFF2-40B4-BE49-F238E27FC236}">
                <a16:creationId xmlns:a16="http://schemas.microsoft.com/office/drawing/2014/main" id="{210B509C-9E2E-1271-3942-F06C9F910833}"/>
              </a:ext>
            </a:extLst>
          </p:cNvPr>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a:t>
            </a:r>
            <a:r>
              <a:rPr lang="en-US" altLang="zh-CN" sz="800" dirty="0">
                <a:solidFill>
                  <a:srgbClr val="64748B"/>
                </a:solidFill>
                <a:latin typeface="Microsoft YaHei" pitchFamily="34" charset="0"/>
                <a:ea typeface="Microsoft YaHei" pitchFamily="34" charset="-122"/>
                <a:cs typeface="Microsoft YaHei" pitchFamily="34" charset="-120"/>
              </a:rPr>
              <a:t>21</a:t>
            </a:r>
            <a:endParaRPr lang="en-US" sz="800" dirty="0"/>
          </a:p>
        </p:txBody>
      </p:sp>
      <p:sp>
        <p:nvSpPr>
          <p:cNvPr id="7" name="Text 5">
            <a:extLst>
              <a:ext uri="{FF2B5EF4-FFF2-40B4-BE49-F238E27FC236}">
                <a16:creationId xmlns:a16="http://schemas.microsoft.com/office/drawing/2014/main" id="{345A1CAC-0535-9250-91FB-937AB8453121}"/>
              </a:ext>
            </a:extLst>
          </p:cNvPr>
          <p:cNvSpPr/>
          <p:nvPr/>
        </p:nvSpPr>
        <p:spPr>
          <a:xfrm>
            <a:off x="223520" y="1024128"/>
            <a:ext cx="5872480" cy="2489200"/>
          </a:xfrm>
          <a:prstGeom prst="rect">
            <a:avLst/>
          </a:prstGeom>
          <a:solidFill>
            <a:srgbClr val="FFFFFF"/>
          </a:solidFill>
          <a:ln>
            <a:solidFill>
              <a:srgbClr val="075985">
                <a:alpha val="90000"/>
              </a:srgbClr>
            </a:solidFill>
          </a:ln>
        </p:spPr>
        <p:txBody>
          <a:bodyPr wrap="square" rtlCol="0" anchor="t">
            <a:normAutofit fontScale="77500" lnSpcReduction="20000"/>
          </a:bodyPr>
          <a:lstStyle/>
          <a:p>
            <a:pPr algn="ctr"/>
            <a:endParaRPr lang="zh-CN" altLang="en-US" sz="2800" b="1" dirty="0">
              <a:solidFill>
                <a:srgbClr val="FF0000"/>
              </a:solidFill>
              <a:latin typeface="Microsoft YaHei" pitchFamily="34" charset="0"/>
              <a:ea typeface="Microsoft YaHei" pitchFamily="34" charset="-122"/>
              <a:cs typeface="Microsoft YaHei" pitchFamily="34" charset="-120"/>
            </a:endParaRPr>
          </a:p>
          <a:p>
            <a:pPr algn="ctr"/>
            <a:r>
              <a:rPr lang="zh-CN" altLang="en-US" sz="2800" b="1" dirty="0">
                <a:solidFill>
                  <a:srgbClr val="FF0000"/>
                </a:solidFill>
                <a:latin typeface="Microsoft YaHei" pitchFamily="34" charset="0"/>
                <a:ea typeface="Microsoft YaHei" pitchFamily="34" charset="-122"/>
                <a:cs typeface="Microsoft YaHei" pitchFamily="34" charset="-120"/>
              </a:rPr>
              <a:t>从“物资管理系统”质变为“智能推荐系统”</a:t>
            </a:r>
          </a:p>
          <a:p>
            <a:pPr algn="ctr"/>
            <a:endParaRPr lang="zh-CN" altLang="en-US" sz="2800" b="1" dirty="0">
              <a:solidFill>
                <a:srgbClr val="0B1F33"/>
              </a:solidFill>
              <a:latin typeface="Microsoft YaHei" pitchFamily="34" charset="0"/>
              <a:ea typeface="Microsoft YaHei" pitchFamily="34" charset="-122"/>
              <a:cs typeface="Microsoft YaHei" pitchFamily="34" charset="-120"/>
            </a:endParaRPr>
          </a:p>
          <a:p>
            <a:r>
              <a:rPr lang="zh-CN" altLang="en-US" sz="2300" dirty="0">
                <a:solidFill>
                  <a:srgbClr val="0B1F33"/>
                </a:solidFill>
                <a:latin typeface="Microsoft YaHei" pitchFamily="34" charset="0"/>
                <a:ea typeface="Microsoft YaHei" pitchFamily="34" charset="-122"/>
                <a:cs typeface="Microsoft YaHei" pitchFamily="34" charset="-120"/>
              </a:rPr>
              <a:t>推荐对象：学生可能需要的便民物资类型</a:t>
            </a:r>
          </a:p>
          <a:p>
            <a:endParaRPr lang="zh-CN" altLang="en-US" sz="2300" dirty="0">
              <a:solidFill>
                <a:srgbClr val="0B1F33"/>
              </a:solidFill>
              <a:latin typeface="Microsoft YaHei" pitchFamily="34" charset="0"/>
              <a:ea typeface="Microsoft YaHei" pitchFamily="34" charset="-122"/>
              <a:cs typeface="Microsoft YaHei" pitchFamily="34" charset="-120"/>
            </a:endParaRPr>
          </a:p>
          <a:p>
            <a:r>
              <a:rPr lang="zh-CN" altLang="en-US" sz="2300" dirty="0">
                <a:solidFill>
                  <a:srgbClr val="0B1F33"/>
                </a:solidFill>
                <a:latin typeface="Microsoft YaHei" pitchFamily="34" charset="0"/>
                <a:ea typeface="Microsoft YaHei" pitchFamily="34" charset="-122"/>
                <a:cs typeface="Microsoft YaHei" pitchFamily="34" charset="-120"/>
              </a:rPr>
              <a:t>推荐依据：历史借还记录、相似学生行为、物资流行度、当前服务点库存等</a:t>
            </a:r>
          </a:p>
          <a:p>
            <a:endParaRPr lang="zh-CN" altLang="en-US" sz="2300" dirty="0">
              <a:solidFill>
                <a:srgbClr val="0B1F33"/>
              </a:solidFill>
              <a:latin typeface="Microsoft YaHei" pitchFamily="34" charset="0"/>
              <a:ea typeface="Microsoft YaHei" pitchFamily="34" charset="-122"/>
              <a:cs typeface="Microsoft YaHei" pitchFamily="34" charset="-120"/>
            </a:endParaRPr>
          </a:p>
          <a:p>
            <a:r>
              <a:rPr lang="zh-CN" altLang="en-US" sz="2300" dirty="0">
                <a:solidFill>
                  <a:srgbClr val="0B1F33"/>
                </a:solidFill>
                <a:latin typeface="Microsoft YaHei" pitchFamily="34" charset="0"/>
                <a:ea typeface="Microsoft YaHei" pitchFamily="34" charset="-122"/>
                <a:cs typeface="Microsoft YaHei" pitchFamily="34" charset="-120"/>
              </a:rPr>
              <a:t>算法：隐式反馈矩阵分解 </a:t>
            </a:r>
            <a:r>
              <a:rPr lang="en-US" sz="2300" dirty="0">
                <a:solidFill>
                  <a:srgbClr val="0B1F33"/>
                </a:solidFill>
                <a:latin typeface="Microsoft YaHei" pitchFamily="34" charset="0"/>
                <a:ea typeface="Microsoft YaHei" pitchFamily="34" charset="-122"/>
                <a:cs typeface="Microsoft YaHei" pitchFamily="34" charset="-120"/>
              </a:rPr>
              <a:t>ALS</a:t>
            </a:r>
            <a:endParaRPr lang="en-US" sz="2300" dirty="0"/>
          </a:p>
        </p:txBody>
      </p:sp>
      <p:sp>
        <p:nvSpPr>
          <p:cNvPr id="8" name="Text 6">
            <a:extLst>
              <a:ext uri="{FF2B5EF4-FFF2-40B4-BE49-F238E27FC236}">
                <a16:creationId xmlns:a16="http://schemas.microsoft.com/office/drawing/2014/main" id="{83285CC1-F399-4B75-F1FF-1C05DDF74D17}"/>
              </a:ext>
            </a:extLst>
          </p:cNvPr>
          <p:cNvSpPr/>
          <p:nvPr/>
        </p:nvSpPr>
        <p:spPr>
          <a:xfrm>
            <a:off x="6239420" y="1024128"/>
            <a:ext cx="5449659" cy="2489200"/>
          </a:xfrm>
          <a:prstGeom prst="rect">
            <a:avLst/>
          </a:prstGeom>
          <a:solidFill>
            <a:srgbClr val="FFFFFF"/>
          </a:solidFill>
          <a:ln>
            <a:solidFill>
              <a:srgbClr val="0F766E">
                <a:alpha val="90000"/>
              </a:srgbClr>
            </a:solidFill>
          </a:ln>
        </p:spPr>
        <p:txBody>
          <a:bodyPr wrap="square" rtlCol="0" anchor="t">
            <a:normAutofit fontScale="47500" lnSpcReduction="20000"/>
          </a:bodyPr>
          <a:lstStyle/>
          <a:p>
            <a:pPr algn="ctr"/>
            <a:r>
              <a:rPr lang="zh-CN" altLang="en-US" sz="2800" b="1" dirty="0">
                <a:solidFill>
                  <a:srgbClr val="FF0000"/>
                </a:solidFill>
                <a:latin typeface="Microsoft YaHei" pitchFamily="34" charset="0"/>
                <a:ea typeface="Microsoft YaHei" pitchFamily="34" charset="-122"/>
                <a:cs typeface="Microsoft YaHei" pitchFamily="34" charset="-120"/>
              </a:rPr>
              <a:t>算法流程</a:t>
            </a:r>
            <a:endParaRPr lang="en-US" altLang="zh-CN" sz="2800" b="1" dirty="0">
              <a:solidFill>
                <a:srgbClr val="FF0000"/>
              </a:solidFill>
              <a:latin typeface="Microsoft YaHei" pitchFamily="34" charset="0"/>
              <a:ea typeface="Microsoft YaHei" pitchFamily="34" charset="-122"/>
              <a:cs typeface="Microsoft YaHei" pitchFamily="34" charset="-120"/>
            </a:endParaRPr>
          </a:p>
          <a:p>
            <a:pPr algn="ctr"/>
            <a:endParaRPr lang="en-US" altLang="zh-CN" sz="2800" b="1" dirty="0">
              <a:solidFill>
                <a:srgbClr val="0B1F33"/>
              </a:solidFill>
              <a:latin typeface="Microsoft YaHei" pitchFamily="34" charset="0"/>
              <a:ea typeface="Microsoft YaHei" pitchFamily="34" charset="-122"/>
              <a:cs typeface="Microsoft YaHei" pitchFamily="34" charset="-120"/>
            </a:endParaRPr>
          </a:p>
          <a:p>
            <a:pPr algn="ctr"/>
            <a:r>
              <a:rPr lang="en-US" altLang="zh-CN" sz="2800" b="1" dirty="0">
                <a:solidFill>
                  <a:srgbClr val="0B1F33"/>
                </a:solidFill>
                <a:latin typeface="Microsoft YaHei" pitchFamily="34" charset="0"/>
                <a:ea typeface="Microsoft YaHei" pitchFamily="34" charset="-122"/>
                <a:cs typeface="Microsoft YaHei" pitchFamily="34" charset="-120"/>
              </a:rPr>
              <a:t>MySQL </a:t>
            </a:r>
            <a:r>
              <a:rPr lang="zh-CN" altLang="en-US" sz="2800" b="1" dirty="0">
                <a:solidFill>
                  <a:srgbClr val="0B1F33"/>
                </a:solidFill>
                <a:latin typeface="Microsoft YaHei" pitchFamily="34" charset="0"/>
                <a:ea typeface="Microsoft YaHei" pitchFamily="34" charset="-122"/>
                <a:cs typeface="Microsoft YaHei" pitchFamily="34" charset="-120"/>
              </a:rPr>
              <a:t>数据库</a:t>
            </a:r>
          </a:p>
          <a:p>
            <a:pPr algn="ctr"/>
            <a:r>
              <a:rPr lang="zh-CN" altLang="en-US" sz="2800" b="1" dirty="0">
                <a:solidFill>
                  <a:srgbClr val="0B1F33"/>
                </a:solidFill>
                <a:latin typeface="Microsoft YaHei" pitchFamily="34" charset="0"/>
                <a:ea typeface="Microsoft YaHei" pitchFamily="34" charset="-122"/>
                <a:cs typeface="Microsoft YaHei" pitchFamily="34" charset="-120"/>
              </a:rPr>
              <a:t>↓</a:t>
            </a:r>
          </a:p>
          <a:p>
            <a:pPr algn="ctr"/>
            <a:r>
              <a:rPr lang="zh-CN" altLang="en-US" sz="2800" b="1" dirty="0">
                <a:solidFill>
                  <a:srgbClr val="0B1F33"/>
                </a:solidFill>
                <a:latin typeface="Microsoft YaHei" pitchFamily="34" charset="0"/>
                <a:ea typeface="Microsoft YaHei" pitchFamily="34" charset="-122"/>
                <a:cs typeface="Microsoft YaHei" pitchFamily="34" charset="-120"/>
              </a:rPr>
              <a:t>读取学生、物资类型、借还记录、当前库存</a:t>
            </a:r>
          </a:p>
          <a:p>
            <a:pPr algn="ctr"/>
            <a:r>
              <a:rPr lang="zh-CN" altLang="en-US" sz="2800" b="1" dirty="0">
                <a:solidFill>
                  <a:srgbClr val="0B1F33"/>
                </a:solidFill>
                <a:latin typeface="Microsoft YaHei" pitchFamily="34" charset="0"/>
                <a:ea typeface="Microsoft YaHei" pitchFamily="34" charset="-122"/>
                <a:cs typeface="Microsoft YaHei" pitchFamily="34" charset="-120"/>
              </a:rPr>
              <a:t>↓</a:t>
            </a:r>
          </a:p>
          <a:p>
            <a:pPr algn="ctr"/>
            <a:r>
              <a:rPr lang="zh-CN" altLang="en-US" sz="2800" b="1" dirty="0">
                <a:solidFill>
                  <a:srgbClr val="0B1F33"/>
                </a:solidFill>
                <a:latin typeface="Microsoft YaHei" pitchFamily="34" charset="0"/>
                <a:ea typeface="Microsoft YaHei" pitchFamily="34" charset="-122"/>
                <a:cs typeface="Microsoft YaHei" pitchFamily="34" charset="-120"/>
              </a:rPr>
              <a:t>构造学生</a:t>
            </a:r>
            <a:r>
              <a:rPr lang="en-US" altLang="zh-CN" sz="2800" b="1" dirty="0">
                <a:solidFill>
                  <a:srgbClr val="0B1F33"/>
                </a:solidFill>
                <a:latin typeface="Microsoft YaHei" pitchFamily="34" charset="0"/>
                <a:ea typeface="Microsoft YaHei" pitchFamily="34" charset="-122"/>
                <a:cs typeface="Microsoft YaHei" pitchFamily="34" charset="-120"/>
              </a:rPr>
              <a:t>—</a:t>
            </a:r>
            <a:r>
              <a:rPr lang="zh-CN" altLang="en-US" sz="2800" b="1" dirty="0">
                <a:solidFill>
                  <a:srgbClr val="0B1F33"/>
                </a:solidFill>
                <a:latin typeface="Microsoft YaHei" pitchFamily="34" charset="0"/>
                <a:ea typeface="Microsoft YaHei" pitchFamily="34" charset="-122"/>
                <a:cs typeface="Microsoft YaHei" pitchFamily="34" charset="-120"/>
              </a:rPr>
              <a:t>物资类型借用次数矩阵</a:t>
            </a:r>
          </a:p>
          <a:p>
            <a:pPr algn="ctr"/>
            <a:r>
              <a:rPr lang="zh-CN" altLang="en-US" sz="2800" b="1" dirty="0">
                <a:solidFill>
                  <a:srgbClr val="0B1F33"/>
                </a:solidFill>
                <a:latin typeface="Microsoft YaHei" pitchFamily="34" charset="0"/>
                <a:ea typeface="Microsoft YaHei" pitchFamily="34" charset="-122"/>
                <a:cs typeface="Microsoft YaHei" pitchFamily="34" charset="-120"/>
              </a:rPr>
              <a:t>↓</a:t>
            </a:r>
          </a:p>
          <a:p>
            <a:pPr algn="ctr"/>
            <a:r>
              <a:rPr lang="zh-CN" altLang="en-US" sz="2800" b="1" dirty="0">
                <a:solidFill>
                  <a:srgbClr val="0B1F33"/>
                </a:solidFill>
                <a:latin typeface="Microsoft YaHei" pitchFamily="34" charset="0"/>
                <a:ea typeface="Microsoft YaHei" pitchFamily="34" charset="-122"/>
                <a:cs typeface="Microsoft YaHei" pitchFamily="34" charset="-120"/>
              </a:rPr>
              <a:t>使用 </a:t>
            </a:r>
            <a:r>
              <a:rPr lang="en-US" altLang="zh-CN" sz="2800" b="1" dirty="0">
                <a:solidFill>
                  <a:srgbClr val="0B1F33"/>
                </a:solidFill>
                <a:latin typeface="Microsoft YaHei" pitchFamily="34" charset="0"/>
                <a:ea typeface="Microsoft YaHei" pitchFamily="34" charset="-122"/>
                <a:cs typeface="Microsoft YaHei" pitchFamily="34" charset="-120"/>
              </a:rPr>
              <a:t>ALS </a:t>
            </a:r>
            <a:r>
              <a:rPr lang="zh-CN" altLang="en-US" sz="2800" b="1" dirty="0">
                <a:solidFill>
                  <a:srgbClr val="0B1F33"/>
                </a:solidFill>
                <a:latin typeface="Microsoft YaHei" pitchFamily="34" charset="0"/>
                <a:ea typeface="Microsoft YaHei" pitchFamily="34" charset="-122"/>
                <a:cs typeface="Microsoft YaHei" pitchFamily="34" charset="-120"/>
              </a:rPr>
              <a:t>矩阵分解学习学生偏好</a:t>
            </a:r>
          </a:p>
          <a:p>
            <a:pPr algn="ctr"/>
            <a:r>
              <a:rPr lang="zh-CN" altLang="en-US" sz="2800" b="1" dirty="0">
                <a:solidFill>
                  <a:srgbClr val="0B1F33"/>
                </a:solidFill>
                <a:latin typeface="Microsoft YaHei" pitchFamily="34" charset="0"/>
                <a:ea typeface="Microsoft YaHei" pitchFamily="34" charset="-122"/>
                <a:cs typeface="Microsoft YaHei" pitchFamily="34" charset="-120"/>
              </a:rPr>
              <a:t>↓</a:t>
            </a:r>
          </a:p>
          <a:p>
            <a:pPr algn="ctr"/>
            <a:r>
              <a:rPr lang="zh-CN" altLang="en-US" sz="2800" b="1" dirty="0">
                <a:solidFill>
                  <a:srgbClr val="0B1F33"/>
                </a:solidFill>
                <a:latin typeface="Microsoft YaHei" pitchFamily="34" charset="0"/>
                <a:ea typeface="Microsoft YaHei" pitchFamily="34" charset="-122"/>
                <a:cs typeface="Microsoft YaHei" pitchFamily="34" charset="-120"/>
              </a:rPr>
              <a:t>计算推荐分数</a:t>
            </a:r>
          </a:p>
          <a:p>
            <a:pPr algn="ctr"/>
            <a:r>
              <a:rPr lang="zh-CN" altLang="en-US" sz="2800" b="1" dirty="0">
                <a:solidFill>
                  <a:srgbClr val="0B1F33"/>
                </a:solidFill>
                <a:latin typeface="Microsoft YaHei" pitchFamily="34" charset="0"/>
                <a:ea typeface="Microsoft YaHei" pitchFamily="34" charset="-122"/>
                <a:cs typeface="Microsoft YaHei" pitchFamily="34" charset="-120"/>
              </a:rPr>
              <a:t>↓</a:t>
            </a:r>
          </a:p>
          <a:p>
            <a:pPr algn="ctr"/>
            <a:r>
              <a:rPr lang="zh-CN" altLang="en-US" sz="2800" b="1" dirty="0">
                <a:solidFill>
                  <a:srgbClr val="0B1F33"/>
                </a:solidFill>
                <a:latin typeface="Microsoft YaHei" pitchFamily="34" charset="0"/>
                <a:ea typeface="Microsoft YaHei" pitchFamily="34" charset="-122"/>
                <a:cs typeface="Microsoft YaHei" pitchFamily="34" charset="-120"/>
              </a:rPr>
              <a:t>结合当前库存选择服务点</a:t>
            </a:r>
          </a:p>
          <a:p>
            <a:pPr algn="ctr"/>
            <a:r>
              <a:rPr lang="zh-CN" altLang="en-US" sz="2800" b="1" dirty="0">
                <a:solidFill>
                  <a:srgbClr val="0B1F33"/>
                </a:solidFill>
                <a:latin typeface="Microsoft YaHei" pitchFamily="34" charset="0"/>
                <a:ea typeface="Microsoft YaHei" pitchFamily="34" charset="-122"/>
                <a:cs typeface="Microsoft YaHei" pitchFamily="34" charset="-120"/>
              </a:rPr>
              <a:t>↓</a:t>
            </a:r>
          </a:p>
          <a:p>
            <a:pPr algn="ctr"/>
            <a:r>
              <a:rPr lang="zh-CN" altLang="en-US" sz="2800" b="1" dirty="0">
                <a:solidFill>
                  <a:srgbClr val="0B1F33"/>
                </a:solidFill>
                <a:latin typeface="Microsoft YaHei" pitchFamily="34" charset="0"/>
                <a:ea typeface="Microsoft YaHei" pitchFamily="34" charset="-122"/>
                <a:cs typeface="Microsoft YaHei" pitchFamily="34" charset="-120"/>
              </a:rPr>
              <a:t>输出推荐结果</a:t>
            </a:r>
            <a:endParaRPr lang="en-US" sz="2000" dirty="0"/>
          </a:p>
        </p:txBody>
      </p:sp>
      <p:pic>
        <p:nvPicPr>
          <p:cNvPr id="9" name="图片 8">
            <a:extLst>
              <a:ext uri="{FF2B5EF4-FFF2-40B4-BE49-F238E27FC236}">
                <a16:creationId xmlns:a16="http://schemas.microsoft.com/office/drawing/2014/main" id="{13AE2364-40D2-83DD-ACDA-BABAE5F7D057}"/>
              </a:ext>
            </a:extLst>
          </p:cNvPr>
          <p:cNvPicPr>
            <a:picLocks noChangeAspect="1"/>
          </p:cNvPicPr>
          <p:nvPr/>
        </p:nvPicPr>
        <p:blipFill>
          <a:blip r:embed="rId3"/>
          <a:stretch>
            <a:fillRect/>
          </a:stretch>
        </p:blipFill>
        <p:spPr>
          <a:xfrm>
            <a:off x="236220" y="4310634"/>
            <a:ext cx="6210300" cy="1181100"/>
          </a:xfrm>
          <a:prstGeom prst="rect">
            <a:avLst/>
          </a:prstGeom>
        </p:spPr>
      </p:pic>
      <p:sp>
        <p:nvSpPr>
          <p:cNvPr id="10" name="文本框 9">
            <a:extLst>
              <a:ext uri="{FF2B5EF4-FFF2-40B4-BE49-F238E27FC236}">
                <a16:creationId xmlns:a16="http://schemas.microsoft.com/office/drawing/2014/main" id="{0B240B25-C857-7434-7262-F6B5193E8860}"/>
              </a:ext>
            </a:extLst>
          </p:cNvPr>
          <p:cNvSpPr txBox="1"/>
          <p:nvPr/>
        </p:nvSpPr>
        <p:spPr>
          <a:xfrm>
            <a:off x="6554724" y="4125621"/>
            <a:ext cx="5171440" cy="1754326"/>
          </a:xfrm>
          <a:prstGeom prst="rect">
            <a:avLst/>
          </a:prstGeom>
          <a:noFill/>
        </p:spPr>
        <p:txBody>
          <a:bodyPr wrap="square" rtlCol="0">
            <a:spAutoFit/>
          </a:bodyPr>
          <a:lstStyle/>
          <a:p>
            <a:r>
              <a:rPr lang="zh-CN" altLang="zh-CN" dirty="0"/>
              <a:t>P_ui：偏好值</a:t>
            </a:r>
            <a:br>
              <a:rPr lang="zh-CN" altLang="zh-CN" dirty="0"/>
            </a:br>
            <a:r>
              <a:rPr lang="zh-CN" altLang="zh-CN" dirty="0"/>
              <a:t>C_ui：置信度</a:t>
            </a:r>
            <a:br>
              <a:rPr lang="zh-CN" altLang="zh-CN" dirty="0"/>
            </a:br>
            <a:r>
              <a:rPr lang="zh-CN" altLang="zh-CN" dirty="0"/>
              <a:t>x_u：学生 u 的隐藏偏好向量</a:t>
            </a:r>
            <a:br>
              <a:rPr lang="zh-CN" altLang="zh-CN" dirty="0"/>
            </a:br>
            <a:r>
              <a:rPr lang="zh-CN" altLang="zh-CN" dirty="0"/>
              <a:t>y_i：物资类型 i 的隐藏特征向量</a:t>
            </a:r>
            <a:br>
              <a:rPr lang="zh-CN" altLang="zh-CN" dirty="0"/>
            </a:br>
            <a:r>
              <a:rPr lang="zh-CN" altLang="zh-CN" dirty="0"/>
              <a:t>x_u^T y_i：模型预测学生 u 对物资 i 的需求分数</a:t>
            </a:r>
            <a:br>
              <a:rPr lang="zh-CN" altLang="zh-CN" dirty="0"/>
            </a:br>
            <a:r>
              <a:rPr lang="zh-CN" altLang="zh-CN" dirty="0"/>
              <a:t>λ：正则化参数</a:t>
            </a:r>
            <a:endParaRPr kumimoji="1" lang="zh-CN" altLang="en-US" dirty="0"/>
          </a:p>
        </p:txBody>
      </p:sp>
    </p:spTree>
    <p:extLst>
      <p:ext uri="{BB962C8B-B14F-4D97-AF65-F5344CB8AC3E}">
        <p14:creationId xmlns:p14="http://schemas.microsoft.com/office/powerpoint/2010/main" val="1248321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C9269-4F21-5502-6A06-F6499B8CF74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5E195D3-C6B5-01D6-BAF6-F484191CC048}"/>
              </a:ext>
            </a:extLst>
          </p:cNvPr>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a:extLst>
              <a:ext uri="{FF2B5EF4-FFF2-40B4-BE49-F238E27FC236}">
                <a16:creationId xmlns:a16="http://schemas.microsoft.com/office/drawing/2014/main" id="{50094BB0-A4D7-D05B-7664-18F0BCA40E6A}"/>
              </a:ext>
            </a:extLst>
          </p:cNvPr>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a:extLst>
              <a:ext uri="{FF2B5EF4-FFF2-40B4-BE49-F238E27FC236}">
                <a16:creationId xmlns:a16="http://schemas.microsoft.com/office/drawing/2014/main" id="{ECCE1A86-3D67-30C3-0EB4-DF1468207615}"/>
              </a:ext>
            </a:extLst>
          </p:cNvPr>
          <p:cNvSpPr/>
          <p:nvPr/>
        </p:nvSpPr>
        <p:spPr>
          <a:xfrm>
            <a:off x="421640" y="107442"/>
            <a:ext cx="8595360" cy="384048"/>
          </a:xfrm>
          <a:prstGeom prst="rect">
            <a:avLst/>
          </a:prstGeom>
          <a:noFill/>
          <a:ln/>
        </p:spPr>
        <p:txBody>
          <a:bodyPr wrap="square" lIns="0" tIns="0" rIns="0" bIns="0" rtlCol="0" anchor="ctr"/>
          <a:lstStyle/>
          <a:p>
            <a:pPr marL="0" indent="0">
              <a:buNone/>
            </a:pPr>
            <a:r>
              <a:rPr lang="en-US" sz="2600" b="1" dirty="0" err="1">
                <a:solidFill>
                  <a:srgbClr val="0B1F33"/>
                </a:solidFill>
                <a:latin typeface="Microsoft YaHei" pitchFamily="34" charset="0"/>
                <a:ea typeface="Microsoft YaHei" pitchFamily="34" charset="-122"/>
                <a:cs typeface="Microsoft YaHei" pitchFamily="34" charset="-120"/>
              </a:rPr>
              <a:t>推荐算法的SQL部分及结果</a:t>
            </a:r>
            <a:endParaRPr lang="en-US" sz="2600" dirty="0"/>
          </a:p>
        </p:txBody>
      </p:sp>
      <p:sp>
        <p:nvSpPr>
          <p:cNvPr id="6" name="Text 4">
            <a:extLst>
              <a:ext uri="{FF2B5EF4-FFF2-40B4-BE49-F238E27FC236}">
                <a16:creationId xmlns:a16="http://schemas.microsoft.com/office/drawing/2014/main" id="{2B03ABA0-1E99-6358-49C3-BF15B6B8B2E8}"/>
              </a:ext>
            </a:extLst>
          </p:cNvPr>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a:t>
            </a:r>
            <a:r>
              <a:rPr lang="en-US" altLang="zh-CN" sz="800" dirty="0">
                <a:solidFill>
                  <a:srgbClr val="64748B"/>
                </a:solidFill>
                <a:latin typeface="Microsoft YaHei" pitchFamily="34" charset="0"/>
                <a:ea typeface="Microsoft YaHei" pitchFamily="34" charset="-122"/>
                <a:cs typeface="Microsoft YaHei" pitchFamily="34" charset="-120"/>
              </a:rPr>
              <a:t>22</a:t>
            </a:r>
            <a:endParaRPr lang="en-US" sz="800" dirty="0"/>
          </a:p>
        </p:txBody>
      </p:sp>
      <p:pic>
        <p:nvPicPr>
          <p:cNvPr id="13" name="图片 12">
            <a:extLst>
              <a:ext uri="{FF2B5EF4-FFF2-40B4-BE49-F238E27FC236}">
                <a16:creationId xmlns:a16="http://schemas.microsoft.com/office/drawing/2014/main" id="{2A4006A7-D879-7E66-A95C-6928FAA61EB1}"/>
              </a:ext>
            </a:extLst>
          </p:cNvPr>
          <p:cNvPicPr>
            <a:picLocks noChangeAspect="1"/>
          </p:cNvPicPr>
          <p:nvPr/>
        </p:nvPicPr>
        <p:blipFill>
          <a:blip r:embed="rId3"/>
          <a:stretch>
            <a:fillRect/>
          </a:stretch>
        </p:blipFill>
        <p:spPr>
          <a:xfrm>
            <a:off x="5276110" y="688085"/>
            <a:ext cx="6571850" cy="2627610"/>
          </a:xfrm>
          <a:prstGeom prst="rect">
            <a:avLst/>
          </a:prstGeom>
        </p:spPr>
      </p:pic>
      <p:pic>
        <p:nvPicPr>
          <p:cNvPr id="19" name="图片 18">
            <a:extLst>
              <a:ext uri="{FF2B5EF4-FFF2-40B4-BE49-F238E27FC236}">
                <a16:creationId xmlns:a16="http://schemas.microsoft.com/office/drawing/2014/main" id="{31A631D7-F8F3-1366-AF47-F543608AE463}"/>
              </a:ext>
            </a:extLst>
          </p:cNvPr>
          <p:cNvPicPr>
            <a:picLocks noChangeAspect="1"/>
          </p:cNvPicPr>
          <p:nvPr/>
        </p:nvPicPr>
        <p:blipFill>
          <a:blip r:embed="rId4"/>
          <a:stretch>
            <a:fillRect/>
          </a:stretch>
        </p:blipFill>
        <p:spPr>
          <a:xfrm>
            <a:off x="2478160" y="3315695"/>
            <a:ext cx="9369800" cy="3176545"/>
          </a:xfrm>
          <a:prstGeom prst="rect">
            <a:avLst/>
          </a:prstGeom>
        </p:spPr>
      </p:pic>
      <p:pic>
        <p:nvPicPr>
          <p:cNvPr id="21" name="图片 20">
            <a:extLst>
              <a:ext uri="{FF2B5EF4-FFF2-40B4-BE49-F238E27FC236}">
                <a16:creationId xmlns:a16="http://schemas.microsoft.com/office/drawing/2014/main" id="{78A0C5CF-FF2E-033A-F76C-0EA6D783BE0E}"/>
              </a:ext>
            </a:extLst>
          </p:cNvPr>
          <p:cNvPicPr>
            <a:picLocks noChangeAspect="1"/>
          </p:cNvPicPr>
          <p:nvPr/>
        </p:nvPicPr>
        <p:blipFill>
          <a:blip r:embed="rId5"/>
          <a:stretch>
            <a:fillRect/>
          </a:stretch>
        </p:blipFill>
        <p:spPr>
          <a:xfrm>
            <a:off x="208810" y="1944095"/>
            <a:ext cx="5067300" cy="1371600"/>
          </a:xfrm>
          <a:prstGeom prst="rect">
            <a:avLst/>
          </a:prstGeom>
        </p:spPr>
      </p:pic>
      <p:pic>
        <p:nvPicPr>
          <p:cNvPr id="23" name="图片 22">
            <a:extLst>
              <a:ext uri="{FF2B5EF4-FFF2-40B4-BE49-F238E27FC236}">
                <a16:creationId xmlns:a16="http://schemas.microsoft.com/office/drawing/2014/main" id="{A93FAE5E-7B97-63AC-5A5F-DFE0603FBF76}"/>
              </a:ext>
            </a:extLst>
          </p:cNvPr>
          <p:cNvPicPr>
            <a:picLocks noChangeAspect="1"/>
          </p:cNvPicPr>
          <p:nvPr/>
        </p:nvPicPr>
        <p:blipFill>
          <a:blip r:embed="rId6"/>
          <a:stretch>
            <a:fillRect/>
          </a:stretch>
        </p:blipFill>
        <p:spPr>
          <a:xfrm>
            <a:off x="208810" y="690670"/>
            <a:ext cx="5067300" cy="1302679"/>
          </a:xfrm>
          <a:prstGeom prst="rect">
            <a:avLst/>
          </a:prstGeom>
        </p:spPr>
      </p:pic>
      <p:sp>
        <p:nvSpPr>
          <p:cNvPr id="5" name="矩形 4">
            <a:extLst>
              <a:ext uri="{FF2B5EF4-FFF2-40B4-BE49-F238E27FC236}">
                <a16:creationId xmlns:a16="http://schemas.microsoft.com/office/drawing/2014/main" id="{1B67E278-AABA-4A42-53ED-2CADEE1194A8}"/>
              </a:ext>
            </a:extLst>
          </p:cNvPr>
          <p:cNvSpPr/>
          <p:nvPr/>
        </p:nvSpPr>
        <p:spPr>
          <a:xfrm>
            <a:off x="421640" y="4580802"/>
            <a:ext cx="1946897" cy="646331"/>
          </a:xfrm>
          <a:prstGeom prst="rect">
            <a:avLst/>
          </a:prstGeom>
          <a:noFill/>
        </p:spPr>
        <p:txBody>
          <a:bodyPr wrap="square" lIns="91440" tIns="45720" rIns="91440" bIns="45720">
            <a:spAutoFit/>
          </a:bodyPr>
          <a:lstStyle/>
          <a:p>
            <a:pPr algn="ctr"/>
            <a:r>
              <a:rPr lang="en-US" altLang="zh-CN" sz="3600" b="1" dirty="0">
                <a:ln w="6600">
                  <a:solidFill>
                    <a:schemeClr val="accent2"/>
                  </a:solidFill>
                  <a:prstDash val="solid"/>
                </a:ln>
                <a:solidFill>
                  <a:srgbClr val="FFFFFF"/>
                </a:solidFill>
                <a:effectLst>
                  <a:outerShdw dist="38100" dir="2700000" algn="tl" rotWithShape="0">
                    <a:schemeClr val="accent2"/>
                  </a:outerShdw>
                </a:effectLst>
              </a:rPr>
              <a:t>Output</a:t>
            </a:r>
            <a:r>
              <a:rPr lang="zh-CN" altLang="en-US" sz="3600" b="1" dirty="0">
                <a:ln w="6600">
                  <a:solidFill>
                    <a:schemeClr val="accent2"/>
                  </a:solidFill>
                  <a:prstDash val="solid"/>
                </a:ln>
                <a:solidFill>
                  <a:srgbClr val="FFFFFF"/>
                </a:solidFill>
                <a:effectLst>
                  <a:outerShdw dist="38100" dir="2700000" algn="tl" rotWithShape="0">
                    <a:schemeClr val="accent2"/>
                  </a:outerShdw>
                </a:effectLst>
              </a:rPr>
              <a:t>：</a:t>
            </a:r>
            <a:endParaRPr lang="zh-CN" altLang="en-US" sz="36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203076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Shape 1"/>
          <p:cNvSpPr/>
          <p:nvPr/>
        </p:nvSpPr>
        <p:spPr>
          <a:xfrm>
            <a:off x="0" y="0"/>
            <a:ext cx="128016" cy="6858000"/>
          </a:xfrm>
          <a:prstGeom prst="rect">
            <a:avLst/>
          </a:prstGeom>
          <a:solidFill>
            <a:srgbClr val="075985"/>
          </a:solidFill>
          <a:ln w="12700">
            <a:solidFill>
              <a:srgbClr val="333333">
                <a:alpha val="0"/>
              </a:srgbClr>
            </a:solidFill>
            <a:prstDash val="solid"/>
          </a:ln>
        </p:spPr>
      </p:sp>
      <p:sp>
        <p:nvSpPr>
          <p:cNvPr id="4" name="Text 2"/>
          <p:cNvSpPr/>
          <p:nvPr/>
        </p:nvSpPr>
        <p:spPr>
          <a:xfrm>
            <a:off x="502920" y="320040"/>
            <a:ext cx="8595360" cy="384048"/>
          </a:xfrm>
          <a:prstGeom prst="rect">
            <a:avLst/>
          </a:prstGeom>
          <a:noFill/>
          <a:ln/>
        </p:spPr>
        <p:txBody>
          <a:bodyPr wrap="square" lIns="0" tIns="0" rIns="0" bIns="0" rtlCol="0" anchor="ctr"/>
          <a:lstStyle/>
          <a:p>
            <a:pPr marL="0" indent="0">
              <a:buNone/>
            </a:pPr>
            <a:r>
              <a:rPr lang="en-US" sz="2600" b="1" dirty="0">
                <a:solidFill>
                  <a:srgbClr val="0B1F33"/>
                </a:solidFill>
                <a:latin typeface="Microsoft YaHei" pitchFamily="34" charset="0"/>
                <a:ea typeface="Microsoft YaHei" pitchFamily="34" charset="-122"/>
                <a:cs typeface="Microsoft YaHei" pitchFamily="34" charset="-120"/>
              </a:rPr>
              <a:t>小组分工与项目总结</a:t>
            </a:r>
            <a:endParaRPr lang="en-US" sz="2600" dirty="0"/>
          </a:p>
        </p:txBody>
      </p:sp>
      <p:sp>
        <p:nvSpPr>
          <p:cNvPr id="6" name="Text 4"/>
          <p:cNvSpPr/>
          <p:nvPr/>
        </p:nvSpPr>
        <p:spPr>
          <a:xfrm>
            <a:off x="502920" y="6492240"/>
            <a:ext cx="5943600" cy="201168"/>
          </a:xfrm>
          <a:prstGeom prst="rect">
            <a:avLst/>
          </a:prstGeom>
          <a:noFill/>
          <a:ln/>
        </p:spPr>
        <p:txBody>
          <a:bodyPr wrap="square" lIns="0" tIns="0" rIns="0" bIns="0" rtlCol="0" anchor="ctr"/>
          <a:lstStyle/>
          <a:p>
            <a:pPr marL="0" indent="0">
              <a:buNone/>
            </a:pPr>
            <a:r>
              <a:rPr lang="en-US" sz="800" dirty="0">
                <a:solidFill>
                  <a:srgbClr val="64748B"/>
                </a:solidFill>
                <a:latin typeface="Microsoft YaHei" pitchFamily="34" charset="0"/>
                <a:ea typeface="Microsoft YaHei" pitchFamily="34" charset="-122"/>
                <a:cs typeface="Microsoft YaHei" pitchFamily="34" charset="-120"/>
              </a:rPr>
              <a:t>厦大共享雨具与便民物资借还管理系统 · </a:t>
            </a:r>
            <a:r>
              <a:rPr lang="en-US" altLang="zh-CN" sz="800" dirty="0">
                <a:solidFill>
                  <a:srgbClr val="64748B"/>
                </a:solidFill>
                <a:latin typeface="Microsoft YaHei" pitchFamily="34" charset="0"/>
                <a:ea typeface="Microsoft YaHei" pitchFamily="34" charset="-122"/>
                <a:cs typeface="Microsoft YaHei" pitchFamily="34" charset="-120"/>
              </a:rPr>
              <a:t>23</a:t>
            </a:r>
            <a:endParaRPr lang="en-US" sz="800" dirty="0"/>
          </a:p>
        </p:txBody>
      </p:sp>
      <p:sp>
        <p:nvSpPr>
          <p:cNvPr id="8" name="Text 6"/>
          <p:cNvSpPr/>
          <p:nvPr/>
        </p:nvSpPr>
        <p:spPr>
          <a:xfrm>
            <a:off x="4434840" y="1143000"/>
            <a:ext cx="3498198" cy="914400"/>
          </a:xfrm>
          <a:prstGeom prst="rect">
            <a:avLst/>
          </a:prstGeom>
          <a:solidFill>
            <a:srgbClr val="FFFFFF"/>
          </a:solidFill>
          <a:ln>
            <a:solidFill>
              <a:srgbClr val="CBD5E1">
                <a:alpha val="90000"/>
              </a:srgbClr>
            </a:solidFill>
          </a:ln>
        </p:spPr>
        <p:txBody>
          <a:bodyPr wrap="square" rtlCol="0" anchor="t">
            <a:normAutofit/>
          </a:bodyPr>
          <a:lstStyle/>
          <a:p>
            <a:pPr marL="0" indent="0" algn="ctr">
              <a:buNone/>
            </a:pPr>
            <a:r>
              <a:rPr lang="en-US" sz="1600" b="1" dirty="0">
                <a:solidFill>
                  <a:srgbClr val="0B1F33"/>
                </a:solidFill>
                <a:latin typeface="Microsoft YaHei" pitchFamily="34" charset="0"/>
                <a:ea typeface="Microsoft YaHei" pitchFamily="34" charset="-122"/>
                <a:cs typeface="Microsoft YaHei" pitchFamily="34" charset="-120"/>
              </a:rPr>
              <a:t>曹嘉豪</a:t>
            </a:r>
            <a:endParaRPr lang="en-US" sz="16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需求分析</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背景、目标、角色、流程、信息/处理要求</a:t>
            </a:r>
            <a:endParaRPr lang="en-US" sz="1400" dirty="0"/>
          </a:p>
        </p:txBody>
      </p:sp>
      <p:sp>
        <p:nvSpPr>
          <p:cNvPr id="9" name="Text 7"/>
          <p:cNvSpPr/>
          <p:nvPr/>
        </p:nvSpPr>
        <p:spPr>
          <a:xfrm>
            <a:off x="8183880" y="1143000"/>
            <a:ext cx="3383280" cy="914400"/>
          </a:xfrm>
          <a:prstGeom prst="rect">
            <a:avLst/>
          </a:prstGeom>
          <a:solidFill>
            <a:srgbClr val="FFFFFF"/>
          </a:solidFill>
          <a:ln>
            <a:solidFill>
              <a:srgbClr val="CBD5E1">
                <a:alpha val="90000"/>
              </a:srgbClr>
            </a:solidFill>
          </a:ln>
        </p:spPr>
        <p:txBody>
          <a:bodyPr wrap="square" rtlCol="0" anchor="t">
            <a:normAutofit/>
          </a:bodyPr>
          <a:lstStyle/>
          <a:p>
            <a:pPr marL="0" indent="0" algn="ctr">
              <a:buNone/>
            </a:pPr>
            <a:r>
              <a:rPr lang="en-US" sz="1600" b="1" dirty="0">
                <a:solidFill>
                  <a:srgbClr val="0B1F33"/>
                </a:solidFill>
                <a:latin typeface="Microsoft YaHei" pitchFamily="34" charset="0"/>
                <a:ea typeface="Microsoft YaHei" pitchFamily="34" charset="-122"/>
                <a:cs typeface="Microsoft YaHei" pitchFamily="34" charset="-120"/>
              </a:rPr>
              <a:t>李铭峰</a:t>
            </a:r>
            <a:endParaRPr lang="en-US" sz="16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概念结构设计</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实体属性、联系分析、全局 E-R 图</a:t>
            </a:r>
            <a:endParaRPr lang="en-US" sz="1400" dirty="0"/>
          </a:p>
        </p:txBody>
      </p:sp>
      <p:sp>
        <p:nvSpPr>
          <p:cNvPr id="10" name="Text 8"/>
          <p:cNvSpPr/>
          <p:nvPr/>
        </p:nvSpPr>
        <p:spPr>
          <a:xfrm>
            <a:off x="2087880" y="2298357"/>
            <a:ext cx="3383280" cy="914400"/>
          </a:xfrm>
          <a:prstGeom prst="rect">
            <a:avLst/>
          </a:prstGeom>
          <a:solidFill>
            <a:srgbClr val="FFFFFF"/>
          </a:solidFill>
          <a:ln>
            <a:solidFill>
              <a:srgbClr val="CBD5E1">
                <a:alpha val="90000"/>
              </a:srgbClr>
            </a:solidFill>
          </a:ln>
        </p:spPr>
        <p:txBody>
          <a:bodyPr wrap="square" rtlCol="0" anchor="t">
            <a:normAutofit fontScale="92500"/>
          </a:bodyPr>
          <a:lstStyle/>
          <a:p>
            <a:pPr marL="0" indent="0" algn="ctr">
              <a:buNone/>
            </a:pPr>
            <a:r>
              <a:rPr lang="en-US" sz="1700" b="1" dirty="0">
                <a:solidFill>
                  <a:srgbClr val="0B1F33"/>
                </a:solidFill>
                <a:latin typeface="Microsoft YaHei" pitchFamily="34" charset="0"/>
                <a:ea typeface="Microsoft YaHei" pitchFamily="34" charset="-122"/>
                <a:cs typeface="Microsoft YaHei" pitchFamily="34" charset="-120"/>
              </a:rPr>
              <a:t>姜振坤</a:t>
            </a:r>
            <a:endParaRPr lang="en-US" sz="1700" dirty="0"/>
          </a:p>
          <a:p>
            <a:pPr marL="0" indent="0" algn="ctr">
              <a:buNone/>
            </a:pPr>
            <a:r>
              <a:rPr lang="en-US" sz="1500" dirty="0">
                <a:solidFill>
                  <a:srgbClr val="334155"/>
                </a:solidFill>
                <a:latin typeface="Microsoft YaHei" pitchFamily="34" charset="0"/>
                <a:ea typeface="Microsoft YaHei" pitchFamily="34" charset="-122"/>
                <a:cs typeface="Microsoft YaHei" pitchFamily="34" charset="-120"/>
              </a:rPr>
              <a:t>逻辑结构设计</a:t>
            </a:r>
            <a:endParaRPr lang="en-US" sz="1500" dirty="0"/>
          </a:p>
          <a:p>
            <a:pPr marL="0" indent="0" algn="ctr">
              <a:buNone/>
            </a:pPr>
            <a:r>
              <a:rPr lang="en-US" sz="1500" dirty="0">
                <a:solidFill>
                  <a:srgbClr val="334155"/>
                </a:solidFill>
                <a:latin typeface="Microsoft YaHei" pitchFamily="34" charset="0"/>
                <a:ea typeface="Microsoft YaHei" pitchFamily="34" charset="-122"/>
                <a:cs typeface="Microsoft YaHei" pitchFamily="34" charset="-120"/>
              </a:rPr>
              <a:t>关系模式、主外键、规范化、数据字典</a:t>
            </a:r>
            <a:endParaRPr lang="en-US" sz="1500" dirty="0"/>
          </a:p>
        </p:txBody>
      </p:sp>
      <p:sp>
        <p:nvSpPr>
          <p:cNvPr id="11" name="Text 9"/>
          <p:cNvSpPr/>
          <p:nvPr/>
        </p:nvSpPr>
        <p:spPr>
          <a:xfrm>
            <a:off x="6507068" y="2308517"/>
            <a:ext cx="3597052" cy="914400"/>
          </a:xfrm>
          <a:prstGeom prst="rect">
            <a:avLst/>
          </a:prstGeom>
          <a:solidFill>
            <a:srgbClr val="FFFFFF"/>
          </a:solidFill>
          <a:ln>
            <a:solidFill>
              <a:srgbClr val="CBD5E1">
                <a:alpha val="90000"/>
              </a:srgbClr>
            </a:solidFill>
          </a:ln>
        </p:spPr>
        <p:txBody>
          <a:bodyPr wrap="square" rtlCol="0" anchor="t">
            <a:normAutofit/>
          </a:bodyPr>
          <a:lstStyle/>
          <a:p>
            <a:pPr marL="0" indent="0" algn="ctr">
              <a:buNone/>
            </a:pPr>
            <a:r>
              <a:rPr lang="en-US" sz="1600" b="1" dirty="0">
                <a:solidFill>
                  <a:srgbClr val="0B1F33"/>
                </a:solidFill>
                <a:latin typeface="Microsoft YaHei" pitchFamily="34" charset="0"/>
                <a:ea typeface="Microsoft YaHei" pitchFamily="34" charset="-122"/>
                <a:cs typeface="Microsoft YaHei" pitchFamily="34" charset="-120"/>
              </a:rPr>
              <a:t>施宇奇</a:t>
            </a:r>
            <a:endParaRPr lang="en-US" sz="16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数据库实现</a:t>
            </a:r>
            <a:endParaRPr lang="en-US" sz="1400" dirty="0"/>
          </a:p>
          <a:p>
            <a:pPr marL="0" indent="0" algn="ctr">
              <a:buNone/>
            </a:pPr>
            <a:r>
              <a:rPr lang="en-US" sz="1400" dirty="0">
                <a:solidFill>
                  <a:srgbClr val="334155"/>
                </a:solidFill>
                <a:latin typeface="Microsoft YaHei" pitchFamily="34" charset="0"/>
                <a:ea typeface="Microsoft YaHei" pitchFamily="34" charset="-122"/>
                <a:cs typeface="Microsoft YaHei" pitchFamily="34" charset="-120"/>
              </a:rPr>
              <a:t>建库建表、索引、视图、存储过程、触发器</a:t>
            </a:r>
            <a:endParaRPr lang="en-US" sz="1400" dirty="0"/>
          </a:p>
        </p:txBody>
      </p:sp>
      <p:sp>
        <p:nvSpPr>
          <p:cNvPr id="12" name="Text 10"/>
          <p:cNvSpPr/>
          <p:nvPr/>
        </p:nvSpPr>
        <p:spPr>
          <a:xfrm>
            <a:off x="530352" y="4178808"/>
            <a:ext cx="454729" cy="320040"/>
          </a:xfrm>
          <a:prstGeom prst="rect">
            <a:avLst/>
          </a:prstGeom>
          <a:noFill/>
          <a:ln/>
        </p:spPr>
        <p:txBody>
          <a:bodyPr wrap="square" lIns="0" tIns="0" rIns="0" bIns="0" rtlCol="0" anchor="ctr"/>
          <a:lstStyle/>
          <a:p>
            <a:pPr marL="0" indent="0">
              <a:buNone/>
            </a:pPr>
            <a:r>
              <a:rPr lang="en-US" sz="1600" b="1" dirty="0">
                <a:solidFill>
                  <a:srgbClr val="0B1F33"/>
                </a:solidFill>
                <a:latin typeface="Microsoft YaHei" pitchFamily="34" charset="0"/>
                <a:ea typeface="Microsoft YaHei" pitchFamily="34" charset="-122"/>
                <a:cs typeface="Microsoft YaHei" pitchFamily="34" charset="-120"/>
              </a:rPr>
              <a:t>总结</a:t>
            </a:r>
            <a:endParaRPr lang="en-US" sz="1600" dirty="0"/>
          </a:p>
        </p:txBody>
      </p:sp>
      <p:sp>
        <p:nvSpPr>
          <p:cNvPr id="13" name="Text 11"/>
          <p:cNvSpPr/>
          <p:nvPr/>
        </p:nvSpPr>
        <p:spPr>
          <a:xfrm>
            <a:off x="530352" y="4663440"/>
            <a:ext cx="11392930" cy="685800"/>
          </a:xfrm>
          <a:prstGeom prst="rect">
            <a:avLst/>
          </a:prstGeom>
          <a:noFill/>
          <a:ln/>
        </p:spPr>
        <p:txBody>
          <a:bodyPr wrap="square" lIns="508" tIns="508" rIns="508" bIns="508" rtlCol="0" anchor="ctr">
            <a:normAutofit/>
          </a:bodyPr>
          <a:lstStyle/>
          <a:p>
            <a:pPr marL="0" indent="0">
              <a:buNone/>
            </a:pPr>
            <a:r>
              <a:rPr lang="en-US" sz="1500" b="1" dirty="0">
                <a:solidFill>
                  <a:srgbClr val="0B1F33"/>
                </a:solidFill>
                <a:latin typeface="Microsoft YaHei" pitchFamily="34" charset="0"/>
                <a:ea typeface="Microsoft YaHei" pitchFamily="34" charset="-122"/>
                <a:cs typeface="Microsoft YaHei" pitchFamily="34" charset="-120"/>
              </a:rPr>
              <a:t>本系统整体结构完整、业务逻辑清晰，能够支撑厦大共享雨具与便民物资借还管理的基本运行，并具备后续扩展和实际落地的可行性。</a:t>
            </a:r>
            <a:endParaRPr lang="en-US" sz="1500" dirty="0"/>
          </a:p>
        </p:txBody>
      </p:sp>
      <p:sp>
        <p:nvSpPr>
          <p:cNvPr id="5" name="Text 6">
            <a:extLst>
              <a:ext uri="{FF2B5EF4-FFF2-40B4-BE49-F238E27FC236}">
                <a16:creationId xmlns:a16="http://schemas.microsoft.com/office/drawing/2014/main" id="{C7B1DF92-7A6B-27FF-B88C-CBD0BE5B60F3}"/>
              </a:ext>
            </a:extLst>
          </p:cNvPr>
          <p:cNvSpPr/>
          <p:nvPr/>
        </p:nvSpPr>
        <p:spPr>
          <a:xfrm>
            <a:off x="502920" y="1143000"/>
            <a:ext cx="3498198" cy="914400"/>
          </a:xfrm>
          <a:prstGeom prst="rect">
            <a:avLst/>
          </a:prstGeom>
          <a:solidFill>
            <a:srgbClr val="FFFFFF"/>
          </a:solidFill>
          <a:ln>
            <a:solidFill>
              <a:srgbClr val="CBD5E1">
                <a:alpha val="90000"/>
              </a:srgbClr>
            </a:solidFill>
          </a:ln>
        </p:spPr>
        <p:txBody>
          <a:bodyPr wrap="square" rtlCol="0" anchor="t">
            <a:normAutofit/>
          </a:bodyPr>
          <a:lstStyle/>
          <a:p>
            <a:pPr algn="ctr"/>
            <a:r>
              <a:rPr lang="en-US" altLang="zh-CN" sz="1600" b="1" dirty="0" err="1">
                <a:solidFill>
                  <a:srgbClr val="0B1F33"/>
                </a:solidFill>
                <a:latin typeface="Microsoft YaHei" pitchFamily="34" charset="0"/>
                <a:ea typeface="Microsoft YaHei" pitchFamily="34" charset="-122"/>
                <a:cs typeface="Microsoft YaHei" pitchFamily="34" charset="-120"/>
              </a:rPr>
              <a:t>汤诗航</a:t>
            </a:r>
            <a:endParaRPr lang="en-US" altLang="zh-CN" sz="1600" dirty="0"/>
          </a:p>
          <a:p>
            <a:pPr algn="ctr"/>
            <a:r>
              <a:rPr lang="en-US" altLang="zh-CN" sz="1400" dirty="0" err="1">
                <a:solidFill>
                  <a:srgbClr val="334155"/>
                </a:solidFill>
                <a:latin typeface="Microsoft YaHei" pitchFamily="34" charset="0"/>
                <a:ea typeface="Microsoft YaHei" pitchFamily="34" charset="-122"/>
                <a:cs typeface="Microsoft YaHei" pitchFamily="34" charset="-120"/>
              </a:rPr>
              <a:t>组长</a:t>
            </a:r>
            <a:r>
              <a:rPr lang="en-US" altLang="zh-CN" sz="1400" dirty="0">
                <a:solidFill>
                  <a:srgbClr val="334155"/>
                </a:solidFill>
                <a:latin typeface="Microsoft YaHei" pitchFamily="34" charset="0"/>
                <a:ea typeface="Microsoft YaHei" pitchFamily="34" charset="-122"/>
                <a:cs typeface="Microsoft YaHei" pitchFamily="34" charset="-120"/>
              </a:rPr>
              <a:t> / </a:t>
            </a:r>
            <a:r>
              <a:rPr lang="en-US" altLang="zh-CN" sz="1400" dirty="0" err="1">
                <a:solidFill>
                  <a:srgbClr val="334155"/>
                </a:solidFill>
                <a:latin typeface="Microsoft YaHei" pitchFamily="34" charset="0"/>
                <a:ea typeface="Microsoft YaHei" pitchFamily="34" charset="-122"/>
                <a:cs typeface="Microsoft YaHei" pitchFamily="34" charset="-120"/>
              </a:rPr>
              <a:t>统筹</a:t>
            </a:r>
            <a:r>
              <a:rPr lang="en-US" altLang="zh-CN" sz="1400" dirty="0">
                <a:solidFill>
                  <a:srgbClr val="334155"/>
                </a:solidFill>
                <a:latin typeface="Microsoft YaHei" pitchFamily="34" charset="0"/>
                <a:ea typeface="Microsoft YaHei" pitchFamily="34" charset="-122"/>
                <a:cs typeface="Microsoft YaHei" pitchFamily="34" charset="-120"/>
              </a:rPr>
              <a:t> / PPT / </a:t>
            </a:r>
            <a:r>
              <a:rPr lang="en-US" altLang="zh-CN" sz="1400" dirty="0" err="1">
                <a:solidFill>
                  <a:srgbClr val="334155"/>
                </a:solidFill>
                <a:latin typeface="Microsoft YaHei" pitchFamily="34" charset="0"/>
                <a:ea typeface="Microsoft YaHei" pitchFamily="34" charset="-122"/>
                <a:cs typeface="Microsoft YaHei" pitchFamily="34" charset="-120"/>
              </a:rPr>
              <a:t>测试</a:t>
            </a:r>
            <a:endParaRPr lang="en-US" altLang="zh-CN" sz="1400" dirty="0"/>
          </a:p>
          <a:p>
            <a:pPr algn="ctr"/>
            <a:r>
              <a:rPr lang="en-US" altLang="zh-CN" sz="1400" dirty="0" err="1">
                <a:solidFill>
                  <a:srgbClr val="334155"/>
                </a:solidFill>
                <a:latin typeface="Microsoft YaHei" pitchFamily="34" charset="0"/>
                <a:ea typeface="Microsoft YaHei" pitchFamily="34" charset="-122"/>
                <a:cs typeface="Microsoft YaHei" pitchFamily="34" charset="-120"/>
              </a:rPr>
              <a:t>总规划、测试用例、推荐算法</a:t>
            </a:r>
            <a:r>
              <a:rPr lang="zh-CN" altLang="en-US" sz="1400" dirty="0">
                <a:solidFill>
                  <a:srgbClr val="334155"/>
                </a:solidFill>
                <a:latin typeface="Microsoft YaHei" pitchFamily="34" charset="0"/>
                <a:ea typeface="Microsoft YaHei" pitchFamily="34" charset="-122"/>
                <a:cs typeface="Microsoft YaHei" pitchFamily="34" charset="-120"/>
              </a:rPr>
              <a:t>、</a:t>
            </a:r>
            <a:r>
              <a:rPr lang="en-US" altLang="zh-CN" sz="1400" dirty="0" err="1">
                <a:solidFill>
                  <a:srgbClr val="334155"/>
                </a:solidFill>
                <a:latin typeface="Microsoft YaHei" pitchFamily="34" charset="0"/>
                <a:ea typeface="Microsoft YaHei" pitchFamily="34" charset="-122"/>
                <a:cs typeface="Microsoft YaHei" pitchFamily="34" charset="-120"/>
              </a:rPr>
              <a:t>报告整理</a:t>
            </a:r>
            <a:endParaRPr lang="en-US" altLang="zh-CN" sz="1400" dirty="0"/>
          </a:p>
          <a:p>
            <a:pPr marL="0" indent="0" algn="ct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494</TotalTime>
  <Words>2381</Words>
  <Application>Microsoft Macintosh PowerPoint</Application>
  <PresentationFormat>宽屏</PresentationFormat>
  <Paragraphs>382</Paragraphs>
  <Slides>23</Slides>
  <Notes>23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23</vt:i4>
      </vt:variant>
    </vt:vector>
  </HeadingPairs>
  <TitlesOfParts>
    <vt:vector size="29" baseType="lpstr">
      <vt:lpstr>FangSong</vt:lpstr>
      <vt:lpstr>SimSun</vt:lpstr>
      <vt:lpstr>Microsoft YaHei</vt:lpstr>
      <vt:lpstr>Arial</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Xiamen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厦大共享雨具与便民物资借还管理系统</dc:title>
  <dc:subject>基于 MySQL 的厦大共享雨具与便民物资借还管理系统设计与实现</dc:subject>
  <dc:creator>XMU Database Course Project Team</dc:creator>
  <cp:lastModifiedBy>kirakiller2333@gmail.com</cp:lastModifiedBy>
  <cp:revision>7</cp:revision>
  <dcterms:created xsi:type="dcterms:W3CDTF">2026-06-03T13:23:57Z</dcterms:created>
  <dcterms:modified xsi:type="dcterms:W3CDTF">2026-06-05T09:13:30Z</dcterms:modified>
</cp:coreProperties>
</file>